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6"/>
  </p:handoutMasterIdLst>
  <p:sldIdLst>
    <p:sldId id="1118" r:id="rId3"/>
    <p:sldId id="1133" r:id="rId5"/>
    <p:sldId id="1129" r:id="rId6"/>
    <p:sldId id="1128" r:id="rId7"/>
    <p:sldId id="1123" r:id="rId8"/>
    <p:sldId id="1120" r:id="rId9"/>
    <p:sldId id="1130" r:id="rId10"/>
    <p:sldId id="1122" r:id="rId11"/>
    <p:sldId id="1131" r:id="rId12"/>
    <p:sldId id="1132" r:id="rId13"/>
    <p:sldId id="1134" r:id="rId14"/>
    <p:sldId id="1167" r:id="rId15"/>
    <p:sldId id="1168" r:id="rId16"/>
    <p:sldId id="1135" r:id="rId17"/>
    <p:sldId id="1136" r:id="rId18"/>
    <p:sldId id="1137" r:id="rId19"/>
    <p:sldId id="1124" r:id="rId20"/>
    <p:sldId id="1119" r:id="rId21"/>
    <p:sldId id="1140" r:id="rId22"/>
    <p:sldId id="1141" r:id="rId23"/>
    <p:sldId id="1142" r:id="rId24"/>
    <p:sldId id="1143" r:id="rId25"/>
    <p:sldId id="1161" r:id="rId26"/>
    <p:sldId id="1125" r:id="rId27"/>
    <p:sldId id="1162" r:id="rId28"/>
    <p:sldId id="1144" r:id="rId29"/>
    <p:sldId id="1126" r:id="rId30"/>
    <p:sldId id="1127" r:id="rId31"/>
    <p:sldId id="1166" r:id="rId32"/>
    <p:sldId id="1149" r:id="rId33"/>
    <p:sldId id="1150" r:id="rId34"/>
    <p:sldId id="1152" r:id="rId35"/>
    <p:sldId id="1170" r:id="rId36"/>
    <p:sldId id="1171" r:id="rId37"/>
    <p:sldId id="1172" r:id="rId38"/>
    <p:sldId id="1174" r:id="rId39"/>
    <p:sldId id="1173" r:id="rId40"/>
    <p:sldId id="1169" r:id="rId41"/>
    <p:sldId id="1163" r:id="rId42"/>
    <p:sldId id="1155" r:id="rId43"/>
    <p:sldId id="1157" r:id="rId44"/>
    <p:sldId id="1164" r:id="rId45"/>
  </p:sldIdLst>
  <p:sldSz cx="9144000" cy="6858000" type="screen4x3"/>
  <p:notesSz cx="7004050" cy="9290050"/>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3333FF"/>
    <a:srgbClr val="FFCC00"/>
    <a:srgbClr val="CCCC00"/>
    <a:srgbClr val="FF6600"/>
    <a:srgbClr val="CC0000"/>
    <a:srgbClr val="FF33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660"/>
  </p:normalViewPr>
  <p:slideViewPr>
    <p:cSldViewPr showGuides="1">
      <p:cViewPr varScale="1">
        <p:scale>
          <a:sx n="78" d="100"/>
          <a:sy n="78" d="100"/>
        </p:scale>
        <p:origin x="-75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79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13346" name="页眉占位符 313345"/>
          <p:cNvSpPr>
            <a:spLocks noGrp="1"/>
          </p:cNvSpPr>
          <p:nvPr>
            <p:ph type="hdr" sz="quarter"/>
          </p:nvPr>
        </p:nvSpPr>
        <p:spPr>
          <a:xfrm>
            <a:off x="0" y="0"/>
            <a:ext cx="3014663" cy="274638"/>
          </a:xfrm>
          <a:prstGeom prst="rect">
            <a:avLst/>
          </a:prstGeom>
          <a:noFill/>
          <a:ln w="12700">
            <a:noFill/>
          </a:ln>
        </p:spPr>
        <p:txBody>
          <a:bodyPr lIns="92400" tIns="46200" rIns="92400" bIns="46200" anchor="t" anchorCtr="0">
            <a:spAutoFit/>
          </a:bodyPr>
          <a:p>
            <a:pPr lvl="0" defTabSz="923925"/>
            <a:endParaRPr lang="en-US" sz="1200"/>
          </a:p>
        </p:txBody>
      </p:sp>
      <p:sp>
        <p:nvSpPr>
          <p:cNvPr id="313347" name="日期占位符 313346"/>
          <p:cNvSpPr>
            <a:spLocks noGrp="1"/>
          </p:cNvSpPr>
          <p:nvPr>
            <p:ph type="dt" sz="quarter" idx="1"/>
          </p:nvPr>
        </p:nvSpPr>
        <p:spPr>
          <a:xfrm>
            <a:off x="3941763" y="0"/>
            <a:ext cx="3092450" cy="274638"/>
          </a:xfrm>
          <a:prstGeom prst="rect">
            <a:avLst/>
          </a:prstGeom>
          <a:noFill/>
          <a:ln w="12700">
            <a:noFill/>
          </a:ln>
        </p:spPr>
        <p:txBody>
          <a:bodyPr lIns="92400" tIns="46200" rIns="92400" bIns="46200" anchor="t" anchorCtr="0">
            <a:spAutoFit/>
          </a:bodyPr>
          <a:p>
            <a:pPr lvl="0" algn="r" defTabSz="923925"/>
            <a:endParaRPr lang="en-US" sz="1200"/>
          </a:p>
        </p:txBody>
      </p:sp>
      <p:sp>
        <p:nvSpPr>
          <p:cNvPr id="313348" name="页脚占位符 313347"/>
          <p:cNvSpPr>
            <a:spLocks noGrp="1"/>
          </p:cNvSpPr>
          <p:nvPr>
            <p:ph type="ftr" sz="quarter" idx="2"/>
          </p:nvPr>
        </p:nvSpPr>
        <p:spPr>
          <a:xfrm>
            <a:off x="0" y="9015413"/>
            <a:ext cx="3014663" cy="274637"/>
          </a:xfrm>
          <a:prstGeom prst="rect">
            <a:avLst/>
          </a:prstGeom>
          <a:noFill/>
          <a:ln w="12700">
            <a:noFill/>
          </a:ln>
        </p:spPr>
        <p:txBody>
          <a:bodyPr lIns="92400" tIns="46200" rIns="92400" bIns="46200" anchor="b" anchorCtr="0">
            <a:spAutoFit/>
          </a:bodyPr>
          <a:p>
            <a:pPr lvl="0" defTabSz="923925"/>
            <a:endParaRPr lang="en-US" sz="1200"/>
          </a:p>
        </p:txBody>
      </p:sp>
      <p:sp>
        <p:nvSpPr>
          <p:cNvPr id="313349" name="灯片编号占位符 313348"/>
          <p:cNvSpPr>
            <a:spLocks noGrp="1"/>
          </p:cNvSpPr>
          <p:nvPr>
            <p:ph type="sldNum" sz="quarter" idx="3"/>
          </p:nvPr>
        </p:nvSpPr>
        <p:spPr>
          <a:xfrm>
            <a:off x="3941763" y="9015413"/>
            <a:ext cx="3092450" cy="274637"/>
          </a:xfrm>
          <a:prstGeom prst="rect">
            <a:avLst/>
          </a:prstGeom>
          <a:noFill/>
          <a:ln w="12700">
            <a:noFill/>
          </a:ln>
        </p:spPr>
        <p:txBody>
          <a:bodyPr lIns="92400" tIns="46200" rIns="92400" bIns="46200" anchor="b" anchorCtr="0">
            <a:spAutoFit/>
          </a:bodyPr>
          <a:p>
            <a:pPr lvl="0" algn="r" defTabSz="923925"/>
            <a:fld id="{9A0DB2DC-4C9A-4742-B13C-FB6460FD3503}" type="slidenum">
              <a:rPr lang="en-US" sz="1200"/>
            </a:fld>
            <a:endParaRPr lang="en-US" sz="120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48834" name="页眉占位符 248833"/>
          <p:cNvSpPr>
            <a:spLocks noGrp="1"/>
          </p:cNvSpPr>
          <p:nvPr>
            <p:ph type="hdr" sz="quarter"/>
          </p:nvPr>
        </p:nvSpPr>
        <p:spPr>
          <a:xfrm>
            <a:off x="0" y="0"/>
            <a:ext cx="3035300" cy="274638"/>
          </a:xfrm>
          <a:prstGeom prst="rect">
            <a:avLst/>
          </a:prstGeom>
          <a:noFill/>
          <a:ln w="12700">
            <a:noFill/>
          </a:ln>
        </p:spPr>
        <p:txBody>
          <a:bodyPr lIns="93102" tIns="46551" rIns="93102" bIns="46551" anchor="t" anchorCtr="0">
            <a:spAutoFit/>
          </a:bodyPr>
          <a:p>
            <a:pPr lvl="0" defTabSz="930275"/>
            <a:endParaRPr lang="en-US" sz="1200" dirty="0"/>
          </a:p>
        </p:txBody>
      </p:sp>
      <p:sp>
        <p:nvSpPr>
          <p:cNvPr id="248835" name="日期占位符 248834"/>
          <p:cNvSpPr>
            <a:spLocks noGrp="1"/>
          </p:cNvSpPr>
          <p:nvPr>
            <p:ph type="dt" idx="1"/>
          </p:nvPr>
        </p:nvSpPr>
        <p:spPr>
          <a:xfrm>
            <a:off x="3968750" y="0"/>
            <a:ext cx="3035300" cy="274638"/>
          </a:xfrm>
          <a:prstGeom prst="rect">
            <a:avLst/>
          </a:prstGeom>
          <a:noFill/>
          <a:ln w="12700">
            <a:noFill/>
          </a:ln>
        </p:spPr>
        <p:txBody>
          <a:bodyPr lIns="93102" tIns="46551" rIns="93102" bIns="46551" anchor="t" anchorCtr="0">
            <a:spAutoFit/>
          </a:bodyPr>
          <a:p>
            <a:pPr lvl="0" algn="r" defTabSz="930275"/>
            <a:endParaRPr lang="en-US" sz="1200" dirty="0"/>
          </a:p>
        </p:txBody>
      </p:sp>
      <p:sp>
        <p:nvSpPr>
          <p:cNvPr id="248836" name="幻灯片图像占位符 248835"/>
          <p:cNvSpPr>
            <a:spLocks noTextEdit="1"/>
          </p:cNvSpPr>
          <p:nvPr>
            <p:ph type="sldImg" idx="2"/>
          </p:nvPr>
        </p:nvSpPr>
        <p:spPr>
          <a:xfrm>
            <a:off x="1179513" y="696913"/>
            <a:ext cx="4646612" cy="3484562"/>
          </a:xfrm>
          <a:prstGeom prst="rect">
            <a:avLst/>
          </a:prstGeom>
          <a:ln w="9525" cap="flat" cmpd="sng">
            <a:solidFill>
              <a:srgbClr val="000000"/>
            </a:solidFill>
            <a:prstDash val="solid"/>
            <a:miter/>
            <a:headEnd type="none" w="med" len="med"/>
            <a:tailEnd type="none" w="med" len="med"/>
          </a:ln>
        </p:spPr>
      </p:sp>
      <p:sp>
        <p:nvSpPr>
          <p:cNvPr id="248837" name="文本占位符 248836"/>
          <p:cNvSpPr>
            <a:spLocks noGrp="1"/>
          </p:cNvSpPr>
          <p:nvPr>
            <p:ph type="body" sz="quarter" idx="3"/>
          </p:nvPr>
        </p:nvSpPr>
        <p:spPr>
          <a:xfrm>
            <a:off x="933450" y="4413250"/>
            <a:ext cx="5137150" cy="1227138"/>
          </a:xfrm>
          <a:prstGeom prst="rect">
            <a:avLst/>
          </a:prstGeom>
          <a:noFill/>
          <a:ln w="12700">
            <a:noFill/>
          </a:ln>
        </p:spPr>
        <p:txBody>
          <a:bodyPr lIns="93102" tIns="46551" rIns="93102" bIns="46551" anchor="t" anchorCtr="0">
            <a:spAutoFit/>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48838" name="页脚占位符 248837"/>
          <p:cNvSpPr>
            <a:spLocks noGrp="1"/>
          </p:cNvSpPr>
          <p:nvPr>
            <p:ph type="ftr" sz="quarter" idx="4"/>
          </p:nvPr>
        </p:nvSpPr>
        <p:spPr>
          <a:xfrm>
            <a:off x="0" y="9015413"/>
            <a:ext cx="3035300" cy="274637"/>
          </a:xfrm>
          <a:prstGeom prst="rect">
            <a:avLst/>
          </a:prstGeom>
          <a:noFill/>
          <a:ln w="12700">
            <a:noFill/>
          </a:ln>
        </p:spPr>
        <p:txBody>
          <a:bodyPr lIns="93102" tIns="46551" rIns="93102" bIns="46551" anchor="b" anchorCtr="0">
            <a:spAutoFit/>
          </a:bodyPr>
          <a:p>
            <a:pPr lvl="0" defTabSz="930275"/>
            <a:endParaRPr lang="en-US" sz="1200" dirty="0"/>
          </a:p>
        </p:txBody>
      </p:sp>
      <p:sp>
        <p:nvSpPr>
          <p:cNvPr id="248839" name="灯片编号占位符 248838"/>
          <p:cNvSpPr>
            <a:spLocks noGrp="1"/>
          </p:cNvSpPr>
          <p:nvPr>
            <p:ph type="sldNum" sz="quarter" idx="5"/>
          </p:nvPr>
        </p:nvSpPr>
        <p:spPr>
          <a:xfrm>
            <a:off x="3968750" y="9015413"/>
            <a:ext cx="3035300" cy="274637"/>
          </a:xfrm>
          <a:prstGeom prst="rect">
            <a:avLst/>
          </a:prstGeom>
          <a:noFill/>
          <a:ln w="12700">
            <a:noFill/>
          </a:ln>
        </p:spPr>
        <p:txBody>
          <a:bodyPr lIns="93102" tIns="46551" rIns="93102" bIns="46551" anchor="b" anchorCtr="0">
            <a:spAutoFit/>
          </a:bodyPr>
          <a:p>
            <a:pPr lvl="0" algn="r" defTabSz="930275"/>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2pPr>
    <a:lvl3pPr marL="914400" lvl="2"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3pPr>
    <a:lvl4pPr marL="1371600" lvl="3"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4pPr>
    <a:lvl5pPr marL="1828800" lvl="4"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5pPr>
    <a:lvl6pPr marL="2286000" lvl="5"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6pPr>
    <a:lvl7pPr marL="2743200" lvl="6"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7pPr>
    <a:lvl8pPr marL="3200400" lvl="7"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8pPr>
    <a:lvl9pPr marL="3657600" lvl="8"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25058" name="幻灯片图像占位符 1325057"/>
          <p:cNvSpPr>
            <a:spLocks noTextEdit="1"/>
          </p:cNvSpPr>
          <p:nvPr>
            <p:ph type="sldImg"/>
          </p:nvPr>
        </p:nvSpPr>
        <p:spPr>
          <a:ln/>
        </p:spPr>
      </p:sp>
      <p:sp>
        <p:nvSpPr>
          <p:cNvPr id="1325059" name="文本占位符 132505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26082" name="幻灯片图像占位符 1326081"/>
          <p:cNvSpPr>
            <a:spLocks noTextEdit="1"/>
          </p:cNvSpPr>
          <p:nvPr>
            <p:ph type="sldImg"/>
          </p:nvPr>
        </p:nvSpPr>
        <p:spPr>
          <a:ln/>
        </p:spPr>
      </p:sp>
      <p:sp>
        <p:nvSpPr>
          <p:cNvPr id="1326083" name="文本占位符 132608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27106" name="幻灯片图像占位符 1327105"/>
          <p:cNvSpPr>
            <a:spLocks noTextEdit="1"/>
          </p:cNvSpPr>
          <p:nvPr>
            <p:ph type="sldImg"/>
          </p:nvPr>
        </p:nvSpPr>
        <p:spPr>
          <a:ln/>
        </p:spPr>
      </p:sp>
      <p:sp>
        <p:nvSpPr>
          <p:cNvPr id="1327107" name="文本占位符 132710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28130" name="幻灯片图像占位符 1328129"/>
          <p:cNvSpPr>
            <a:spLocks noTextEdit="1"/>
          </p:cNvSpPr>
          <p:nvPr>
            <p:ph type="sldImg"/>
          </p:nvPr>
        </p:nvSpPr>
        <p:spPr>
          <a:ln/>
        </p:spPr>
      </p:sp>
      <p:sp>
        <p:nvSpPr>
          <p:cNvPr id="1328131" name="文本占位符 132813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29154" name="幻灯片图像占位符 1329153"/>
          <p:cNvSpPr>
            <a:spLocks noTextEdit="1"/>
          </p:cNvSpPr>
          <p:nvPr>
            <p:ph type="sldImg"/>
          </p:nvPr>
        </p:nvSpPr>
        <p:spPr>
          <a:ln/>
        </p:spPr>
      </p:sp>
      <p:sp>
        <p:nvSpPr>
          <p:cNvPr id="1329155" name="文本占位符 132915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0178" name="幻灯片图像占位符 1330177"/>
          <p:cNvSpPr>
            <a:spLocks noTextEdit="1"/>
          </p:cNvSpPr>
          <p:nvPr>
            <p:ph type="sldImg"/>
          </p:nvPr>
        </p:nvSpPr>
        <p:spPr>
          <a:ln/>
        </p:spPr>
      </p:sp>
      <p:sp>
        <p:nvSpPr>
          <p:cNvPr id="1330179" name="文本占位符 133017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1202" name="幻灯片图像占位符 1331201"/>
          <p:cNvSpPr>
            <a:spLocks noTextEdit="1"/>
          </p:cNvSpPr>
          <p:nvPr>
            <p:ph type="sldImg"/>
          </p:nvPr>
        </p:nvSpPr>
        <p:spPr>
          <a:ln/>
        </p:spPr>
      </p:sp>
      <p:sp>
        <p:nvSpPr>
          <p:cNvPr id="1331203" name="文本占位符 133120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2226" name="幻灯片图像占位符 1332225"/>
          <p:cNvSpPr>
            <a:spLocks noTextEdit="1"/>
          </p:cNvSpPr>
          <p:nvPr>
            <p:ph type="sldImg"/>
          </p:nvPr>
        </p:nvSpPr>
        <p:spPr>
          <a:ln/>
        </p:spPr>
      </p:sp>
      <p:sp>
        <p:nvSpPr>
          <p:cNvPr id="1332227" name="文本占位符 133222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3250" name="幻灯片图像占位符 1333249"/>
          <p:cNvSpPr>
            <a:spLocks noTextEdit="1"/>
          </p:cNvSpPr>
          <p:nvPr>
            <p:ph type="sldImg"/>
          </p:nvPr>
        </p:nvSpPr>
        <p:spPr>
          <a:ln/>
        </p:spPr>
      </p:sp>
      <p:sp>
        <p:nvSpPr>
          <p:cNvPr id="1333251" name="文本占位符 133325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4274" name="幻灯片图像占位符 1334273"/>
          <p:cNvSpPr>
            <a:spLocks noTextEdit="1"/>
          </p:cNvSpPr>
          <p:nvPr>
            <p:ph type="sldImg"/>
          </p:nvPr>
        </p:nvSpPr>
        <p:spPr>
          <a:ln/>
        </p:spPr>
      </p:sp>
      <p:sp>
        <p:nvSpPr>
          <p:cNvPr id="1334275" name="文本占位符 133427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5298" name="幻灯片图像占位符 1335297"/>
          <p:cNvSpPr>
            <a:spLocks noTextEdit="1"/>
          </p:cNvSpPr>
          <p:nvPr>
            <p:ph type="sldImg"/>
          </p:nvPr>
        </p:nvSpPr>
        <p:spPr>
          <a:ln/>
        </p:spPr>
      </p:sp>
      <p:sp>
        <p:nvSpPr>
          <p:cNvPr id="1335299" name="文本占位符 133529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68066" name="幻灯片图像占位符 1368065"/>
          <p:cNvSpPr>
            <a:spLocks noTextEdit="1"/>
          </p:cNvSpPr>
          <p:nvPr>
            <p:ph type="sldImg"/>
          </p:nvPr>
        </p:nvSpPr>
        <p:spPr>
          <a:ln/>
        </p:spPr>
      </p:sp>
      <p:sp>
        <p:nvSpPr>
          <p:cNvPr id="1368067" name="文本占位符 136806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70114" name="幻灯片图像占位符 1370113"/>
          <p:cNvSpPr>
            <a:spLocks noTextEdit="1"/>
          </p:cNvSpPr>
          <p:nvPr>
            <p:ph type="sldImg"/>
          </p:nvPr>
        </p:nvSpPr>
        <p:spPr>
          <a:ln/>
        </p:spPr>
      </p:sp>
      <p:sp>
        <p:nvSpPr>
          <p:cNvPr id="1370115" name="文本占位符 137011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6322" name="幻灯片图像占位符 1336321"/>
          <p:cNvSpPr>
            <a:spLocks noTextEdit="1"/>
          </p:cNvSpPr>
          <p:nvPr>
            <p:ph type="sldImg"/>
          </p:nvPr>
        </p:nvSpPr>
        <p:spPr>
          <a:ln/>
        </p:spPr>
      </p:sp>
      <p:sp>
        <p:nvSpPr>
          <p:cNvPr id="1336323" name="文本占位符 133632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7346" name="幻灯片图像占位符 1337345"/>
          <p:cNvSpPr>
            <a:spLocks noTextEdit="1"/>
          </p:cNvSpPr>
          <p:nvPr>
            <p:ph type="sldImg"/>
          </p:nvPr>
        </p:nvSpPr>
        <p:spPr>
          <a:ln/>
        </p:spPr>
      </p:sp>
      <p:sp>
        <p:nvSpPr>
          <p:cNvPr id="1337347" name="文本占位符 133734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38370" name="幻灯片图像占位符 1338369"/>
          <p:cNvSpPr>
            <a:spLocks noTextEdit="1"/>
          </p:cNvSpPr>
          <p:nvPr>
            <p:ph type="sldImg"/>
          </p:nvPr>
        </p:nvSpPr>
        <p:spPr>
          <a:ln/>
        </p:spPr>
      </p:sp>
      <p:sp>
        <p:nvSpPr>
          <p:cNvPr id="1338371" name="文本占位符 133837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0418" name="幻灯片图像占位符 1340417"/>
          <p:cNvSpPr>
            <a:spLocks noTextEdit="1"/>
          </p:cNvSpPr>
          <p:nvPr>
            <p:ph type="sldImg"/>
          </p:nvPr>
        </p:nvSpPr>
        <p:spPr>
          <a:ln/>
        </p:spPr>
      </p:sp>
      <p:sp>
        <p:nvSpPr>
          <p:cNvPr id="1340419" name="文本占位符 134041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1442" name="幻灯片图像占位符 1341441"/>
          <p:cNvSpPr>
            <a:spLocks noTextEdit="1"/>
          </p:cNvSpPr>
          <p:nvPr>
            <p:ph type="sldImg"/>
          </p:nvPr>
        </p:nvSpPr>
        <p:spPr>
          <a:ln/>
        </p:spPr>
      </p:sp>
      <p:sp>
        <p:nvSpPr>
          <p:cNvPr id="1341443" name="文本占位符 134144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2466" name="幻灯片图像占位符 1342465"/>
          <p:cNvSpPr>
            <a:spLocks noTextEdit="1"/>
          </p:cNvSpPr>
          <p:nvPr>
            <p:ph type="sldImg"/>
          </p:nvPr>
        </p:nvSpPr>
        <p:spPr>
          <a:ln/>
        </p:spPr>
      </p:sp>
      <p:sp>
        <p:nvSpPr>
          <p:cNvPr id="1342467" name="文本占位符 134246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4514" name="幻灯片图像占位符 1344513"/>
          <p:cNvSpPr>
            <a:spLocks noTextEdit="1"/>
          </p:cNvSpPr>
          <p:nvPr>
            <p:ph type="sldImg"/>
          </p:nvPr>
        </p:nvSpPr>
        <p:spPr>
          <a:ln/>
        </p:spPr>
      </p:sp>
      <p:sp>
        <p:nvSpPr>
          <p:cNvPr id="1344515" name="文本占位符 134451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5538" name="幻灯片图像占位符 1345537"/>
          <p:cNvSpPr>
            <a:spLocks noTextEdit="1"/>
          </p:cNvSpPr>
          <p:nvPr>
            <p:ph type="sldImg"/>
          </p:nvPr>
        </p:nvSpPr>
        <p:spPr>
          <a:ln/>
        </p:spPr>
      </p:sp>
      <p:sp>
        <p:nvSpPr>
          <p:cNvPr id="1345539" name="文本占位符 134553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6562" name="幻灯片图像占位符 1346561"/>
          <p:cNvSpPr>
            <a:spLocks noTextEdit="1"/>
          </p:cNvSpPr>
          <p:nvPr>
            <p:ph type="sldImg"/>
          </p:nvPr>
        </p:nvSpPr>
        <p:spPr>
          <a:ln/>
        </p:spPr>
      </p:sp>
      <p:sp>
        <p:nvSpPr>
          <p:cNvPr id="1346563" name="文本占位符 134656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7586" name="幻灯片图像占位符 1347585"/>
          <p:cNvSpPr>
            <a:spLocks noTextEdit="1"/>
          </p:cNvSpPr>
          <p:nvPr>
            <p:ph type="sldImg"/>
          </p:nvPr>
        </p:nvSpPr>
        <p:spPr>
          <a:ln/>
        </p:spPr>
      </p:sp>
      <p:sp>
        <p:nvSpPr>
          <p:cNvPr id="1347587" name="文本占位符 134758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8610" name="幻灯片图像占位符 1348609"/>
          <p:cNvSpPr>
            <a:spLocks noTextEdit="1"/>
          </p:cNvSpPr>
          <p:nvPr>
            <p:ph type="sldImg"/>
          </p:nvPr>
        </p:nvSpPr>
        <p:spPr>
          <a:ln/>
        </p:spPr>
      </p:sp>
      <p:sp>
        <p:nvSpPr>
          <p:cNvPr id="1348611" name="文本占位符 134861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49634" name="幻灯片图像占位符 1349633"/>
          <p:cNvSpPr>
            <a:spLocks noTextEdit="1"/>
          </p:cNvSpPr>
          <p:nvPr>
            <p:ph type="sldImg"/>
          </p:nvPr>
        </p:nvSpPr>
        <p:spPr>
          <a:ln/>
        </p:spPr>
      </p:sp>
      <p:sp>
        <p:nvSpPr>
          <p:cNvPr id="1349635" name="文本占位符 134963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50658" name="幻灯片图像占位符 1350657"/>
          <p:cNvSpPr>
            <a:spLocks noTextEdit="1"/>
          </p:cNvSpPr>
          <p:nvPr>
            <p:ph type="sldImg"/>
          </p:nvPr>
        </p:nvSpPr>
        <p:spPr>
          <a:ln/>
        </p:spPr>
      </p:sp>
      <p:sp>
        <p:nvSpPr>
          <p:cNvPr id="1350659" name="文本占位符 135065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51682" name="幻灯片图像占位符 1351681"/>
          <p:cNvSpPr>
            <a:spLocks noTextEdit="1"/>
          </p:cNvSpPr>
          <p:nvPr>
            <p:ph type="sldImg"/>
          </p:nvPr>
        </p:nvSpPr>
        <p:spPr>
          <a:ln/>
        </p:spPr>
      </p:sp>
      <p:sp>
        <p:nvSpPr>
          <p:cNvPr id="1351683" name="文本占位符 135168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52706" name="幻灯片图像占位符 1352705"/>
          <p:cNvSpPr>
            <a:spLocks noTextEdit="1"/>
          </p:cNvSpPr>
          <p:nvPr>
            <p:ph type="sldImg"/>
          </p:nvPr>
        </p:nvSpPr>
        <p:spPr>
          <a:ln/>
        </p:spPr>
      </p:sp>
      <p:sp>
        <p:nvSpPr>
          <p:cNvPr id="1352707" name="文本占位符 135270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66018" name="幻灯片图像占位符 1366017"/>
          <p:cNvSpPr>
            <a:spLocks noTextEdit="1"/>
          </p:cNvSpPr>
          <p:nvPr>
            <p:ph type="sldImg"/>
          </p:nvPr>
        </p:nvSpPr>
        <p:spPr>
          <a:ln/>
        </p:spPr>
      </p:sp>
      <p:sp>
        <p:nvSpPr>
          <p:cNvPr id="1366019" name="文本占位符 136601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53730" name="幻灯片图像占位符 1353729"/>
          <p:cNvSpPr>
            <a:spLocks noTextEdit="1"/>
          </p:cNvSpPr>
          <p:nvPr>
            <p:ph type="sldImg"/>
          </p:nvPr>
        </p:nvSpPr>
        <p:spPr>
          <a:ln/>
        </p:spPr>
      </p:sp>
      <p:sp>
        <p:nvSpPr>
          <p:cNvPr id="1353731" name="文本占位符 135373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54754" name="幻灯片图像占位符 1354753"/>
          <p:cNvSpPr>
            <a:spLocks noTextEdit="1"/>
          </p:cNvSpPr>
          <p:nvPr>
            <p:ph type="sldImg"/>
          </p:nvPr>
        </p:nvSpPr>
        <p:spPr>
          <a:ln/>
        </p:spPr>
      </p:sp>
      <p:sp>
        <p:nvSpPr>
          <p:cNvPr id="1354755" name="文本占位符 135475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55778" name="幻灯片图像占位符 1355777"/>
          <p:cNvSpPr>
            <a:spLocks noTextEdit="1"/>
          </p:cNvSpPr>
          <p:nvPr>
            <p:ph type="sldImg"/>
          </p:nvPr>
        </p:nvSpPr>
        <p:spPr>
          <a:ln/>
        </p:spPr>
      </p:sp>
      <p:sp>
        <p:nvSpPr>
          <p:cNvPr id="1355779" name="文本占位符 135577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79330" name="幻灯片图像占位符 1379329"/>
          <p:cNvSpPr>
            <a:spLocks noTextEdit="1"/>
          </p:cNvSpPr>
          <p:nvPr>
            <p:ph type="sldImg"/>
          </p:nvPr>
        </p:nvSpPr>
        <p:spPr>
          <a:ln/>
        </p:spPr>
      </p:sp>
      <p:sp>
        <p:nvSpPr>
          <p:cNvPr id="1379331" name="文本占位符 137933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81378" name="幻灯片图像占位符 1381377"/>
          <p:cNvSpPr>
            <a:spLocks noTextEdit="1"/>
          </p:cNvSpPr>
          <p:nvPr>
            <p:ph type="sldImg"/>
          </p:nvPr>
        </p:nvSpPr>
        <p:spPr>
          <a:ln/>
        </p:spPr>
      </p:sp>
      <p:sp>
        <p:nvSpPr>
          <p:cNvPr id="1381379" name="文本占位符 138137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83426" name="幻灯片图像占位符 1383425"/>
          <p:cNvSpPr>
            <a:spLocks noTextEdit="1"/>
          </p:cNvSpPr>
          <p:nvPr>
            <p:ph type="sldImg"/>
          </p:nvPr>
        </p:nvSpPr>
        <p:spPr>
          <a:ln/>
        </p:spPr>
      </p:sp>
      <p:sp>
        <p:nvSpPr>
          <p:cNvPr id="1383427" name="文本占位符 138342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88546" name="幻灯片图像占位符 1388545"/>
          <p:cNvSpPr>
            <a:spLocks noTextEdit="1"/>
          </p:cNvSpPr>
          <p:nvPr>
            <p:ph type="sldImg"/>
          </p:nvPr>
        </p:nvSpPr>
        <p:spPr>
          <a:ln/>
        </p:spPr>
      </p:sp>
      <p:sp>
        <p:nvSpPr>
          <p:cNvPr id="1388547" name="文本占位符 138854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86498" name="幻灯片图像占位符 1386497"/>
          <p:cNvSpPr>
            <a:spLocks noTextEdit="1"/>
          </p:cNvSpPr>
          <p:nvPr>
            <p:ph type="sldImg"/>
          </p:nvPr>
        </p:nvSpPr>
        <p:spPr>
          <a:ln/>
        </p:spPr>
      </p:sp>
      <p:sp>
        <p:nvSpPr>
          <p:cNvPr id="1386499" name="文本占位符 138649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75234" name="幻灯片图像占位符 1375233"/>
          <p:cNvSpPr>
            <a:spLocks noTextEdit="1"/>
          </p:cNvSpPr>
          <p:nvPr>
            <p:ph type="sldImg"/>
          </p:nvPr>
        </p:nvSpPr>
        <p:spPr>
          <a:ln/>
        </p:spPr>
      </p:sp>
      <p:sp>
        <p:nvSpPr>
          <p:cNvPr id="1375235" name="文本占位符 1375234"/>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60898" name="幻灯片图像占位符 1360897"/>
          <p:cNvSpPr>
            <a:spLocks noTextEdit="1"/>
          </p:cNvSpPr>
          <p:nvPr>
            <p:ph type="sldImg"/>
          </p:nvPr>
        </p:nvSpPr>
        <p:spPr>
          <a:ln/>
        </p:spPr>
      </p:sp>
      <p:sp>
        <p:nvSpPr>
          <p:cNvPr id="1360899" name="文本占位符 1360898"/>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61922" name="幻灯片图像占位符 1361921"/>
          <p:cNvSpPr>
            <a:spLocks noTextEdit="1"/>
          </p:cNvSpPr>
          <p:nvPr>
            <p:ph type="sldImg"/>
          </p:nvPr>
        </p:nvSpPr>
        <p:spPr>
          <a:ln/>
        </p:spPr>
      </p:sp>
      <p:sp>
        <p:nvSpPr>
          <p:cNvPr id="1361923" name="文本占位符 1361922"/>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62946" name="幻灯片图像占位符 1362945"/>
          <p:cNvSpPr>
            <a:spLocks noTextEdit="1"/>
          </p:cNvSpPr>
          <p:nvPr>
            <p:ph type="sldImg"/>
          </p:nvPr>
        </p:nvSpPr>
        <p:spPr>
          <a:ln/>
        </p:spPr>
      </p:sp>
      <p:sp>
        <p:nvSpPr>
          <p:cNvPr id="1362947" name="文本占位符 1362946"/>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defTabSz="930275"/>
            <a:fld id="{9A0DB2DC-4C9A-4742-B13C-FB6460FD3503}" type="slidenum">
              <a:rPr lang="en-US" sz="1200" dirty="0"/>
            </a:fld>
            <a:endParaRPr lang="en-US" sz="1200" dirty="0"/>
          </a:p>
        </p:txBody>
      </p:sp>
      <p:sp>
        <p:nvSpPr>
          <p:cNvPr id="1363970" name="幻灯片图像占位符 1363969"/>
          <p:cNvSpPr>
            <a:spLocks noTextEdit="1"/>
          </p:cNvSpPr>
          <p:nvPr>
            <p:ph type="sldImg"/>
          </p:nvPr>
        </p:nvSpPr>
        <p:spPr>
          <a:ln/>
        </p:spPr>
      </p:sp>
      <p:sp>
        <p:nvSpPr>
          <p:cNvPr id="1363971" name="文本占位符 1363970"/>
          <p:cNvSpPr>
            <a:spLocks noGrp="1"/>
          </p:cNvSpPr>
          <p:nvPr>
            <p:ph type="body" idx="1"/>
          </p:nvPr>
        </p:nvSpPr>
        <p:spPr>
          <a:ln/>
        </p:spPr>
        <p:txBody>
          <a:bodyPr lIns="93102" tIns="46551" rIns="93102" bIns="46551" anchor="t" anchorCtr="0">
            <a:spAutoFit/>
          </a:bodyPr>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en-US"/>
          </a:p>
        </p:txBody>
      </p:sp>
      <p:sp>
        <p:nvSpPr>
          <p:cNvPr id="8" name="页脚占位符 7"/>
          <p:cNvSpPr>
            <a:spLocks noGrp="1"/>
          </p:cNvSpPr>
          <p:nvPr>
            <p:ph type="ftr" sz="quarter" idx="11"/>
          </p:nvPr>
        </p:nvSpPr>
        <p:spPr/>
        <p:txBody>
          <a:bodyPr/>
          <a:lstStyle/>
          <a:p>
            <a:pPr lvl="0"/>
            <a:endParaRPr lang="en-US"/>
          </a:p>
        </p:txBody>
      </p:sp>
      <p:sp>
        <p:nvSpPr>
          <p:cNvPr id="9" name="灯片编号占位符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en-US"/>
          </a:p>
        </p:txBody>
      </p:sp>
      <p:sp>
        <p:nvSpPr>
          <p:cNvPr id="4" name="页脚占位符 3"/>
          <p:cNvSpPr>
            <a:spLocks noGrp="1"/>
          </p:cNvSpPr>
          <p:nvPr>
            <p:ph type="ftr" sz="quarter" idx="11"/>
          </p:nvPr>
        </p:nvSpPr>
        <p:spPr/>
        <p:txBody>
          <a:bodyPr/>
          <a:lstStyle/>
          <a:p>
            <a:pPr lvl="0"/>
            <a:endParaRPr lang="en-US"/>
          </a:p>
        </p:txBody>
      </p:sp>
      <p:sp>
        <p:nvSpPr>
          <p:cNvPr id="5" name="灯片编号占位符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en-US"/>
          </a:p>
        </p:txBody>
      </p:sp>
      <p:sp>
        <p:nvSpPr>
          <p:cNvPr id="3" name="页脚占位符 2"/>
          <p:cNvSpPr>
            <a:spLocks noGrp="1"/>
          </p:cNvSpPr>
          <p:nvPr>
            <p:ph type="ftr" sz="quarter" idx="11"/>
          </p:nvPr>
        </p:nvSpPr>
        <p:spPr/>
        <p:txBody>
          <a:bodyPr/>
          <a:lstStyle/>
          <a:p>
            <a:pPr lvl="0"/>
            <a:endParaRPr lang="en-US"/>
          </a:p>
        </p:txBody>
      </p:sp>
      <p:sp>
        <p:nvSpPr>
          <p:cNvPr id="4" name="灯片编号占位符 3"/>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286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286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fld id="{BB962C8B-B14F-4D97-AF65-F5344CB8AC3E}" type="datetime1">
              <a:rPr lang="en-US"/>
            </a:fld>
            <a:endParaRPr lang="en-US"/>
          </a:p>
        </p:txBody>
      </p:sp>
      <p:sp>
        <p:nvSpPr>
          <p:cNvPr id="8" name="页脚占位符 7"/>
          <p:cNvSpPr>
            <a:spLocks noGrp="1"/>
          </p:cNvSpPr>
          <p:nvPr>
            <p:ph type="ftr" sz="quarter" idx="11"/>
          </p:nvPr>
        </p:nvSpPr>
        <p:spPr/>
        <p:txBody>
          <a:bodyPr/>
          <a:lstStyle/>
          <a:p>
            <a:pPr lvl="0"/>
            <a:endParaRPr lang="en-US"/>
          </a:p>
        </p:txBody>
      </p:sp>
      <p:sp>
        <p:nvSpPr>
          <p:cNvPr id="9" name="灯片编号占位符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en-US"/>
            </a:fld>
            <a:endParaRPr lang="en-US"/>
          </a:p>
        </p:txBody>
      </p:sp>
      <p:sp>
        <p:nvSpPr>
          <p:cNvPr id="4" name="页脚占位符 3"/>
          <p:cNvSpPr>
            <a:spLocks noGrp="1"/>
          </p:cNvSpPr>
          <p:nvPr>
            <p:ph type="ftr" sz="quarter" idx="11"/>
          </p:nvPr>
        </p:nvSpPr>
        <p:spPr/>
        <p:txBody>
          <a:bodyPr/>
          <a:lstStyle/>
          <a:p>
            <a:pPr lvl="0"/>
            <a:endParaRPr lang="en-US"/>
          </a:p>
        </p:txBody>
      </p:sp>
      <p:sp>
        <p:nvSpPr>
          <p:cNvPr id="5" name="灯片编号占位符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333FF"/>
            </a:gs>
            <a:gs pos="100000">
              <a:srgbClr val="3333FF">
                <a:gamma/>
                <a:shade val="46275"/>
                <a:invGamma/>
              </a:srgbClr>
            </a:gs>
          </a:gsLst>
          <a:lin ang="5400000" scaled="1"/>
          <a:tileRect/>
        </a:grad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文本占位符 1026"/>
          <p:cNvSpPr>
            <a:spLocks noGrp="1"/>
          </p:cNvSpPr>
          <p:nvPr>
            <p:ph type="body" idx="1"/>
          </p:nvPr>
        </p:nvSpPr>
        <p:spPr>
          <a:xfrm>
            <a:off x="685800" y="1981200"/>
            <a:ext cx="7772400" cy="41148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a:fld id="{BB962C8B-B14F-4D97-AF65-F5344CB8AC3E}" type="datetime1">
              <a:rPr lang="en-US"/>
            </a:fld>
            <a:endParaRPr lang="en-US"/>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a:endParaRPr lang="en-US"/>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a:fld id="{9A0DB2DC-4C9A-4742-B13C-FB6460FD3503}"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marL="0" lvl="0" indent="0" algn="ctr" defTabSz="914400" rtl="0" eaLnBrk="0" fontAlgn="base" latinLnBrk="0" hangingPunct="0">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0" fontAlgn="base" latinLnBrk="0" hangingPunct="0">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2.xml"/><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5.png"/><Relationship Id="rId2" Type="http://schemas.microsoft.com/office/2007/relationships/media" Target="file:///C:\Documents%20and%20Settings\Tal%20Ben-Shachar\Desktop\Videos\Seinfeld-Halloween.mpg" TargetMode="External"/><Relationship Id="rId1" Type="http://schemas.openxmlformats.org/officeDocument/2006/relationships/video" Target="file:///C:\Documents%20and%20Settings\Tal%20Ben-Shachar\Desktop\Videos\Seinfeld-Halloween.mpg" TargetMode="Externa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7.jpeg"/><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image" Target="../media/image22.jpeg"/><Relationship Id="rId1" Type="http://schemas.openxmlformats.org/officeDocument/2006/relationships/hyperlink" Target="http://tat.cs.brandeis.edu:8090/aut02/cs2a/ava/smiley.gif"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7.xml"/><Relationship Id="rId3" Type="http://schemas.openxmlformats.org/officeDocument/2006/relationships/image" Target="../media/image24.png"/><Relationship Id="rId2" Type="http://schemas.microsoft.com/office/2007/relationships/media" Target="file:///C:\Documents%20and%20Settings\Tal%20Ben-Shachar\Desktop\Videos\Will&amp;Grace-Help.mpg" TargetMode="External"/><Relationship Id="rId1" Type="http://schemas.openxmlformats.org/officeDocument/2006/relationships/video" Target="file:///C:\Documents%20and%20Settings\Tal%20Ben-Shachar\Desktop\Videos\Will&amp;Grace-Help.mpg"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3.xml"/><Relationship Id="rId3" Type="http://schemas.openxmlformats.org/officeDocument/2006/relationships/image" Target="../media/image25.png"/><Relationship Id="rId2" Type="http://schemas.microsoft.com/office/2007/relationships/media" Target="file:///C:\Documents%20and%20Settings\Tal%20Ben-Shachar\Desktop\Videos\Collins-positivelearning.mpg" TargetMode="External"/><Relationship Id="rId1" Type="http://schemas.openxmlformats.org/officeDocument/2006/relationships/video" Target="file:///C:\Documents%20and%20Settings\Tal%20Ben-Shachar\Desktop\Videos\Collins-positivelearning.mpg" TargetMode="Externa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0548" name="文本框 1260547"/>
          <p:cNvSpPr txBox="1"/>
          <p:nvPr/>
        </p:nvSpPr>
        <p:spPr>
          <a:xfrm>
            <a:off x="-76200" y="2635250"/>
            <a:ext cx="4495800" cy="1250950"/>
          </a:xfrm>
          <a:prstGeom prst="rect">
            <a:avLst/>
          </a:prstGeom>
          <a:noFill/>
          <a:ln w="12700">
            <a:noFill/>
          </a:ln>
        </p:spPr>
        <p:txBody>
          <a:bodyPr>
            <a:spAutoFit/>
          </a:bodyPr>
          <a:p>
            <a:pPr algn="ctr"/>
            <a:r>
              <a:rPr lang="en-US" altLang="zh-CN" sz="3800">
                <a:solidFill>
                  <a:schemeClr val="bg1"/>
                </a:solidFill>
                <a:latin typeface="Arial" panose="020B0604020202020204" pitchFamily="34" charset="0"/>
                <a:cs typeface="Arial" panose="020B0604020202020204" pitchFamily="34" charset="0"/>
              </a:rPr>
              <a:t>Psychology 1504</a:t>
            </a:r>
            <a:endParaRPr lang="en-US" altLang="zh-CN" sz="3800">
              <a:solidFill>
                <a:schemeClr val="bg1"/>
              </a:solidFill>
              <a:latin typeface="Arial" panose="020B0604020202020204" pitchFamily="34" charset="0"/>
              <a:cs typeface="Arial" panose="020B0604020202020204" pitchFamily="34" charset="0"/>
            </a:endParaRPr>
          </a:p>
          <a:p>
            <a:pPr algn="ctr"/>
            <a:r>
              <a:rPr lang="en-US" altLang="zh-CN" sz="3800">
                <a:solidFill>
                  <a:schemeClr val="bg1"/>
                </a:solidFill>
                <a:latin typeface="Arial" panose="020B0604020202020204" pitchFamily="34" charset="0"/>
                <a:cs typeface="Arial" panose="020B0604020202020204" pitchFamily="34" charset="0"/>
              </a:rPr>
              <a:t>Positive Psychology</a:t>
            </a:r>
            <a:endParaRPr lang="en-US" altLang="zh-CN" sz="3800">
              <a:solidFill>
                <a:schemeClr val="bg1"/>
              </a:solidFill>
              <a:latin typeface="Arial" panose="020B0604020202020204" pitchFamily="34" charset="0"/>
              <a:ea typeface="Arial" panose="020B0604020202020204" pitchFamily="34" charset="0"/>
            </a:endParaRPr>
          </a:p>
        </p:txBody>
      </p:sp>
      <p:pic>
        <p:nvPicPr>
          <p:cNvPr id="1260566" name="内容占位符 1260565" descr="195_speaking_age_03"/>
          <p:cNvPicPr>
            <a:picLocks noChangeAspect="1"/>
          </p:cNvPicPr>
          <p:nvPr>
            <p:ph sz="quarter" idx="1"/>
          </p:nvPr>
        </p:nvPicPr>
        <p:blipFill>
          <a:blip r:embed="rId1"/>
          <a:stretch>
            <a:fillRect/>
          </a:stretch>
        </p:blipFill>
        <p:spPr>
          <a:xfrm>
            <a:off x="0" y="0"/>
            <a:ext cx="2514600" cy="2667000"/>
          </a:xfrm>
          <a:ln/>
        </p:spPr>
      </p:pic>
      <p:pic>
        <p:nvPicPr>
          <p:cNvPr id="1260561" name="内容占位符 1260560" descr="jogging"/>
          <p:cNvPicPr>
            <a:picLocks noChangeAspect="1"/>
          </p:cNvPicPr>
          <p:nvPr>
            <p:ph sz="quarter" idx="2"/>
          </p:nvPr>
        </p:nvPicPr>
        <p:blipFill>
          <a:blip r:embed="rId2"/>
          <a:stretch>
            <a:fillRect/>
          </a:stretch>
        </p:blipFill>
        <p:spPr>
          <a:xfrm>
            <a:off x="2514600" y="-7937"/>
            <a:ext cx="4114800" cy="2674937"/>
          </a:xfrm>
          <a:ln/>
        </p:spPr>
      </p:pic>
      <p:pic>
        <p:nvPicPr>
          <p:cNvPr id="1260607" name="内容占位符 1260606" descr="iguana-kiss-3"/>
          <p:cNvPicPr>
            <a:picLocks noChangeAspect="1"/>
          </p:cNvPicPr>
          <p:nvPr>
            <p:ph sz="quarter" idx="3"/>
          </p:nvPr>
        </p:nvPicPr>
        <p:blipFill>
          <a:blip r:embed="rId3"/>
          <a:stretch>
            <a:fillRect/>
          </a:stretch>
        </p:blipFill>
        <p:spPr>
          <a:xfrm>
            <a:off x="-304800" y="3883025"/>
            <a:ext cx="4953000" cy="3355975"/>
          </a:xfrm>
          <a:ln/>
        </p:spPr>
      </p:pic>
      <p:pic>
        <p:nvPicPr>
          <p:cNvPr id="1260610" name="图片 1260609" descr="hdr-thanksgiving"/>
          <p:cNvPicPr>
            <a:picLocks noChangeAspect="1"/>
          </p:cNvPicPr>
          <p:nvPr/>
        </p:nvPicPr>
        <p:blipFill>
          <a:blip r:embed="rId4"/>
          <a:stretch>
            <a:fillRect/>
          </a:stretch>
        </p:blipFill>
        <p:spPr>
          <a:xfrm>
            <a:off x="4114800" y="2514600"/>
            <a:ext cx="2362200" cy="1344613"/>
          </a:xfrm>
          <a:prstGeom prst="rect">
            <a:avLst/>
          </a:prstGeom>
          <a:noFill/>
          <a:ln w="9525">
            <a:noFill/>
          </a:ln>
        </p:spPr>
      </p:pic>
      <p:pic>
        <p:nvPicPr>
          <p:cNvPr id="1260586" name="内容占位符 1260585" descr="Yoga-hr"/>
          <p:cNvPicPr>
            <a:picLocks noChangeAspect="1"/>
          </p:cNvPicPr>
          <p:nvPr>
            <p:ph sz="quarter" idx="4"/>
          </p:nvPr>
        </p:nvPicPr>
        <p:blipFill>
          <a:blip r:embed="rId5"/>
          <a:stretch>
            <a:fillRect/>
          </a:stretch>
        </p:blipFill>
        <p:spPr>
          <a:xfrm>
            <a:off x="3733800" y="3886200"/>
            <a:ext cx="2784475" cy="3048000"/>
          </a:xfrm>
          <a:ln/>
        </p:spPr>
      </p:pic>
      <p:pic>
        <p:nvPicPr>
          <p:cNvPr id="1260611" name="图片 1260610" descr="happydog"/>
          <p:cNvPicPr>
            <a:picLocks noChangeAspect="1"/>
          </p:cNvPicPr>
          <p:nvPr/>
        </p:nvPicPr>
        <p:blipFill>
          <a:blip r:embed="rId6"/>
          <a:srcRect b="10608"/>
          <a:stretch>
            <a:fillRect/>
          </a:stretch>
        </p:blipFill>
        <p:spPr>
          <a:xfrm>
            <a:off x="6477000" y="3886200"/>
            <a:ext cx="3049588" cy="3124200"/>
          </a:xfrm>
          <a:prstGeom prst="rect">
            <a:avLst/>
          </a:prstGeom>
          <a:noFill/>
          <a:ln w="9525">
            <a:noFill/>
          </a:ln>
        </p:spPr>
      </p:pic>
      <p:pic>
        <p:nvPicPr>
          <p:cNvPr id="1260613" name="图片 1260612" descr="j0202032"/>
          <p:cNvPicPr>
            <a:picLocks noChangeAspect="1"/>
          </p:cNvPicPr>
          <p:nvPr/>
        </p:nvPicPr>
        <p:blipFill>
          <a:blip r:embed="rId7"/>
          <a:stretch>
            <a:fillRect/>
          </a:stretch>
        </p:blipFill>
        <p:spPr>
          <a:xfrm>
            <a:off x="6546850" y="0"/>
            <a:ext cx="2597150" cy="38862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3074" name="矩形 1283073"/>
          <p:cNvSpPr/>
          <p:nvPr/>
        </p:nvSpPr>
        <p:spPr>
          <a:xfrm>
            <a:off x="838200" y="228600"/>
            <a:ext cx="7772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House keeping</a:t>
            </a:r>
            <a:endParaRPr lang="en-US" altLang="zh-CN" sz="4000">
              <a:solidFill>
                <a:schemeClr val="bg1"/>
              </a:solidFill>
              <a:latin typeface="Arial" panose="020B0604020202020204" pitchFamily="34" charset="0"/>
              <a:ea typeface="Arial" panose="020B0604020202020204" pitchFamily="34" charset="0"/>
            </a:endParaRPr>
          </a:p>
        </p:txBody>
      </p:sp>
      <p:sp>
        <p:nvSpPr>
          <p:cNvPr id="1283075" name="矩形 1283074"/>
          <p:cNvSpPr/>
          <p:nvPr/>
        </p:nvSpPr>
        <p:spPr>
          <a:xfrm>
            <a:off x="76200" y="1143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Feedback or questions</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In case of an emergency</a:t>
            </a:r>
            <a:r>
              <a:rPr lang="en-US" altLang="zh-CN" sz="3500">
                <a:solidFill>
                  <a:schemeClr val="bg1"/>
                </a:solidFill>
                <a:latin typeface="Arial" panose="020B0604020202020204" pitchFamily="34" charset="0"/>
                <a:ea typeface="Arial" panose="020B0604020202020204" pitchFamily="34" charset="0"/>
              </a:rPr>
              <a:t>…</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ea typeface="Arial" panose="020B0604020202020204" pitchFamily="34" charset="0"/>
              </a:rPr>
              <a:t>…</a:t>
            </a:r>
            <a:r>
              <a:rPr lang="en-US" altLang="zh-CN" sz="3500">
                <a:solidFill>
                  <a:schemeClr val="bg1"/>
                </a:solidFill>
                <a:latin typeface="Arial" panose="020B0604020202020204" pitchFamily="34" charset="0"/>
                <a:cs typeface="Arial" panose="020B0604020202020204" pitchFamily="34" charset="0"/>
              </a:rPr>
              <a:t> we’ll take a PP-break</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err="1">
                <a:solidFill>
                  <a:schemeClr val="bg1"/>
                </a:solidFill>
                <a:latin typeface="Arial" panose="020B0604020202020204" pitchFamily="34" charset="0"/>
                <a:cs typeface="Arial" panose="020B0604020202020204" pitchFamily="34" charset="0"/>
              </a:rPr>
              <a:t>Powerpoints</a:t>
            </a:r>
            <a:r>
              <a:rPr lang="en-US" altLang="zh-CN" sz="3500">
                <a:solidFill>
                  <a:schemeClr val="bg1"/>
                </a:solidFill>
                <a:latin typeface="Arial" panose="020B0604020202020204" pitchFamily="34" charset="0"/>
                <a:cs typeface="Arial" panose="020B0604020202020204" pitchFamily="34" charset="0"/>
              </a:rPr>
              <a:t> and videotape on website</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Active note-taking</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Overlap with 1508?</a:t>
            </a:r>
            <a:endParaRPr lang="en-US" altLang="zh-CN" sz="35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83074"/>
                                        </p:tgtEl>
                                        <p:attrNameLst>
                                          <p:attrName>style.visibility</p:attrName>
                                        </p:attrNameLst>
                                      </p:cBhvr>
                                      <p:to>
                                        <p:strVal val="visible"/>
                                      </p:to>
                                    </p:set>
                                    <p:anim calcmode="lin" valueType="num">
                                      <p:cBhvr>
                                        <p:cTn id="7" dur="1000" fill="hold"/>
                                        <p:tgtEl>
                                          <p:spTgt spid="1283074"/>
                                        </p:tgtEl>
                                        <p:attrNameLst>
                                          <p:attrName>ppt_x</p:attrName>
                                        </p:attrNameLst>
                                      </p:cBhvr>
                                      <p:tavLst>
                                        <p:tav tm="0">
                                          <p:val>
                                            <p:strVal val="#ppt_x-.2"/>
                                          </p:val>
                                        </p:tav>
                                        <p:tav tm="100000">
                                          <p:val>
                                            <p:strVal val="#ppt_x"/>
                                          </p:val>
                                        </p:tav>
                                      </p:tavLst>
                                    </p:anim>
                                    <p:anim calcmode="lin" valueType="num">
                                      <p:cBhvr>
                                        <p:cTn id="8" dur="1000" fill="hold"/>
                                        <p:tgtEl>
                                          <p:spTgt spid="1283074"/>
                                        </p:tgtEl>
                                        <p:attrNameLst>
                                          <p:attrName>ppt_y</p:attrName>
                                        </p:attrNameLst>
                                      </p:cBhvr>
                                      <p:tavLst>
                                        <p:tav tm="0">
                                          <p:val>
                                            <p:strVal val="#ppt_y"/>
                                          </p:val>
                                        </p:tav>
                                        <p:tav tm="100000">
                                          <p:val>
                                            <p:strVal val="#ppt_y"/>
                                          </p:val>
                                        </p:tav>
                                      </p:tavLst>
                                    </p:anim>
                                    <p:animEffect transition="in" filter="wipe(right)" prLst="gradientSize: 0.1">
                                      <p:cBhvr>
                                        <p:cTn id="9" dur="1000"/>
                                        <p:tgtEl>
                                          <p:spTgt spid="128307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83075">
                                            <p:txEl>
                                              <p:charRg st="0" end="22"/>
                                            </p:txEl>
                                          </p:spTgt>
                                        </p:tgtEl>
                                        <p:attrNameLst>
                                          <p:attrName>style.visibility</p:attrName>
                                        </p:attrNameLst>
                                      </p:cBhvr>
                                      <p:to>
                                        <p:strVal val="visible"/>
                                      </p:to>
                                    </p:set>
                                    <p:animEffect transition="in" filter="fade">
                                      <p:cBhvr>
                                        <p:cTn id="14" dur="1000"/>
                                        <p:tgtEl>
                                          <p:spTgt spid="1283075">
                                            <p:txEl>
                                              <p:charRg st="0" end="22"/>
                                            </p:txEl>
                                          </p:spTgt>
                                        </p:tgtEl>
                                      </p:cBhvr>
                                    </p:animEffect>
                                    <p:anim calcmode="lin" valueType="num">
                                      <p:cBhvr>
                                        <p:cTn id="15" dur="1000" fill="hold"/>
                                        <p:tgtEl>
                                          <p:spTgt spid="1283075">
                                            <p:txEl>
                                              <p:charRg st="0" end="22"/>
                                            </p:txEl>
                                          </p:spTgt>
                                        </p:tgtEl>
                                        <p:attrNameLst>
                                          <p:attrName>ppt_x</p:attrName>
                                        </p:attrNameLst>
                                      </p:cBhvr>
                                      <p:tavLst>
                                        <p:tav tm="0">
                                          <p:val>
                                            <p:strVal val="#ppt_x"/>
                                          </p:val>
                                        </p:tav>
                                        <p:tav tm="100000">
                                          <p:val>
                                            <p:strVal val="#ppt_x"/>
                                          </p:val>
                                        </p:tav>
                                      </p:tavLst>
                                    </p:anim>
                                    <p:anim calcmode="lin" valueType="num">
                                      <p:cBhvr>
                                        <p:cTn id="16" dur="1000" fill="hold"/>
                                        <p:tgtEl>
                                          <p:spTgt spid="1283075">
                                            <p:txEl>
                                              <p:charRg st="0" end="2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83075">
                                            <p:txEl>
                                              <p:charRg st="22" end="47"/>
                                            </p:txEl>
                                          </p:spTgt>
                                        </p:tgtEl>
                                        <p:attrNameLst>
                                          <p:attrName>style.visibility</p:attrName>
                                        </p:attrNameLst>
                                      </p:cBhvr>
                                      <p:to>
                                        <p:strVal val="visible"/>
                                      </p:to>
                                    </p:set>
                                    <p:animEffect transition="in" filter="fade">
                                      <p:cBhvr>
                                        <p:cTn id="21" dur="1000"/>
                                        <p:tgtEl>
                                          <p:spTgt spid="1283075">
                                            <p:txEl>
                                              <p:charRg st="22" end="47"/>
                                            </p:txEl>
                                          </p:spTgt>
                                        </p:tgtEl>
                                      </p:cBhvr>
                                    </p:animEffect>
                                    <p:anim calcmode="lin" valueType="num">
                                      <p:cBhvr>
                                        <p:cTn id="22" dur="1000" fill="hold"/>
                                        <p:tgtEl>
                                          <p:spTgt spid="1283075">
                                            <p:txEl>
                                              <p:charRg st="22" end="47"/>
                                            </p:txEl>
                                          </p:spTgt>
                                        </p:tgtEl>
                                        <p:attrNameLst>
                                          <p:attrName>ppt_x</p:attrName>
                                        </p:attrNameLst>
                                      </p:cBhvr>
                                      <p:tavLst>
                                        <p:tav tm="0">
                                          <p:val>
                                            <p:strVal val="#ppt_x"/>
                                          </p:val>
                                        </p:tav>
                                        <p:tav tm="100000">
                                          <p:val>
                                            <p:strVal val="#ppt_x"/>
                                          </p:val>
                                        </p:tav>
                                      </p:tavLst>
                                    </p:anim>
                                    <p:anim calcmode="lin" valueType="num">
                                      <p:cBhvr>
                                        <p:cTn id="23" dur="1000" fill="hold"/>
                                        <p:tgtEl>
                                          <p:spTgt spid="1283075">
                                            <p:txEl>
                                              <p:charRg st="22" end="4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83075">
                                            <p:txEl>
                                              <p:charRg st="47" end="71"/>
                                            </p:txEl>
                                          </p:spTgt>
                                        </p:tgtEl>
                                        <p:attrNameLst>
                                          <p:attrName>style.visibility</p:attrName>
                                        </p:attrNameLst>
                                      </p:cBhvr>
                                      <p:to>
                                        <p:strVal val="visible"/>
                                      </p:to>
                                    </p:set>
                                    <p:animEffect transition="in" filter="fade">
                                      <p:cBhvr>
                                        <p:cTn id="28" dur="1000"/>
                                        <p:tgtEl>
                                          <p:spTgt spid="1283075">
                                            <p:txEl>
                                              <p:charRg st="47" end="71"/>
                                            </p:txEl>
                                          </p:spTgt>
                                        </p:tgtEl>
                                      </p:cBhvr>
                                    </p:animEffect>
                                    <p:anim calcmode="lin" valueType="num">
                                      <p:cBhvr>
                                        <p:cTn id="29" dur="1000" fill="hold"/>
                                        <p:tgtEl>
                                          <p:spTgt spid="1283075">
                                            <p:txEl>
                                              <p:charRg st="47" end="71"/>
                                            </p:txEl>
                                          </p:spTgt>
                                        </p:tgtEl>
                                        <p:attrNameLst>
                                          <p:attrName>ppt_x</p:attrName>
                                        </p:attrNameLst>
                                      </p:cBhvr>
                                      <p:tavLst>
                                        <p:tav tm="0">
                                          <p:val>
                                            <p:strVal val="#ppt_x"/>
                                          </p:val>
                                        </p:tav>
                                        <p:tav tm="100000">
                                          <p:val>
                                            <p:strVal val="#ppt_x"/>
                                          </p:val>
                                        </p:tav>
                                      </p:tavLst>
                                    </p:anim>
                                    <p:anim calcmode="lin" valueType="num">
                                      <p:cBhvr>
                                        <p:cTn id="30" dur="1000" fill="hold"/>
                                        <p:tgtEl>
                                          <p:spTgt spid="1283075">
                                            <p:txEl>
                                              <p:charRg st="47" end="7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83075">
                                            <p:txEl>
                                              <p:charRg st="71" end="108"/>
                                            </p:txEl>
                                          </p:spTgt>
                                        </p:tgtEl>
                                        <p:attrNameLst>
                                          <p:attrName>style.visibility</p:attrName>
                                        </p:attrNameLst>
                                      </p:cBhvr>
                                      <p:to>
                                        <p:strVal val="visible"/>
                                      </p:to>
                                    </p:set>
                                    <p:animEffect transition="in" filter="fade">
                                      <p:cBhvr>
                                        <p:cTn id="35" dur="1000"/>
                                        <p:tgtEl>
                                          <p:spTgt spid="1283075">
                                            <p:txEl>
                                              <p:charRg st="71" end="108"/>
                                            </p:txEl>
                                          </p:spTgt>
                                        </p:tgtEl>
                                      </p:cBhvr>
                                    </p:animEffect>
                                    <p:anim calcmode="lin" valueType="num">
                                      <p:cBhvr>
                                        <p:cTn id="36" dur="1000" fill="hold"/>
                                        <p:tgtEl>
                                          <p:spTgt spid="1283075">
                                            <p:txEl>
                                              <p:charRg st="71" end="108"/>
                                            </p:txEl>
                                          </p:spTgt>
                                        </p:tgtEl>
                                        <p:attrNameLst>
                                          <p:attrName>ppt_x</p:attrName>
                                        </p:attrNameLst>
                                      </p:cBhvr>
                                      <p:tavLst>
                                        <p:tav tm="0">
                                          <p:val>
                                            <p:strVal val="#ppt_x"/>
                                          </p:val>
                                        </p:tav>
                                        <p:tav tm="100000">
                                          <p:val>
                                            <p:strVal val="#ppt_x"/>
                                          </p:val>
                                        </p:tav>
                                      </p:tavLst>
                                    </p:anim>
                                    <p:anim calcmode="lin" valueType="num">
                                      <p:cBhvr>
                                        <p:cTn id="37" dur="1000" fill="hold"/>
                                        <p:tgtEl>
                                          <p:spTgt spid="1283075">
                                            <p:txEl>
                                              <p:charRg st="71" end="10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283075">
                                            <p:txEl>
                                              <p:charRg st="108" end="127"/>
                                            </p:txEl>
                                          </p:spTgt>
                                        </p:tgtEl>
                                        <p:attrNameLst>
                                          <p:attrName>style.visibility</p:attrName>
                                        </p:attrNameLst>
                                      </p:cBhvr>
                                      <p:to>
                                        <p:strVal val="visible"/>
                                      </p:to>
                                    </p:set>
                                    <p:animEffect transition="in" filter="fade">
                                      <p:cBhvr>
                                        <p:cTn id="42" dur="1000"/>
                                        <p:tgtEl>
                                          <p:spTgt spid="1283075">
                                            <p:txEl>
                                              <p:charRg st="108" end="127"/>
                                            </p:txEl>
                                          </p:spTgt>
                                        </p:tgtEl>
                                      </p:cBhvr>
                                    </p:animEffect>
                                    <p:anim calcmode="lin" valueType="num">
                                      <p:cBhvr>
                                        <p:cTn id="43" dur="1000" fill="hold"/>
                                        <p:tgtEl>
                                          <p:spTgt spid="1283075">
                                            <p:txEl>
                                              <p:charRg st="108" end="127"/>
                                            </p:txEl>
                                          </p:spTgt>
                                        </p:tgtEl>
                                        <p:attrNameLst>
                                          <p:attrName>ppt_x</p:attrName>
                                        </p:attrNameLst>
                                      </p:cBhvr>
                                      <p:tavLst>
                                        <p:tav tm="0">
                                          <p:val>
                                            <p:strVal val="#ppt_x"/>
                                          </p:val>
                                        </p:tav>
                                        <p:tav tm="100000">
                                          <p:val>
                                            <p:strVal val="#ppt_x"/>
                                          </p:val>
                                        </p:tav>
                                      </p:tavLst>
                                    </p:anim>
                                    <p:anim calcmode="lin" valueType="num">
                                      <p:cBhvr>
                                        <p:cTn id="44" dur="1000" fill="hold"/>
                                        <p:tgtEl>
                                          <p:spTgt spid="1283075">
                                            <p:txEl>
                                              <p:charRg st="108" end="12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83075">
                                            <p:txEl>
                                              <p:charRg st="127" end="146"/>
                                            </p:txEl>
                                          </p:spTgt>
                                        </p:tgtEl>
                                        <p:attrNameLst>
                                          <p:attrName>style.visibility</p:attrName>
                                        </p:attrNameLst>
                                      </p:cBhvr>
                                      <p:to>
                                        <p:strVal val="visible"/>
                                      </p:to>
                                    </p:set>
                                    <p:animEffect transition="in" filter="fade">
                                      <p:cBhvr>
                                        <p:cTn id="49" dur="1000"/>
                                        <p:tgtEl>
                                          <p:spTgt spid="1283075">
                                            <p:txEl>
                                              <p:charRg st="127" end="146"/>
                                            </p:txEl>
                                          </p:spTgt>
                                        </p:tgtEl>
                                      </p:cBhvr>
                                    </p:animEffect>
                                    <p:anim calcmode="lin" valueType="num">
                                      <p:cBhvr>
                                        <p:cTn id="50" dur="1000" fill="hold"/>
                                        <p:tgtEl>
                                          <p:spTgt spid="1283075">
                                            <p:txEl>
                                              <p:charRg st="127" end="146"/>
                                            </p:txEl>
                                          </p:spTgt>
                                        </p:tgtEl>
                                        <p:attrNameLst>
                                          <p:attrName>ppt_x</p:attrName>
                                        </p:attrNameLst>
                                      </p:cBhvr>
                                      <p:tavLst>
                                        <p:tav tm="0">
                                          <p:val>
                                            <p:strVal val="#ppt_x"/>
                                          </p:val>
                                        </p:tav>
                                        <p:tav tm="100000">
                                          <p:val>
                                            <p:strVal val="#ppt_x"/>
                                          </p:val>
                                        </p:tav>
                                      </p:tavLst>
                                    </p:anim>
                                    <p:anim calcmode="lin" valueType="num">
                                      <p:cBhvr>
                                        <p:cTn id="51" dur="1000" fill="hold"/>
                                        <p:tgtEl>
                                          <p:spTgt spid="1283075">
                                            <p:txEl>
                                              <p:charRg st="127" end="14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307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78978" name="矩形 1278977"/>
          <p:cNvSpPr/>
          <p:nvPr/>
        </p:nvSpPr>
        <p:spPr>
          <a:xfrm>
            <a:off x="838200" y="228600"/>
            <a:ext cx="7772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The Road to Positive Psychology</a:t>
            </a:r>
            <a:endParaRPr lang="en-US" altLang="zh-CN" sz="4000">
              <a:solidFill>
                <a:schemeClr val="bg1"/>
              </a:solidFill>
              <a:latin typeface="Arial" panose="020B0604020202020204" pitchFamily="34" charset="0"/>
              <a:ea typeface="Arial" panose="020B0604020202020204" pitchFamily="34" charset="0"/>
            </a:endParaRPr>
          </a:p>
        </p:txBody>
      </p:sp>
      <p:sp>
        <p:nvSpPr>
          <p:cNvPr id="1278979" name="矩形 1278978"/>
          <p:cNvSpPr/>
          <p:nvPr/>
        </p:nvSpPr>
        <p:spPr>
          <a:xfrm>
            <a:off x="76200" y="1143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Humanistic Psychology (50’s)</a:t>
            </a:r>
            <a:endParaRPr lang="en-US" altLang="zh-CN" sz="3500">
              <a:solidFill>
                <a:schemeClr val="bg1"/>
              </a:solidFill>
              <a:latin typeface="Arial" panose="020B0604020202020204" pitchFamily="34" charset="0"/>
              <a:cs typeface="Arial" panose="020B0604020202020204" pitchFamily="34" charset="0"/>
            </a:endParaRPr>
          </a:p>
          <a:p>
            <a:pPr lvl="1"/>
            <a:r>
              <a:rPr lang="en-US" altLang="zh-CN" sz="3100">
                <a:solidFill>
                  <a:schemeClr val="bg1"/>
                </a:solidFill>
                <a:latin typeface="Arial" panose="020B0604020202020204" pitchFamily="34" charset="0"/>
                <a:cs typeface="Arial" panose="020B0604020202020204" pitchFamily="34" charset="0"/>
              </a:rPr>
              <a:t> </a:t>
            </a:r>
            <a:r>
              <a:rPr lang="en-US" altLang="zh-CN" sz="3500">
                <a:solidFill>
                  <a:schemeClr val="bg1"/>
                </a:solidFill>
                <a:latin typeface="Arial" panose="020B0604020202020204" pitchFamily="34" charset="0"/>
                <a:cs typeface="Arial" panose="020B0604020202020204" pitchFamily="34" charset="0"/>
              </a:rPr>
              <a:t>The Third Force</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Reaction to behaviorism</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Reaction to psychoanalysis</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Lacked rigorous methodology</a:t>
            </a:r>
            <a:endParaRPr lang="en-US" altLang="zh-CN" sz="35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78978"/>
                                        </p:tgtEl>
                                        <p:attrNameLst>
                                          <p:attrName>style.visibility</p:attrName>
                                        </p:attrNameLst>
                                      </p:cBhvr>
                                      <p:to>
                                        <p:strVal val="visible"/>
                                      </p:to>
                                    </p:set>
                                    <p:anim calcmode="lin" valueType="num">
                                      <p:cBhvr>
                                        <p:cTn id="7" dur="1000" fill="hold"/>
                                        <p:tgtEl>
                                          <p:spTgt spid="1278978"/>
                                        </p:tgtEl>
                                        <p:attrNameLst>
                                          <p:attrName>ppt_x</p:attrName>
                                        </p:attrNameLst>
                                      </p:cBhvr>
                                      <p:tavLst>
                                        <p:tav tm="0">
                                          <p:val>
                                            <p:strVal val="#ppt_x-.2"/>
                                          </p:val>
                                        </p:tav>
                                        <p:tav tm="100000">
                                          <p:val>
                                            <p:strVal val="#ppt_x"/>
                                          </p:val>
                                        </p:tav>
                                      </p:tavLst>
                                    </p:anim>
                                    <p:anim calcmode="lin" valueType="num">
                                      <p:cBhvr>
                                        <p:cTn id="8" dur="1000" fill="hold"/>
                                        <p:tgtEl>
                                          <p:spTgt spid="1278978"/>
                                        </p:tgtEl>
                                        <p:attrNameLst>
                                          <p:attrName>ppt_y</p:attrName>
                                        </p:attrNameLst>
                                      </p:cBhvr>
                                      <p:tavLst>
                                        <p:tav tm="0">
                                          <p:val>
                                            <p:strVal val="#ppt_y"/>
                                          </p:val>
                                        </p:tav>
                                        <p:tav tm="100000">
                                          <p:val>
                                            <p:strVal val="#ppt_y"/>
                                          </p:val>
                                        </p:tav>
                                      </p:tavLst>
                                    </p:anim>
                                    <p:animEffect transition="in" filter="wipe(right)" prLst="gradientSize: 0.1">
                                      <p:cBhvr>
                                        <p:cTn id="9" dur="1000"/>
                                        <p:tgtEl>
                                          <p:spTgt spid="127897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78979">
                                            <p:txEl>
                                              <p:charRg st="0" end="29"/>
                                            </p:txEl>
                                          </p:spTgt>
                                        </p:tgtEl>
                                        <p:attrNameLst>
                                          <p:attrName>style.visibility</p:attrName>
                                        </p:attrNameLst>
                                      </p:cBhvr>
                                      <p:to>
                                        <p:strVal val="visible"/>
                                      </p:to>
                                    </p:set>
                                    <p:animEffect transition="in" filter="fade">
                                      <p:cBhvr>
                                        <p:cTn id="14" dur="1000"/>
                                        <p:tgtEl>
                                          <p:spTgt spid="1278979">
                                            <p:txEl>
                                              <p:charRg st="0" end="29"/>
                                            </p:txEl>
                                          </p:spTgt>
                                        </p:tgtEl>
                                      </p:cBhvr>
                                    </p:animEffect>
                                    <p:anim calcmode="lin" valueType="num">
                                      <p:cBhvr>
                                        <p:cTn id="15" dur="1000" fill="hold"/>
                                        <p:tgtEl>
                                          <p:spTgt spid="1278979">
                                            <p:txEl>
                                              <p:charRg st="0" end="29"/>
                                            </p:txEl>
                                          </p:spTgt>
                                        </p:tgtEl>
                                        <p:attrNameLst>
                                          <p:attrName>ppt_x</p:attrName>
                                        </p:attrNameLst>
                                      </p:cBhvr>
                                      <p:tavLst>
                                        <p:tav tm="0">
                                          <p:val>
                                            <p:strVal val="#ppt_x"/>
                                          </p:val>
                                        </p:tav>
                                        <p:tav tm="100000">
                                          <p:val>
                                            <p:strVal val="#ppt_x"/>
                                          </p:val>
                                        </p:tav>
                                      </p:tavLst>
                                    </p:anim>
                                    <p:anim calcmode="lin" valueType="num">
                                      <p:cBhvr>
                                        <p:cTn id="16" dur="1000" fill="hold"/>
                                        <p:tgtEl>
                                          <p:spTgt spid="1278979">
                                            <p:txEl>
                                              <p:charRg st="0" end="2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78979">
                                            <p:txEl>
                                              <p:charRg st="29" end="46"/>
                                            </p:txEl>
                                          </p:spTgt>
                                        </p:tgtEl>
                                        <p:attrNameLst>
                                          <p:attrName>style.visibility</p:attrName>
                                        </p:attrNameLst>
                                      </p:cBhvr>
                                      <p:to>
                                        <p:strVal val="visible"/>
                                      </p:to>
                                    </p:set>
                                    <p:animEffect transition="in" filter="fade">
                                      <p:cBhvr>
                                        <p:cTn id="21" dur="1000"/>
                                        <p:tgtEl>
                                          <p:spTgt spid="1278979">
                                            <p:txEl>
                                              <p:charRg st="29" end="46"/>
                                            </p:txEl>
                                          </p:spTgt>
                                        </p:tgtEl>
                                      </p:cBhvr>
                                    </p:animEffect>
                                    <p:anim calcmode="lin" valueType="num">
                                      <p:cBhvr>
                                        <p:cTn id="22" dur="1000" fill="hold"/>
                                        <p:tgtEl>
                                          <p:spTgt spid="1278979">
                                            <p:txEl>
                                              <p:charRg st="29" end="46"/>
                                            </p:txEl>
                                          </p:spTgt>
                                        </p:tgtEl>
                                        <p:attrNameLst>
                                          <p:attrName>ppt_x</p:attrName>
                                        </p:attrNameLst>
                                      </p:cBhvr>
                                      <p:tavLst>
                                        <p:tav tm="0">
                                          <p:val>
                                            <p:strVal val="#ppt_x"/>
                                          </p:val>
                                        </p:tav>
                                        <p:tav tm="100000">
                                          <p:val>
                                            <p:strVal val="#ppt_x"/>
                                          </p:val>
                                        </p:tav>
                                      </p:tavLst>
                                    </p:anim>
                                    <p:anim calcmode="lin" valueType="num">
                                      <p:cBhvr>
                                        <p:cTn id="23" dur="1000" fill="hold"/>
                                        <p:tgtEl>
                                          <p:spTgt spid="1278979">
                                            <p:txEl>
                                              <p:charRg st="29" end="4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78979">
                                            <p:txEl>
                                              <p:charRg st="46" end="71"/>
                                            </p:txEl>
                                          </p:spTgt>
                                        </p:tgtEl>
                                        <p:attrNameLst>
                                          <p:attrName>style.visibility</p:attrName>
                                        </p:attrNameLst>
                                      </p:cBhvr>
                                      <p:to>
                                        <p:strVal val="visible"/>
                                      </p:to>
                                    </p:set>
                                    <p:animEffect transition="in" filter="fade">
                                      <p:cBhvr>
                                        <p:cTn id="28" dur="1000"/>
                                        <p:tgtEl>
                                          <p:spTgt spid="1278979">
                                            <p:txEl>
                                              <p:charRg st="46" end="71"/>
                                            </p:txEl>
                                          </p:spTgt>
                                        </p:tgtEl>
                                      </p:cBhvr>
                                    </p:animEffect>
                                    <p:anim calcmode="lin" valueType="num">
                                      <p:cBhvr>
                                        <p:cTn id="29" dur="1000" fill="hold"/>
                                        <p:tgtEl>
                                          <p:spTgt spid="1278979">
                                            <p:txEl>
                                              <p:charRg st="46" end="71"/>
                                            </p:txEl>
                                          </p:spTgt>
                                        </p:tgtEl>
                                        <p:attrNameLst>
                                          <p:attrName>ppt_x</p:attrName>
                                        </p:attrNameLst>
                                      </p:cBhvr>
                                      <p:tavLst>
                                        <p:tav tm="0">
                                          <p:val>
                                            <p:strVal val="#ppt_x"/>
                                          </p:val>
                                        </p:tav>
                                        <p:tav tm="100000">
                                          <p:val>
                                            <p:strVal val="#ppt_x"/>
                                          </p:val>
                                        </p:tav>
                                      </p:tavLst>
                                    </p:anim>
                                    <p:anim calcmode="lin" valueType="num">
                                      <p:cBhvr>
                                        <p:cTn id="30" dur="1000" fill="hold"/>
                                        <p:tgtEl>
                                          <p:spTgt spid="1278979">
                                            <p:txEl>
                                              <p:charRg st="46" end="7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78979">
                                            <p:txEl>
                                              <p:charRg st="71" end="99"/>
                                            </p:txEl>
                                          </p:spTgt>
                                        </p:tgtEl>
                                        <p:attrNameLst>
                                          <p:attrName>style.visibility</p:attrName>
                                        </p:attrNameLst>
                                      </p:cBhvr>
                                      <p:to>
                                        <p:strVal val="visible"/>
                                      </p:to>
                                    </p:set>
                                    <p:animEffect transition="in" filter="fade">
                                      <p:cBhvr>
                                        <p:cTn id="35" dur="1000"/>
                                        <p:tgtEl>
                                          <p:spTgt spid="1278979">
                                            <p:txEl>
                                              <p:charRg st="71" end="99"/>
                                            </p:txEl>
                                          </p:spTgt>
                                        </p:tgtEl>
                                      </p:cBhvr>
                                    </p:animEffect>
                                    <p:anim calcmode="lin" valueType="num">
                                      <p:cBhvr>
                                        <p:cTn id="36" dur="1000" fill="hold"/>
                                        <p:tgtEl>
                                          <p:spTgt spid="1278979">
                                            <p:txEl>
                                              <p:charRg st="71" end="99"/>
                                            </p:txEl>
                                          </p:spTgt>
                                        </p:tgtEl>
                                        <p:attrNameLst>
                                          <p:attrName>ppt_x</p:attrName>
                                        </p:attrNameLst>
                                      </p:cBhvr>
                                      <p:tavLst>
                                        <p:tav tm="0">
                                          <p:val>
                                            <p:strVal val="#ppt_x"/>
                                          </p:val>
                                        </p:tav>
                                        <p:tav tm="100000">
                                          <p:val>
                                            <p:strVal val="#ppt_x"/>
                                          </p:val>
                                        </p:tav>
                                      </p:tavLst>
                                    </p:anim>
                                    <p:anim calcmode="lin" valueType="num">
                                      <p:cBhvr>
                                        <p:cTn id="37" dur="1000" fill="hold"/>
                                        <p:tgtEl>
                                          <p:spTgt spid="1278979">
                                            <p:txEl>
                                              <p:charRg st="71" end="9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278979">
                                            <p:txEl>
                                              <p:charRg st="99" end="128"/>
                                            </p:txEl>
                                          </p:spTgt>
                                        </p:tgtEl>
                                        <p:attrNameLst>
                                          <p:attrName>style.visibility</p:attrName>
                                        </p:attrNameLst>
                                      </p:cBhvr>
                                      <p:to>
                                        <p:strVal val="visible"/>
                                      </p:to>
                                    </p:set>
                                    <p:animEffect transition="in" filter="fade">
                                      <p:cBhvr>
                                        <p:cTn id="42" dur="1000"/>
                                        <p:tgtEl>
                                          <p:spTgt spid="1278979">
                                            <p:txEl>
                                              <p:charRg st="99" end="128"/>
                                            </p:txEl>
                                          </p:spTgt>
                                        </p:tgtEl>
                                      </p:cBhvr>
                                    </p:animEffect>
                                    <p:anim calcmode="lin" valueType="num">
                                      <p:cBhvr>
                                        <p:cTn id="43" dur="1000" fill="hold"/>
                                        <p:tgtEl>
                                          <p:spTgt spid="1278979">
                                            <p:txEl>
                                              <p:charRg st="99" end="128"/>
                                            </p:txEl>
                                          </p:spTgt>
                                        </p:tgtEl>
                                        <p:attrNameLst>
                                          <p:attrName>ppt_x</p:attrName>
                                        </p:attrNameLst>
                                      </p:cBhvr>
                                      <p:tavLst>
                                        <p:tav tm="0">
                                          <p:val>
                                            <p:strVal val="#ppt_x"/>
                                          </p:val>
                                        </p:tav>
                                        <p:tav tm="100000">
                                          <p:val>
                                            <p:strVal val="#ppt_x"/>
                                          </p:val>
                                        </p:tav>
                                      </p:tavLst>
                                    </p:anim>
                                    <p:anim calcmode="lin" valueType="num">
                                      <p:cBhvr>
                                        <p:cTn id="44" dur="1000" fill="hold"/>
                                        <p:tgtEl>
                                          <p:spTgt spid="1278979">
                                            <p:txEl>
                                              <p:charRg st="99" end="12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89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77959" name="组合 1277958"/>
          <p:cNvGrpSpPr/>
          <p:nvPr/>
        </p:nvGrpSpPr>
        <p:grpSpPr>
          <a:xfrm>
            <a:off x="0" y="685800"/>
            <a:ext cx="4289425" cy="6096000"/>
            <a:chOff x="0" y="432"/>
            <a:chExt cx="2702" cy="3840"/>
          </a:xfrm>
        </p:grpSpPr>
        <p:pic>
          <p:nvPicPr>
            <p:cNvPr id="1277954" name="图片 1277953" descr="maslow"/>
            <p:cNvPicPr>
              <a:picLocks noChangeAspect="1"/>
            </p:cNvPicPr>
            <p:nvPr/>
          </p:nvPicPr>
          <p:blipFill>
            <a:blip r:embed="rId1"/>
            <a:stretch>
              <a:fillRect/>
            </a:stretch>
          </p:blipFill>
          <p:spPr>
            <a:xfrm>
              <a:off x="192" y="432"/>
              <a:ext cx="2342" cy="3552"/>
            </a:xfrm>
            <a:prstGeom prst="rect">
              <a:avLst/>
            </a:prstGeom>
            <a:noFill/>
            <a:ln w="9525">
              <a:noFill/>
            </a:ln>
          </p:spPr>
        </p:pic>
        <p:sp>
          <p:nvSpPr>
            <p:cNvPr id="1277956" name="文本框 1277955"/>
            <p:cNvSpPr txBox="1"/>
            <p:nvPr/>
          </p:nvSpPr>
          <p:spPr>
            <a:xfrm>
              <a:off x="0" y="3984"/>
              <a:ext cx="2702" cy="288"/>
            </a:xfrm>
            <a:prstGeom prst="rect">
              <a:avLst/>
            </a:prstGeom>
            <a:noFill/>
            <a:ln w="12700">
              <a:noFill/>
            </a:ln>
          </p:spPr>
          <p:txBody>
            <a:bodyPr wrap="none" anchor="t" anchorCtr="0">
              <a:spAutoFit/>
            </a:bodyPr>
            <a:p>
              <a:r>
                <a:rPr lang="en-US" altLang="zh-CN">
                  <a:solidFill>
                    <a:schemeClr val="bg1"/>
                  </a:solidFill>
                  <a:latin typeface="Arial" panose="020B0604020202020204" pitchFamily="34" charset="0"/>
                  <a:cs typeface="Arial" panose="020B0604020202020204" pitchFamily="34" charset="0"/>
                </a:rPr>
                <a:t>Abraham </a:t>
              </a:r>
              <a:r>
                <a:rPr lang="en-US" altLang="zh-CN" err="1">
                  <a:solidFill>
                    <a:schemeClr val="bg1"/>
                  </a:solidFill>
                  <a:latin typeface="Arial" panose="020B0604020202020204" pitchFamily="34" charset="0"/>
                  <a:cs typeface="Arial" panose="020B0604020202020204" pitchFamily="34" charset="0"/>
                </a:rPr>
                <a:t>Maslow</a:t>
              </a:r>
              <a:r>
                <a:rPr lang="en-US" altLang="zh-CN">
                  <a:solidFill>
                    <a:schemeClr val="bg1"/>
                  </a:solidFill>
                  <a:latin typeface="Arial" panose="020B0604020202020204" pitchFamily="34" charset="0"/>
                  <a:cs typeface="Arial" panose="020B0604020202020204" pitchFamily="34" charset="0"/>
                </a:rPr>
                <a:t> (1908-1970)</a:t>
              </a:r>
              <a:endParaRPr lang="en-US" altLang="zh-CN">
                <a:solidFill>
                  <a:schemeClr val="bg1"/>
                </a:solidFill>
                <a:latin typeface="Arial" panose="020B0604020202020204" pitchFamily="34" charset="0"/>
                <a:ea typeface="Arial" panose="020B0604020202020204" pitchFamily="34" charset="0"/>
              </a:endParaRPr>
            </a:p>
          </p:txBody>
        </p:sp>
      </p:grpSp>
      <p:grpSp>
        <p:nvGrpSpPr>
          <p:cNvPr id="1277960" name="组合 1277959"/>
          <p:cNvGrpSpPr/>
          <p:nvPr/>
        </p:nvGrpSpPr>
        <p:grpSpPr>
          <a:xfrm>
            <a:off x="4606925" y="704850"/>
            <a:ext cx="4308475" cy="6076950"/>
            <a:chOff x="2902" y="444"/>
            <a:chExt cx="2714" cy="3828"/>
          </a:xfrm>
        </p:grpSpPr>
        <p:pic>
          <p:nvPicPr>
            <p:cNvPr id="1277955" name="图片 1277954" descr="karenhorney"/>
            <p:cNvPicPr>
              <a:picLocks noChangeAspect="1"/>
            </p:cNvPicPr>
            <p:nvPr/>
          </p:nvPicPr>
          <p:blipFill>
            <a:blip r:embed="rId2"/>
            <a:stretch>
              <a:fillRect/>
            </a:stretch>
          </p:blipFill>
          <p:spPr>
            <a:xfrm>
              <a:off x="2902" y="444"/>
              <a:ext cx="2714" cy="3588"/>
            </a:xfrm>
            <a:prstGeom prst="rect">
              <a:avLst/>
            </a:prstGeom>
            <a:noFill/>
            <a:ln w="9525">
              <a:noFill/>
            </a:ln>
          </p:spPr>
        </p:pic>
        <p:sp>
          <p:nvSpPr>
            <p:cNvPr id="1277957" name="文本框 1277956"/>
            <p:cNvSpPr txBox="1"/>
            <p:nvPr/>
          </p:nvSpPr>
          <p:spPr>
            <a:xfrm>
              <a:off x="3072" y="3984"/>
              <a:ext cx="2403" cy="288"/>
            </a:xfrm>
            <a:prstGeom prst="rect">
              <a:avLst/>
            </a:prstGeom>
            <a:noFill/>
            <a:ln w="12700">
              <a:noFill/>
            </a:ln>
          </p:spPr>
          <p:txBody>
            <a:bodyPr wrap="none" anchor="t" anchorCtr="0">
              <a:spAutoFit/>
            </a:bodyPr>
            <a:p>
              <a:r>
                <a:rPr lang="en-US" altLang="zh-CN">
                  <a:solidFill>
                    <a:schemeClr val="bg1"/>
                  </a:solidFill>
                  <a:latin typeface="Arial" panose="020B0604020202020204" pitchFamily="34" charset="0"/>
                  <a:cs typeface="Arial" panose="020B0604020202020204" pitchFamily="34" charset="0"/>
                </a:rPr>
                <a:t>Karen </a:t>
              </a:r>
              <a:r>
                <a:rPr lang="en-US" altLang="zh-CN" err="1">
                  <a:solidFill>
                    <a:schemeClr val="bg1"/>
                  </a:solidFill>
                  <a:latin typeface="Arial" panose="020B0604020202020204" pitchFamily="34" charset="0"/>
                  <a:cs typeface="Arial" panose="020B0604020202020204" pitchFamily="34" charset="0"/>
                </a:rPr>
                <a:t>Horney</a:t>
              </a:r>
              <a:r>
                <a:rPr lang="en-US" altLang="zh-CN">
                  <a:solidFill>
                    <a:schemeClr val="bg1"/>
                  </a:solidFill>
                  <a:latin typeface="Arial" panose="020B0604020202020204" pitchFamily="34" charset="0"/>
                  <a:cs typeface="Arial" panose="020B0604020202020204" pitchFamily="34" charset="0"/>
                </a:rPr>
                <a:t> (1885-1952)</a:t>
              </a:r>
              <a:endParaRPr lang="en-US" altLang="zh-CN">
                <a:solidFill>
                  <a:schemeClr val="bg1"/>
                </a:solidFill>
                <a:latin typeface="Arial" panose="020B0604020202020204" pitchFamily="34" charset="0"/>
                <a:ea typeface="Arial" panose="020B0604020202020204" pitchFamily="34" charset="0"/>
              </a:endParaRPr>
            </a:p>
          </p:txBody>
        </p:sp>
      </p:grpSp>
      <p:sp>
        <p:nvSpPr>
          <p:cNvPr id="1277958" name="矩形 1277957"/>
          <p:cNvSpPr/>
          <p:nvPr/>
        </p:nvSpPr>
        <p:spPr>
          <a:xfrm>
            <a:off x="0" y="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Tahoma" panose="020B0604030504040204" pitchFamily="34" charset="0"/>
              </a:rPr>
              <a:t>Meet the Grandparents</a:t>
            </a:r>
            <a:endParaRPr lang="en-US" altLang="zh-CN" sz="40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77958"/>
                                        </p:tgtEl>
                                        <p:attrNameLst>
                                          <p:attrName>style.visibility</p:attrName>
                                        </p:attrNameLst>
                                      </p:cBhvr>
                                      <p:to>
                                        <p:strVal val="visible"/>
                                      </p:to>
                                    </p:set>
                                    <p:anim calcmode="lin" valueType="num">
                                      <p:cBhvr>
                                        <p:cTn id="7" dur="1000" fill="hold"/>
                                        <p:tgtEl>
                                          <p:spTgt spid="1277958"/>
                                        </p:tgtEl>
                                        <p:attrNameLst>
                                          <p:attrName>ppt_x</p:attrName>
                                        </p:attrNameLst>
                                      </p:cBhvr>
                                      <p:tavLst>
                                        <p:tav tm="0">
                                          <p:val>
                                            <p:strVal val="#ppt_x-.2"/>
                                          </p:val>
                                        </p:tav>
                                        <p:tav tm="100000">
                                          <p:val>
                                            <p:strVal val="#ppt_x"/>
                                          </p:val>
                                        </p:tav>
                                      </p:tavLst>
                                    </p:anim>
                                    <p:anim calcmode="lin" valueType="num">
                                      <p:cBhvr>
                                        <p:cTn id="8" dur="1000" fill="hold"/>
                                        <p:tgtEl>
                                          <p:spTgt spid="1277958"/>
                                        </p:tgtEl>
                                        <p:attrNameLst>
                                          <p:attrName>ppt_y</p:attrName>
                                        </p:attrNameLst>
                                      </p:cBhvr>
                                      <p:tavLst>
                                        <p:tav tm="0">
                                          <p:val>
                                            <p:strVal val="#ppt_y"/>
                                          </p:val>
                                        </p:tav>
                                        <p:tav tm="100000">
                                          <p:val>
                                            <p:strVal val="#ppt_y"/>
                                          </p:val>
                                        </p:tav>
                                      </p:tavLst>
                                    </p:anim>
                                    <p:animEffect transition="in" filter="wipe(right)" prLst="gradientSize: 0.1">
                                      <p:cBhvr>
                                        <p:cTn id="9" dur="1000"/>
                                        <p:tgtEl>
                                          <p:spTgt spid="127795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27795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2779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795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64" name="矩形 1269763"/>
          <p:cNvSpPr/>
          <p:nvPr/>
        </p:nvSpPr>
        <p:spPr>
          <a:xfrm>
            <a:off x="0" y="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Meet the Parents</a:t>
            </a:r>
            <a:endParaRPr lang="en-US" altLang="zh-CN" sz="4000">
              <a:solidFill>
                <a:schemeClr val="bg1"/>
              </a:solidFill>
              <a:latin typeface="Arial" panose="020B0604020202020204" pitchFamily="34" charset="0"/>
              <a:ea typeface="Arial" panose="020B0604020202020204" pitchFamily="34" charset="0"/>
            </a:endParaRPr>
          </a:p>
        </p:txBody>
      </p:sp>
      <p:grpSp>
        <p:nvGrpSpPr>
          <p:cNvPr id="1269772" name="组合 1269771"/>
          <p:cNvGrpSpPr/>
          <p:nvPr/>
        </p:nvGrpSpPr>
        <p:grpSpPr>
          <a:xfrm>
            <a:off x="-609600" y="838200"/>
            <a:ext cx="4119563" cy="5408613"/>
            <a:chOff x="-384" y="528"/>
            <a:chExt cx="2595" cy="3407"/>
          </a:xfrm>
        </p:grpSpPr>
        <p:pic>
          <p:nvPicPr>
            <p:cNvPr id="1269762" name="图片 1269761" descr="seligman-interview"/>
            <p:cNvPicPr>
              <a:picLocks noChangeAspect="1"/>
            </p:cNvPicPr>
            <p:nvPr/>
          </p:nvPicPr>
          <p:blipFill>
            <a:blip r:embed="rId1"/>
            <a:stretch>
              <a:fillRect/>
            </a:stretch>
          </p:blipFill>
          <p:spPr>
            <a:xfrm>
              <a:off x="-384" y="528"/>
              <a:ext cx="2595" cy="3072"/>
            </a:xfrm>
            <a:prstGeom prst="rect">
              <a:avLst/>
            </a:prstGeom>
            <a:noFill/>
            <a:ln w="9525">
              <a:noFill/>
            </a:ln>
          </p:spPr>
        </p:pic>
        <p:sp>
          <p:nvSpPr>
            <p:cNvPr id="1269766" name="矩形 1269765"/>
            <p:cNvSpPr/>
            <p:nvPr/>
          </p:nvSpPr>
          <p:spPr>
            <a:xfrm>
              <a:off x="96" y="3647"/>
              <a:ext cx="1505" cy="288"/>
            </a:xfrm>
            <a:prstGeom prst="rect">
              <a:avLst/>
            </a:prstGeom>
            <a:noFill/>
            <a:ln w="12700">
              <a:noFill/>
            </a:ln>
          </p:spPr>
          <p:txBody>
            <a:bodyPr wrap="none" anchor="t" anchorCtr="0">
              <a:spAutoFit/>
            </a:bodyPr>
            <a:p>
              <a:r>
                <a:rPr lang="en-US" altLang="zh-CN">
                  <a:solidFill>
                    <a:schemeClr val="bg1"/>
                  </a:solidFill>
                  <a:latin typeface="Arial" panose="020B0604020202020204" pitchFamily="34" charset="0"/>
                  <a:cs typeface="Arial" panose="020B0604020202020204" pitchFamily="34" charset="0"/>
                </a:rPr>
                <a:t>Martin Seligman</a:t>
              </a:r>
              <a:endParaRPr lang="en-US" altLang="zh-CN">
                <a:solidFill>
                  <a:schemeClr val="bg1"/>
                </a:solidFill>
                <a:latin typeface="Arial" panose="020B0604020202020204" pitchFamily="34" charset="0"/>
                <a:ea typeface="Arial" panose="020B0604020202020204" pitchFamily="34" charset="0"/>
              </a:endParaRPr>
            </a:p>
          </p:txBody>
        </p:sp>
      </p:grpSp>
      <p:grpSp>
        <p:nvGrpSpPr>
          <p:cNvPr id="1269780" name="组合 1269779"/>
          <p:cNvGrpSpPr/>
          <p:nvPr/>
        </p:nvGrpSpPr>
        <p:grpSpPr>
          <a:xfrm>
            <a:off x="3140075" y="838200"/>
            <a:ext cx="3260725" cy="5408613"/>
            <a:chOff x="1978" y="528"/>
            <a:chExt cx="2054" cy="3407"/>
          </a:xfrm>
        </p:grpSpPr>
        <p:sp>
          <p:nvSpPr>
            <p:cNvPr id="1269767" name="矩形 1269766"/>
            <p:cNvSpPr/>
            <p:nvPr/>
          </p:nvSpPr>
          <p:spPr>
            <a:xfrm>
              <a:off x="2250" y="3647"/>
              <a:ext cx="1196" cy="288"/>
            </a:xfrm>
            <a:prstGeom prst="rect">
              <a:avLst/>
            </a:prstGeom>
            <a:noFill/>
            <a:ln w="12700">
              <a:noFill/>
            </a:ln>
          </p:spPr>
          <p:txBody>
            <a:bodyPr wrap="none" anchor="t" anchorCtr="0">
              <a:spAutoFit/>
            </a:bodyPr>
            <a:p>
              <a:r>
                <a:rPr lang="en-US" altLang="zh-CN">
                  <a:solidFill>
                    <a:schemeClr val="bg1"/>
                  </a:solidFill>
                  <a:latin typeface="Arial" panose="020B0604020202020204" pitchFamily="34" charset="0"/>
                  <a:cs typeface="Arial" panose="020B0604020202020204" pitchFamily="34" charset="0"/>
                </a:rPr>
                <a:t>Ellen Langer</a:t>
              </a:r>
              <a:endParaRPr lang="en-US" altLang="zh-CN">
                <a:solidFill>
                  <a:schemeClr val="bg1"/>
                </a:solidFill>
                <a:latin typeface="Arial" panose="020B0604020202020204" pitchFamily="34" charset="0"/>
                <a:ea typeface="Arial" panose="020B0604020202020204" pitchFamily="34" charset="0"/>
              </a:endParaRPr>
            </a:p>
          </p:txBody>
        </p:sp>
        <p:pic>
          <p:nvPicPr>
            <p:cNvPr id="1269778" name="图片 1269777" descr="Langer"/>
            <p:cNvPicPr>
              <a:picLocks noChangeAspect="1"/>
            </p:cNvPicPr>
            <p:nvPr/>
          </p:nvPicPr>
          <p:blipFill>
            <a:blip r:embed="rId2"/>
            <a:srcRect l="7201" r="7201"/>
            <a:stretch>
              <a:fillRect/>
            </a:stretch>
          </p:blipFill>
          <p:spPr>
            <a:xfrm>
              <a:off x="1978" y="528"/>
              <a:ext cx="2054" cy="3072"/>
            </a:xfrm>
            <a:prstGeom prst="rect">
              <a:avLst/>
            </a:prstGeom>
            <a:noFill/>
            <a:ln w="9525">
              <a:noFill/>
            </a:ln>
          </p:spPr>
        </p:pic>
      </p:grpSp>
      <p:grpSp>
        <p:nvGrpSpPr>
          <p:cNvPr id="1269781" name="组合 1269780"/>
          <p:cNvGrpSpPr/>
          <p:nvPr/>
        </p:nvGrpSpPr>
        <p:grpSpPr>
          <a:xfrm>
            <a:off x="6248400" y="838200"/>
            <a:ext cx="3251200" cy="5408613"/>
            <a:chOff x="3888" y="528"/>
            <a:chExt cx="2048" cy="3407"/>
          </a:xfrm>
        </p:grpSpPr>
        <p:pic>
          <p:nvPicPr>
            <p:cNvPr id="1269763" name="图片 1269762"/>
            <p:cNvPicPr>
              <a:picLocks noChangeAspect="1"/>
            </p:cNvPicPr>
            <p:nvPr/>
          </p:nvPicPr>
          <p:blipFill>
            <a:blip r:embed="rId3"/>
            <a:srcRect l="12697"/>
            <a:stretch>
              <a:fillRect/>
            </a:stretch>
          </p:blipFill>
          <p:spPr>
            <a:xfrm>
              <a:off x="3888" y="528"/>
              <a:ext cx="2048" cy="3072"/>
            </a:xfrm>
            <a:prstGeom prst="rect">
              <a:avLst/>
            </a:prstGeom>
            <a:noFill/>
            <a:ln w="12700">
              <a:noFill/>
            </a:ln>
          </p:spPr>
        </p:pic>
        <p:sp>
          <p:nvSpPr>
            <p:cNvPr id="1269779" name="矩形 1269778"/>
            <p:cNvSpPr/>
            <p:nvPr/>
          </p:nvSpPr>
          <p:spPr>
            <a:xfrm>
              <a:off x="4365" y="3647"/>
              <a:ext cx="1142" cy="288"/>
            </a:xfrm>
            <a:prstGeom prst="rect">
              <a:avLst/>
            </a:prstGeom>
            <a:noFill/>
            <a:ln w="12700">
              <a:noFill/>
            </a:ln>
          </p:spPr>
          <p:txBody>
            <a:bodyPr wrap="none" anchor="t" anchorCtr="0">
              <a:spAutoFit/>
            </a:bodyPr>
            <a:p>
              <a:r>
                <a:rPr lang="en-US" altLang="zh-CN">
                  <a:solidFill>
                    <a:schemeClr val="bg1"/>
                  </a:solidFill>
                  <a:latin typeface="Arial" panose="020B0604020202020204" pitchFamily="34" charset="0"/>
                  <a:cs typeface="Arial" panose="020B0604020202020204" pitchFamily="34" charset="0"/>
                </a:rPr>
                <a:t>Philip Stone</a:t>
              </a:r>
              <a:endParaRPr lang="en-US" altLang="zh-CN">
                <a:solidFill>
                  <a:schemeClr val="bg1"/>
                </a:solidFill>
                <a:latin typeface="Arial" panose="020B0604020202020204" pitchFamily="34" charset="0"/>
                <a:ea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97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9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62599" name="图片 1262598" descr="spt36"/>
          <p:cNvPicPr>
            <a:picLocks noChangeAspect="1"/>
          </p:cNvPicPr>
          <p:nvPr/>
        </p:nvPicPr>
        <p:blipFill>
          <a:blip r:embed="rId1"/>
          <a:stretch>
            <a:fillRect/>
          </a:stretch>
        </p:blipFill>
        <p:spPr>
          <a:xfrm>
            <a:off x="0" y="-327025"/>
            <a:ext cx="9144000" cy="7794625"/>
          </a:xfrm>
          <a:prstGeom prst="rect">
            <a:avLst/>
          </a:prstGeom>
          <a:noFill/>
          <a:ln w="9525">
            <a:noFill/>
          </a:ln>
        </p:spPr>
      </p:pic>
      <p:sp>
        <p:nvSpPr>
          <p:cNvPr id="1262597" name="矩形 1262596"/>
          <p:cNvSpPr/>
          <p:nvPr/>
        </p:nvSpPr>
        <p:spPr>
          <a:xfrm>
            <a:off x="0" y="1524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Tahoma" panose="020B0604030504040204" pitchFamily="34" charset="0"/>
              </a:rPr>
              <a:t>Meet 1504</a:t>
            </a:r>
            <a:endParaRPr lang="en-US" altLang="zh-CN" sz="40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62597"/>
                                        </p:tgtEl>
                                        <p:attrNameLst>
                                          <p:attrName>style.visibility</p:attrName>
                                        </p:attrNameLst>
                                      </p:cBhvr>
                                      <p:to>
                                        <p:strVal val="visible"/>
                                      </p:to>
                                    </p:set>
                                    <p:anim calcmode="lin" valueType="num">
                                      <p:cBhvr>
                                        <p:cTn id="7" dur="1000" fill="hold"/>
                                        <p:tgtEl>
                                          <p:spTgt spid="1262597"/>
                                        </p:tgtEl>
                                        <p:attrNameLst>
                                          <p:attrName>ppt_x</p:attrName>
                                        </p:attrNameLst>
                                      </p:cBhvr>
                                      <p:tavLst>
                                        <p:tav tm="0">
                                          <p:val>
                                            <p:strVal val="#ppt_x-.2"/>
                                          </p:val>
                                        </p:tav>
                                        <p:tav tm="100000">
                                          <p:val>
                                            <p:strVal val="#ppt_x"/>
                                          </p:val>
                                        </p:tav>
                                      </p:tavLst>
                                    </p:anim>
                                    <p:anim calcmode="lin" valueType="num">
                                      <p:cBhvr>
                                        <p:cTn id="8" dur="1000" fill="hold"/>
                                        <p:tgtEl>
                                          <p:spTgt spid="1262597"/>
                                        </p:tgtEl>
                                        <p:attrNameLst>
                                          <p:attrName>ppt_y</p:attrName>
                                        </p:attrNameLst>
                                      </p:cBhvr>
                                      <p:tavLst>
                                        <p:tav tm="0">
                                          <p:val>
                                            <p:strVal val="#ppt_y"/>
                                          </p:val>
                                        </p:tav>
                                        <p:tav tm="100000">
                                          <p:val>
                                            <p:strVal val="#ppt_y"/>
                                          </p:val>
                                        </p:tav>
                                      </p:tavLst>
                                    </p:anim>
                                    <p:animEffect transition="in" filter="wipe(right)" prLst="gradientSize: 0.1">
                                      <p:cBhvr>
                                        <p:cTn id="9" dur="1000"/>
                                        <p:tgtEl>
                                          <p:spTgt spid="1262597"/>
                                        </p:tgtEl>
                                      </p:cBhvr>
                                    </p:animEffect>
                                  </p:childTnLst>
                                </p:cTn>
                              </p:par>
                            </p:childTnLst>
                          </p:cTn>
                        </p:par>
                        <p:par>
                          <p:cTn id="10" fill="hold">
                            <p:stCondLst>
                              <p:cond delay="1000"/>
                            </p:stCondLst>
                            <p:childTnLst>
                              <p:par>
                                <p:cTn id="11" presetID="1" presetClass="entr" presetSubtype="0" fill="hold" nodeType="afterEffect">
                                  <p:stCondLst>
                                    <p:cond delay="2000"/>
                                  </p:stCondLst>
                                  <p:childTnLst>
                                    <p:set>
                                      <p:cBhvr>
                                        <p:cTn id="12" dur="1" fill="hold">
                                          <p:stCondLst>
                                            <p:cond delay="0"/>
                                          </p:stCondLst>
                                        </p:cTn>
                                        <p:tgtEl>
                                          <p:spTgt spid="12625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259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04" name="矩形 1280003"/>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4000">
                <a:solidFill>
                  <a:schemeClr val="bg1"/>
                </a:solidFill>
                <a:latin typeface="Tahoma" panose="020B0604030504040204" pitchFamily="34" charset="0"/>
              </a:rPr>
              <a:t>It is not merely about information</a:t>
            </a:r>
            <a:endParaRPr lang="en-US" altLang="zh-CN" sz="4000">
              <a:solidFill>
                <a:schemeClr val="bg1"/>
              </a:solidFill>
              <a:latin typeface="Tahoma" panose="020B0604030504040204" pitchFamily="34" charset="0"/>
            </a:endParaRPr>
          </a:p>
        </p:txBody>
      </p:sp>
      <p:sp>
        <p:nvSpPr>
          <p:cNvPr id="1280005" name="矩形 1280004"/>
          <p:cNvSpPr/>
          <p:nvPr/>
        </p:nvSpPr>
        <p:spPr>
          <a:xfrm>
            <a:off x="0" y="838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4000">
                <a:solidFill>
                  <a:schemeClr val="bg1"/>
                </a:solidFill>
                <a:latin typeface="Tahoma" panose="020B0604030504040204" pitchFamily="34" charset="0"/>
              </a:rPr>
              <a:t>It is also about transformation</a:t>
            </a:r>
            <a:endParaRPr lang="en-US" altLang="zh-CN" sz="4000">
              <a:solidFill>
                <a:schemeClr val="bg1"/>
              </a:solidFill>
              <a:latin typeface="Tahoma" panose="020B0604030504040204" pitchFamily="34" charset="0"/>
            </a:endParaRPr>
          </a:p>
        </p:txBody>
      </p:sp>
      <p:sp>
        <p:nvSpPr>
          <p:cNvPr id="1280006" name="矩形 1280005"/>
          <p:cNvSpPr/>
          <p:nvPr/>
        </p:nvSpPr>
        <p:spPr>
          <a:xfrm>
            <a:off x="76200" y="2514600"/>
            <a:ext cx="89916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buChar char="•"/>
            </a:pPr>
            <a:r>
              <a:rPr lang="en-US" altLang="zh-CN" sz="3600">
                <a:solidFill>
                  <a:schemeClr val="bg1"/>
                </a:solidFill>
                <a:latin typeface="Tahoma" panose="020B0604030504040204" pitchFamily="34" charset="0"/>
              </a:rPr>
              <a:t> Covering less; uncovering more</a:t>
            </a:r>
            <a:endParaRPr lang="en-US" altLang="zh-CN" sz="36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00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0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05" grpId="0"/>
      <p:bldP spid="128000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68742" name="图片 1268741" descr="david"/>
          <p:cNvPicPr>
            <a:picLocks noChangeAspect="1"/>
          </p:cNvPicPr>
          <p:nvPr/>
        </p:nvPicPr>
        <p:blipFill>
          <a:blip r:embed="rId1"/>
          <a:stretch>
            <a:fillRect/>
          </a:stretch>
        </p:blipFill>
        <p:spPr>
          <a:xfrm>
            <a:off x="0" y="0"/>
            <a:ext cx="5143500" cy="6858000"/>
          </a:xfrm>
          <a:prstGeom prst="rect">
            <a:avLst/>
          </a:prstGeom>
          <a:noFill/>
          <a:ln w="9525">
            <a:noFill/>
          </a:ln>
        </p:spPr>
      </p:pic>
      <p:sp>
        <p:nvSpPr>
          <p:cNvPr id="1268743" name="文本框 1268742"/>
          <p:cNvSpPr txBox="1"/>
          <p:nvPr/>
        </p:nvSpPr>
        <p:spPr>
          <a:xfrm>
            <a:off x="5181600" y="3505200"/>
            <a:ext cx="4038600" cy="3262313"/>
          </a:xfrm>
          <a:prstGeom prst="rect">
            <a:avLst/>
          </a:prstGeom>
          <a:noFill/>
          <a:ln w="12700">
            <a:noFill/>
          </a:ln>
        </p:spPr>
        <p:txBody>
          <a:bodyPr>
            <a:spAutoFit/>
          </a:bodyPr>
          <a:p>
            <a:r>
              <a:rPr lang="en-US" altLang="zh-CN" sz="3000">
                <a:solidFill>
                  <a:srgbClr val="FFCC00"/>
                </a:solidFill>
                <a:latin typeface="Arial" panose="020B0604020202020204" pitchFamily="34" charset="0"/>
                <a:cs typeface="Arial" panose="020B0604020202020204" pitchFamily="34" charset="0"/>
              </a:rPr>
              <a:t>“In pursuit of knowledge, every day something is acquired; in pursuit of wisdom, every day something is dropped.”</a:t>
            </a:r>
            <a:endParaRPr lang="en-US" altLang="zh-CN" sz="3000">
              <a:solidFill>
                <a:srgbClr val="FFCC00"/>
              </a:solidFill>
              <a:latin typeface="Arial" panose="020B0604020202020204" pitchFamily="34" charset="0"/>
              <a:cs typeface="Arial" panose="020B0604020202020204" pitchFamily="34" charset="0"/>
            </a:endParaRPr>
          </a:p>
          <a:p>
            <a:r>
              <a:rPr lang="en-US" altLang="zh-CN" sz="2800">
                <a:solidFill>
                  <a:srgbClr val="FFCC00"/>
                </a:solidFill>
                <a:latin typeface="Arial" panose="020B0604020202020204" pitchFamily="34" charset="0"/>
                <a:cs typeface="Arial" panose="020B0604020202020204" pitchFamily="34" charset="0"/>
              </a:rPr>
              <a:t>		Lao Tzu</a:t>
            </a:r>
            <a:endParaRPr lang="en-US" altLang="zh-CN" sz="2800">
              <a:solidFill>
                <a:srgbClr val="FFCC00"/>
              </a:solidFill>
              <a:latin typeface="Arial" panose="020B0604020202020204" pitchFamily="34" charset="0"/>
              <a:ea typeface="Arial" panose="020B0604020202020204" pitchFamily="34" charset="0"/>
            </a:endParaRPr>
          </a:p>
        </p:txBody>
      </p:sp>
      <p:sp>
        <p:nvSpPr>
          <p:cNvPr id="1268744" name="文本框 1268743"/>
          <p:cNvSpPr txBox="1"/>
          <p:nvPr/>
        </p:nvSpPr>
        <p:spPr>
          <a:xfrm>
            <a:off x="5241925" y="685800"/>
            <a:ext cx="3902075" cy="1890713"/>
          </a:xfrm>
          <a:prstGeom prst="rect">
            <a:avLst/>
          </a:prstGeom>
          <a:noFill/>
          <a:ln w="12700">
            <a:noFill/>
          </a:ln>
        </p:spPr>
        <p:txBody>
          <a:bodyPr>
            <a:spAutoFit/>
          </a:bodyPr>
          <a:p>
            <a:r>
              <a:rPr lang="en-US" altLang="zh-CN" sz="3000">
                <a:solidFill>
                  <a:schemeClr val="bg1"/>
                </a:solidFill>
                <a:latin typeface="Arial" panose="020B0604020202020204" pitchFamily="34" charset="0"/>
                <a:cs typeface="Arial" panose="020B0604020202020204" pitchFamily="34" charset="0"/>
              </a:rPr>
              <a:t>“The soul grows by subtraction, not addition.”</a:t>
            </a:r>
            <a:endParaRPr lang="en-US" altLang="zh-CN" sz="3000">
              <a:solidFill>
                <a:schemeClr val="bg1"/>
              </a:solidFill>
              <a:latin typeface="Arial" panose="020B0604020202020204" pitchFamily="34" charset="0"/>
              <a:cs typeface="Arial" panose="020B0604020202020204" pitchFamily="34" charset="0"/>
            </a:endParaRPr>
          </a:p>
          <a:p>
            <a:r>
              <a:rPr lang="en-US" altLang="zh-CN" sz="2800">
                <a:solidFill>
                  <a:schemeClr val="bg1"/>
                </a:solidFill>
                <a:latin typeface="Arial" panose="020B0604020202020204" pitchFamily="34" charset="0"/>
                <a:cs typeface="Arial" panose="020B0604020202020204" pitchFamily="34" charset="0"/>
              </a:rPr>
              <a:t>		Thoreau</a:t>
            </a:r>
            <a:endParaRPr lang="en-US" altLang="zh-CN" sz="28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87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87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8743" grpId="0"/>
      <p:bldP spid="12687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1026" name="矩形 1281025"/>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Information is not enough</a:t>
            </a:r>
            <a:endParaRPr lang="en-US" altLang="zh-CN" sz="4000">
              <a:solidFill>
                <a:schemeClr val="bg1"/>
              </a:solidFill>
              <a:latin typeface="Arial" panose="020B0604020202020204" pitchFamily="34" charset="0"/>
              <a:ea typeface="Arial" panose="020B0604020202020204" pitchFamily="34" charset="0"/>
            </a:endParaRPr>
          </a:p>
        </p:txBody>
      </p:sp>
      <p:sp>
        <p:nvSpPr>
          <p:cNvPr id="1281027" name="矩形 1281026"/>
          <p:cNvSpPr/>
          <p:nvPr/>
        </p:nvSpPr>
        <p:spPr>
          <a:xfrm>
            <a:off x="0" y="1295400"/>
            <a:ext cx="9144000" cy="23622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2800">
                <a:solidFill>
                  <a:srgbClr val="FFCC00"/>
                </a:solidFill>
                <a:latin typeface="Arial" panose="020B0604020202020204" pitchFamily="34" charset="0"/>
                <a:cs typeface="Arial" panose="020B0604020202020204" pitchFamily="34" charset="0"/>
              </a:rPr>
              <a:t>“What is wrong is not the great discoveries of science</a:t>
            </a:r>
            <a:r>
              <a:rPr lang="en-US" altLang="zh-CN" sz="2800">
                <a:solidFill>
                  <a:srgbClr val="FFCC00"/>
                </a:solidFill>
                <a:latin typeface="Arial" panose="020B0604020202020204" pitchFamily="34" charset="0"/>
                <a:ea typeface="Arial" panose="020B0604020202020204" pitchFamily="34" charset="0"/>
              </a:rPr>
              <a:t>—</a:t>
            </a:r>
            <a:r>
              <a:rPr lang="en-US" altLang="zh-CN" sz="2800">
                <a:solidFill>
                  <a:srgbClr val="FFCC00"/>
                </a:solidFill>
                <a:latin typeface="Arial" panose="020B0604020202020204" pitchFamily="34" charset="0"/>
                <a:cs typeface="Arial" panose="020B0604020202020204" pitchFamily="34" charset="0"/>
              </a:rPr>
              <a:t>information is always better than ignorance, no matter what information or what ignorance.  What is wrong is the belief behind the information, the belief that information will change the world.  It won’t.”</a:t>
            </a:r>
            <a:br>
              <a:rPr lang="en-US" altLang="zh-CN" sz="2800">
                <a:solidFill>
                  <a:srgbClr val="FFCC00"/>
                </a:solidFill>
                <a:latin typeface="Arial" panose="020B0604020202020204" pitchFamily="34" charset="0"/>
                <a:cs typeface="Arial" panose="020B0604020202020204" pitchFamily="34" charset="0"/>
              </a:rPr>
            </a:br>
            <a:br>
              <a:rPr lang="en-US" altLang="zh-CN" sz="800">
                <a:solidFill>
                  <a:srgbClr val="FFCC00"/>
                </a:solidFill>
                <a:latin typeface="Arial" panose="020B0604020202020204" pitchFamily="34" charset="0"/>
                <a:cs typeface="Arial" panose="020B0604020202020204" pitchFamily="34" charset="0"/>
              </a:rPr>
            </a:br>
            <a:r>
              <a:rPr lang="en-US" altLang="zh-CN" sz="2800">
                <a:solidFill>
                  <a:srgbClr val="FFCC00"/>
                </a:solidFill>
                <a:latin typeface="Arial" panose="020B0604020202020204" pitchFamily="34" charset="0"/>
                <a:cs typeface="Arial" panose="020B0604020202020204" pitchFamily="34" charset="0"/>
              </a:rPr>
              <a:t>						</a:t>
            </a:r>
            <a:r>
              <a:rPr lang="en-US" altLang="zh-CN" sz="2400">
                <a:solidFill>
                  <a:srgbClr val="FFCC00"/>
                </a:solidFill>
                <a:latin typeface="Arial" panose="020B0604020202020204" pitchFamily="34" charset="0"/>
                <a:cs typeface="Arial" panose="020B0604020202020204" pitchFamily="34" charset="0"/>
              </a:rPr>
              <a:t>Archibald </a:t>
            </a:r>
            <a:r>
              <a:rPr lang="en-US" altLang="zh-CN" sz="2400" err="1">
                <a:solidFill>
                  <a:srgbClr val="FFCC00"/>
                </a:solidFill>
                <a:latin typeface="Arial" panose="020B0604020202020204" pitchFamily="34" charset="0"/>
                <a:cs typeface="Arial" panose="020B0604020202020204" pitchFamily="34" charset="0"/>
              </a:rPr>
              <a:t>MaCleish</a:t>
            </a:r>
            <a:endParaRPr lang="en-US" altLang="zh-CN" sz="24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10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2050" name="矩形 1282049"/>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Information is not enough</a:t>
            </a:r>
            <a:endParaRPr lang="en-US" altLang="zh-CN" sz="4000">
              <a:solidFill>
                <a:schemeClr val="bg1"/>
              </a:solidFill>
              <a:latin typeface="Arial" panose="020B0604020202020204" pitchFamily="34" charset="0"/>
              <a:ea typeface="Arial" panose="020B0604020202020204" pitchFamily="34" charset="0"/>
            </a:endParaRPr>
          </a:p>
        </p:txBody>
      </p:sp>
      <p:sp>
        <p:nvSpPr>
          <p:cNvPr id="1282052" name="矩形 1282051"/>
          <p:cNvSpPr/>
          <p:nvPr/>
        </p:nvSpPr>
        <p:spPr>
          <a:xfrm>
            <a:off x="0" y="1371600"/>
            <a:ext cx="9144000" cy="42672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2800">
                <a:solidFill>
                  <a:srgbClr val="FFCC00"/>
                </a:solidFill>
                <a:latin typeface="Arial" panose="020B0604020202020204" pitchFamily="34" charset="0"/>
                <a:cs typeface="Arial" panose="020B0604020202020204" pitchFamily="34" charset="0"/>
              </a:rPr>
              <a:t>“Humanistic philosophy [offers] a new conception of learning, of teaching, and of education.  Stated simply, such a concept holds that the function of education, the goal of education</a:t>
            </a:r>
            <a:r>
              <a:rPr lang="en-US" altLang="zh-CN" sz="2800">
                <a:solidFill>
                  <a:srgbClr val="FFCC00"/>
                </a:solidFill>
                <a:latin typeface="Arial" panose="020B0604020202020204" pitchFamily="34" charset="0"/>
                <a:ea typeface="Arial" panose="020B0604020202020204" pitchFamily="34" charset="0"/>
              </a:rPr>
              <a:t>—</a:t>
            </a:r>
            <a:r>
              <a:rPr lang="en-US" altLang="zh-CN" sz="2800">
                <a:solidFill>
                  <a:srgbClr val="FFCC00"/>
                </a:solidFill>
                <a:latin typeface="Arial" panose="020B0604020202020204" pitchFamily="34" charset="0"/>
                <a:cs typeface="Arial" panose="020B0604020202020204" pitchFamily="34" charset="0"/>
              </a:rPr>
              <a:t>the human goal, the humanistic goal, the goal so far as human beings are concerned</a:t>
            </a:r>
            <a:r>
              <a:rPr lang="en-US" altLang="zh-CN" sz="2800">
                <a:solidFill>
                  <a:srgbClr val="FFCC00"/>
                </a:solidFill>
                <a:latin typeface="Arial" panose="020B0604020202020204" pitchFamily="34" charset="0"/>
                <a:ea typeface="Arial" panose="020B0604020202020204" pitchFamily="34" charset="0"/>
              </a:rPr>
              <a:t>—</a:t>
            </a:r>
            <a:r>
              <a:rPr lang="en-US" altLang="zh-CN" sz="2800">
                <a:solidFill>
                  <a:srgbClr val="FFCC00"/>
                </a:solidFill>
                <a:latin typeface="Arial" panose="020B0604020202020204" pitchFamily="34" charset="0"/>
                <a:cs typeface="Arial" panose="020B0604020202020204" pitchFamily="34" charset="0"/>
              </a:rPr>
              <a:t>is ultimately the ‘self-actualization’ of a person, the becoming fully human, the development of the fullest height that the human species can stand up to or that the particular individual can come to.  In a less technical way, it is helping the person to become the best that he is able to become.”						</a:t>
            </a:r>
            <a:br>
              <a:rPr lang="en-US" altLang="zh-CN" sz="2400">
                <a:solidFill>
                  <a:srgbClr val="FFCC00"/>
                </a:solidFill>
                <a:latin typeface="Arial" panose="020B0604020202020204" pitchFamily="34" charset="0"/>
                <a:cs typeface="Arial" panose="020B0604020202020204" pitchFamily="34" charset="0"/>
              </a:rPr>
            </a:br>
            <a:r>
              <a:rPr lang="en-US" altLang="zh-CN" sz="2400">
                <a:solidFill>
                  <a:srgbClr val="FFCC00"/>
                </a:solidFill>
                <a:latin typeface="Arial" panose="020B0604020202020204" pitchFamily="34" charset="0"/>
                <a:cs typeface="Arial" panose="020B0604020202020204" pitchFamily="34" charset="0"/>
              </a:rPr>
              <a:t>						     Abraham </a:t>
            </a:r>
            <a:r>
              <a:rPr lang="en-US" altLang="zh-CN" sz="2400" err="1">
                <a:solidFill>
                  <a:srgbClr val="FFCC00"/>
                </a:solidFill>
                <a:latin typeface="Arial" panose="020B0604020202020204" pitchFamily="34" charset="0"/>
                <a:cs typeface="Arial" panose="020B0604020202020204" pitchFamily="34" charset="0"/>
              </a:rPr>
              <a:t>Maslow</a:t>
            </a:r>
            <a:endParaRPr lang="en-US" altLang="zh-CN" sz="2400">
              <a:solidFill>
                <a:srgbClr val="FFCC00"/>
              </a:solidFill>
              <a:latin typeface="Arial" panose="020B0604020202020204" pitchFamily="34" charset="0"/>
              <a:ea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4098" name="矩形 1284097"/>
          <p:cNvSpPr/>
          <p:nvPr/>
        </p:nvSpPr>
        <p:spPr>
          <a:xfrm>
            <a:off x="0" y="3048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600">
                <a:solidFill>
                  <a:schemeClr val="bg1"/>
                </a:solidFill>
                <a:latin typeface="Tahoma" panose="020B0604030504040204" pitchFamily="34" charset="0"/>
              </a:rPr>
              <a:t>It is not about providing definitive answers concerning the good life</a:t>
            </a:r>
            <a:endParaRPr lang="en-US" altLang="zh-CN" sz="3600">
              <a:solidFill>
                <a:schemeClr val="bg1"/>
              </a:solidFill>
              <a:latin typeface="Tahoma" panose="020B0604030504040204" pitchFamily="34" charset="0"/>
            </a:endParaRPr>
          </a:p>
        </p:txBody>
      </p:sp>
      <p:sp>
        <p:nvSpPr>
          <p:cNvPr id="1284099" name="矩形 1284098"/>
          <p:cNvSpPr/>
          <p:nvPr/>
        </p:nvSpPr>
        <p:spPr>
          <a:xfrm>
            <a:off x="0" y="13716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600">
                <a:solidFill>
                  <a:schemeClr val="bg1"/>
                </a:solidFill>
                <a:latin typeface="Tahoma" panose="020B0604030504040204" pitchFamily="34" charset="0"/>
              </a:rPr>
              <a:t>It is about identifying the right questions</a:t>
            </a:r>
            <a:endParaRPr lang="en-US" altLang="zh-CN" sz="3600">
              <a:solidFill>
                <a:schemeClr val="bg1"/>
              </a:solidFill>
              <a:latin typeface="Tahoma" panose="020B0604030504040204" pitchFamily="34" charset="0"/>
            </a:endParaRPr>
          </a:p>
        </p:txBody>
      </p:sp>
      <p:sp>
        <p:nvSpPr>
          <p:cNvPr id="1284100" name="矩形 1284099"/>
          <p:cNvSpPr/>
          <p:nvPr/>
        </p:nvSpPr>
        <p:spPr>
          <a:xfrm>
            <a:off x="152400" y="4800600"/>
            <a:ext cx="8991600" cy="19050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200">
                <a:solidFill>
                  <a:schemeClr val="bg1"/>
                </a:solidFill>
                <a:latin typeface="Arial" panose="020B0604020202020204" pitchFamily="34" charset="0"/>
                <a:cs typeface="Arial" panose="020B0604020202020204" pitchFamily="34" charset="0"/>
              </a:rPr>
              <a:t>“Children enter school as question marks and leave as periods.”												</a:t>
            </a:r>
            <a:r>
              <a:rPr lang="en-US" altLang="zh-CN" sz="2800">
                <a:solidFill>
                  <a:schemeClr val="bg1"/>
                </a:solidFill>
                <a:latin typeface="Arial" panose="020B0604020202020204" pitchFamily="34" charset="0"/>
                <a:cs typeface="Arial" panose="020B0604020202020204" pitchFamily="34" charset="0"/>
              </a:rPr>
              <a:t>Neil Postman</a:t>
            </a:r>
            <a:br>
              <a:rPr lang="en-US" altLang="zh-CN" sz="3200">
                <a:solidFill>
                  <a:schemeClr val="bg1"/>
                </a:solidFill>
                <a:latin typeface="Arial" panose="020B0604020202020204" pitchFamily="34" charset="0"/>
                <a:cs typeface="Arial" panose="020B0604020202020204" pitchFamily="34" charset="0"/>
              </a:rPr>
            </a:br>
            <a:endParaRPr lang="en-US" altLang="zh-CN" sz="3200">
              <a:solidFill>
                <a:schemeClr val="bg1"/>
              </a:solidFill>
              <a:latin typeface="Arial" panose="020B0604020202020204" pitchFamily="34" charset="0"/>
              <a:ea typeface="Arial" panose="020B0604020202020204" pitchFamily="34" charset="0"/>
            </a:endParaRPr>
          </a:p>
        </p:txBody>
      </p:sp>
      <p:sp>
        <p:nvSpPr>
          <p:cNvPr id="1284102" name="矩形 1284101"/>
          <p:cNvSpPr/>
          <p:nvPr/>
        </p:nvSpPr>
        <p:spPr>
          <a:xfrm>
            <a:off x="152400" y="2362200"/>
            <a:ext cx="8839200" cy="20574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200">
                <a:solidFill>
                  <a:srgbClr val="FFCC00"/>
                </a:solidFill>
                <a:latin typeface="Arial" panose="020B0604020202020204" pitchFamily="34" charset="0"/>
                <a:cs typeface="Arial" panose="020B0604020202020204" pitchFamily="34" charset="0"/>
              </a:rPr>
              <a:t>Education is the </a:t>
            </a:r>
            <a:r>
              <a:rPr lang="en-US" altLang="zh-CN" sz="3200" i="1">
                <a:solidFill>
                  <a:srgbClr val="FFCC00"/>
                </a:solidFill>
                <a:latin typeface="Arial" panose="020B0604020202020204" pitchFamily="34" charset="0"/>
                <a:cs typeface="Arial" panose="020B0604020202020204" pitchFamily="34" charset="0"/>
              </a:rPr>
              <a:t>quest</a:t>
            </a:r>
            <a:r>
              <a:rPr lang="en-US" altLang="zh-CN" sz="3200">
                <a:solidFill>
                  <a:srgbClr val="FFCC00"/>
                </a:solidFill>
                <a:latin typeface="Arial" panose="020B0604020202020204" pitchFamily="34" charset="0"/>
                <a:cs typeface="Arial" panose="020B0604020202020204" pitchFamily="34" charset="0"/>
              </a:rPr>
              <a:t> for information and transformation, and therefore must begin with a </a:t>
            </a:r>
            <a:r>
              <a:rPr lang="en-US" altLang="zh-CN" sz="3200" i="1">
                <a:solidFill>
                  <a:srgbClr val="FFCC00"/>
                </a:solidFill>
                <a:latin typeface="Arial" panose="020B0604020202020204" pitchFamily="34" charset="0"/>
                <a:cs typeface="Arial" panose="020B0604020202020204" pitchFamily="34" charset="0"/>
              </a:rPr>
              <a:t>question</a:t>
            </a:r>
            <a:r>
              <a:rPr lang="en-US" altLang="zh-CN" sz="3200">
                <a:solidFill>
                  <a:srgbClr val="FFCC00"/>
                </a:solidFill>
                <a:latin typeface="Arial" panose="020B0604020202020204" pitchFamily="34" charset="0"/>
                <a:cs typeface="Arial" panose="020B0604020202020204" pitchFamily="34" charset="0"/>
              </a:rPr>
              <a:t>.</a:t>
            </a:r>
            <a:endParaRPr lang="en-US" altLang="zh-CN" sz="32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4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84100">
                                            <p:txEl>
                                              <p:charRg st="0" end="8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4099" grpId="0"/>
      <p:bldP spid="1284100" grpId="0" build="p"/>
      <p:bldP spid="128410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67046" name="Seinfeld-Halloween.mpg">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a:stretch>
            <a:fillRect/>
          </a:stretch>
        </p:blipFill>
        <p:spPr>
          <a:xfrm>
            <a:off x="-457200" y="0"/>
            <a:ext cx="10058400" cy="685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947" fill="hold"/>
                                        <p:tgtEl>
                                          <p:spTgt spid="136704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367046"/>
                </p:tgtEl>
              </p:cMediaNode>
            </p:video>
            <p:seq concurrent="1" nextAc="seek">
              <p:cTn id="8" restart="whenNotActive" fill="hold" evtFilter="cancelBubble" nodeType="interactiveSeq">
                <p:stCondLst>
                  <p:cond evt="onClick" delay="0">
                    <p:tgtEl>
                      <p:spTgt spid="136704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67046"/>
                                        </p:tgtEl>
                                      </p:cBhvr>
                                    </p:cmd>
                                  </p:childTnLst>
                                </p:cTn>
                              </p:par>
                            </p:childTnLst>
                          </p:cTn>
                        </p:par>
                      </p:childTnLst>
                    </p:cTn>
                  </p:par>
                </p:childTnLst>
              </p:cTn>
              <p:nextCondLst>
                <p:cond evt="onClick" delay="0">
                  <p:tgtEl>
                    <p:spTgt spid="136704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9093" name="矩形 1369092"/>
          <p:cNvSpPr/>
          <p:nvPr/>
        </p:nvSpPr>
        <p:spPr>
          <a:xfrm>
            <a:off x="152400" y="76200"/>
            <a:ext cx="8839200" cy="20574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200">
                <a:solidFill>
                  <a:schemeClr val="bg1"/>
                </a:solidFill>
                <a:latin typeface="Arial" panose="020B0604020202020204" pitchFamily="34" charset="0"/>
                <a:cs typeface="Arial" panose="020B0604020202020204" pitchFamily="34" charset="0"/>
              </a:rPr>
              <a:t>“The one real object of education is to leave a man in the condition of continually asking questions.”													</a:t>
            </a:r>
            <a:r>
              <a:rPr lang="en-US" altLang="zh-CN" sz="2800">
                <a:solidFill>
                  <a:schemeClr val="bg1"/>
                </a:solidFill>
                <a:latin typeface="Arial" panose="020B0604020202020204" pitchFamily="34" charset="0"/>
                <a:cs typeface="Arial" panose="020B0604020202020204" pitchFamily="34" charset="0"/>
              </a:rPr>
              <a:t>Bishop Creighton</a:t>
            </a:r>
            <a:endParaRPr lang="en-US" altLang="zh-CN" sz="3200">
              <a:solidFill>
                <a:schemeClr val="bg1"/>
              </a:solidFill>
              <a:latin typeface="Arial" panose="020B0604020202020204" pitchFamily="34" charset="0"/>
              <a:ea typeface="Arial" panose="020B0604020202020204" pitchFamily="34" charset="0"/>
            </a:endParaRPr>
          </a:p>
        </p:txBody>
      </p:sp>
      <p:pic>
        <p:nvPicPr>
          <p:cNvPr id="1369094" name="图片 1369093" descr="help"/>
          <p:cNvPicPr>
            <a:picLocks noChangeAspect="1"/>
          </p:cNvPicPr>
          <p:nvPr/>
        </p:nvPicPr>
        <p:blipFill>
          <a:blip r:embed="rId1"/>
          <a:srcRect t="3871" r="8276" b="3871"/>
          <a:stretch>
            <a:fillRect/>
          </a:stretch>
        </p:blipFill>
        <p:spPr>
          <a:xfrm>
            <a:off x="4724400" y="2133600"/>
            <a:ext cx="4419600" cy="4749800"/>
          </a:xfrm>
          <a:prstGeom prst="rect">
            <a:avLst/>
          </a:prstGeom>
          <a:noFill/>
          <a:ln w="9525">
            <a:noFill/>
          </a:ln>
        </p:spPr>
      </p:pic>
      <p:pic>
        <p:nvPicPr>
          <p:cNvPr id="1369095" name="图片 1369094" descr="riddler"/>
          <p:cNvPicPr>
            <a:picLocks noChangeAspect="1"/>
          </p:cNvPicPr>
          <p:nvPr/>
        </p:nvPicPr>
        <p:blipFill>
          <a:blip r:embed="rId2"/>
          <a:srcRect t="10786"/>
          <a:stretch>
            <a:fillRect/>
          </a:stretch>
        </p:blipFill>
        <p:spPr>
          <a:xfrm>
            <a:off x="0" y="2111375"/>
            <a:ext cx="4740275" cy="611822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5122" name="矩形 1285121"/>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The Question of Questions</a:t>
            </a:r>
            <a:endParaRPr lang="en-US" altLang="zh-CN" sz="4000">
              <a:solidFill>
                <a:schemeClr val="bg1"/>
              </a:solidFill>
              <a:latin typeface="Arial" panose="020B0604020202020204" pitchFamily="34" charset="0"/>
              <a:ea typeface="Arial" panose="020B0604020202020204" pitchFamily="34" charset="0"/>
            </a:endParaRPr>
          </a:p>
        </p:txBody>
      </p:sp>
      <p:sp>
        <p:nvSpPr>
          <p:cNvPr id="1285123" name="矩形 1285122"/>
          <p:cNvSpPr/>
          <p:nvPr/>
        </p:nvSpPr>
        <p:spPr>
          <a:xfrm>
            <a:off x="152400" y="1295400"/>
            <a:ext cx="8839200" cy="20574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600">
                <a:solidFill>
                  <a:schemeClr val="bg1"/>
                </a:solidFill>
                <a:latin typeface="Arial" panose="020B0604020202020204" pitchFamily="34" charset="0"/>
                <a:cs typeface="Arial" panose="020B0604020202020204" pitchFamily="34" charset="0"/>
              </a:rPr>
              <a:t>How can we help ourselves and others</a:t>
            </a:r>
            <a:r>
              <a:rPr lang="en-US" altLang="zh-CN" sz="3600">
                <a:solidFill>
                  <a:schemeClr val="bg1"/>
                </a:solidFill>
                <a:latin typeface="Arial" panose="020B0604020202020204" pitchFamily="34" charset="0"/>
                <a:ea typeface="Arial" panose="020B0604020202020204" pitchFamily="34" charset="0"/>
              </a:rPr>
              <a:t>—</a:t>
            </a:r>
            <a:r>
              <a:rPr lang="en-US" altLang="zh-CN" sz="3600">
                <a:solidFill>
                  <a:schemeClr val="bg1"/>
                </a:solidFill>
                <a:latin typeface="Arial" panose="020B0604020202020204" pitchFamily="34" charset="0"/>
                <a:cs typeface="Arial" panose="020B0604020202020204" pitchFamily="34" charset="0"/>
              </a:rPr>
              <a:t>individuals, communities, and society</a:t>
            </a:r>
            <a:r>
              <a:rPr lang="en-US" altLang="zh-CN" sz="3600">
                <a:solidFill>
                  <a:schemeClr val="bg1"/>
                </a:solidFill>
                <a:latin typeface="Arial" panose="020B0604020202020204" pitchFamily="34" charset="0"/>
                <a:ea typeface="Arial" panose="020B0604020202020204" pitchFamily="34" charset="0"/>
              </a:rPr>
              <a:t>—</a:t>
            </a:r>
            <a:r>
              <a:rPr lang="en-US" altLang="zh-CN" sz="3600">
                <a:solidFill>
                  <a:schemeClr val="bg1"/>
                </a:solidFill>
                <a:latin typeface="Arial" panose="020B0604020202020204" pitchFamily="34" charset="0"/>
                <a:cs typeface="Arial" panose="020B0604020202020204" pitchFamily="34" charset="0"/>
              </a:rPr>
              <a:t>become happier? </a:t>
            </a:r>
            <a:endParaRPr lang="en-US" altLang="zh-CN" sz="36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51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6146" name="矩形 1286145"/>
          <p:cNvSpPr/>
          <p:nvPr/>
        </p:nvSpPr>
        <p:spPr>
          <a:xfrm>
            <a:off x="76200" y="304800"/>
            <a:ext cx="90678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600">
                <a:solidFill>
                  <a:schemeClr val="bg1"/>
                </a:solidFill>
                <a:latin typeface="Arial" panose="020B0604020202020204" pitchFamily="34" charset="0"/>
                <a:cs typeface="Arial" panose="020B0604020202020204" pitchFamily="34" charset="0"/>
              </a:rPr>
              <a:t>It is not a survey of positive psychology</a:t>
            </a:r>
            <a:endParaRPr lang="en-US" altLang="zh-CN" sz="3600">
              <a:solidFill>
                <a:schemeClr val="bg1"/>
              </a:solidFill>
              <a:latin typeface="Arial" panose="020B0604020202020204" pitchFamily="34" charset="0"/>
              <a:ea typeface="Arial" panose="020B0604020202020204" pitchFamily="34" charset="0"/>
            </a:endParaRPr>
          </a:p>
        </p:txBody>
      </p:sp>
      <p:sp>
        <p:nvSpPr>
          <p:cNvPr id="1286147" name="矩形 1286146"/>
          <p:cNvSpPr/>
          <p:nvPr/>
        </p:nvSpPr>
        <p:spPr>
          <a:xfrm>
            <a:off x="76200" y="1371600"/>
            <a:ext cx="89916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600">
                <a:solidFill>
                  <a:schemeClr val="bg1"/>
                </a:solidFill>
                <a:latin typeface="Arial" panose="020B0604020202020204" pitchFamily="34" charset="0"/>
                <a:cs typeface="Arial" panose="020B0604020202020204" pitchFamily="34" charset="0"/>
              </a:rPr>
              <a:t>It is a selective exploration of the ‘question of questions.’</a:t>
            </a:r>
            <a:endParaRPr lang="en-US" altLang="zh-CN" sz="3600">
              <a:solidFill>
                <a:schemeClr val="bg1"/>
              </a:solidFill>
              <a:latin typeface="Arial" panose="020B0604020202020204" pitchFamily="34" charset="0"/>
              <a:ea typeface="Arial" panose="020B0604020202020204" pitchFamily="34" charset="0"/>
            </a:endParaRPr>
          </a:p>
        </p:txBody>
      </p:sp>
      <p:sp>
        <p:nvSpPr>
          <p:cNvPr id="1286150" name="矩形 1286149"/>
          <p:cNvSpPr/>
          <p:nvPr/>
        </p:nvSpPr>
        <p:spPr>
          <a:xfrm>
            <a:off x="76200" y="2667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 Cross cultural psychology</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Eclectic</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Studying others and ourselves</a:t>
            </a:r>
            <a:endParaRPr lang="en-US" altLang="zh-CN" sz="35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286150">
                                            <p:txEl>
                                              <p:charRg st="0" end="27"/>
                                            </p:txEl>
                                          </p:spTgt>
                                        </p:tgtEl>
                                        <p:attrNameLst>
                                          <p:attrName>style.visibility</p:attrName>
                                        </p:attrNameLst>
                                      </p:cBhvr>
                                      <p:to>
                                        <p:strVal val="visible"/>
                                      </p:to>
                                    </p:set>
                                    <p:animEffect transition="in" filter="fade">
                                      <p:cBhvr>
                                        <p:cTn id="11" dur="1000"/>
                                        <p:tgtEl>
                                          <p:spTgt spid="1286150">
                                            <p:txEl>
                                              <p:charRg st="0" end="27"/>
                                            </p:txEl>
                                          </p:spTgt>
                                        </p:tgtEl>
                                      </p:cBhvr>
                                    </p:animEffect>
                                    <p:anim calcmode="lin" valueType="num">
                                      <p:cBhvr>
                                        <p:cTn id="12" dur="1000" fill="hold"/>
                                        <p:tgtEl>
                                          <p:spTgt spid="1286150">
                                            <p:txEl>
                                              <p:charRg st="0" end="27"/>
                                            </p:txEl>
                                          </p:spTgt>
                                        </p:tgtEl>
                                        <p:attrNameLst>
                                          <p:attrName>ppt_x</p:attrName>
                                        </p:attrNameLst>
                                      </p:cBhvr>
                                      <p:tavLst>
                                        <p:tav tm="0">
                                          <p:val>
                                            <p:strVal val="#ppt_x"/>
                                          </p:val>
                                        </p:tav>
                                        <p:tav tm="100000">
                                          <p:val>
                                            <p:strVal val="#ppt_x"/>
                                          </p:val>
                                        </p:tav>
                                      </p:tavLst>
                                    </p:anim>
                                    <p:anim calcmode="lin" valueType="num">
                                      <p:cBhvr>
                                        <p:cTn id="13" dur="1000" fill="hold"/>
                                        <p:tgtEl>
                                          <p:spTgt spid="1286150">
                                            <p:txEl>
                                              <p:charRg st="0" end="27"/>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86150">
                                            <p:txEl>
                                              <p:charRg st="27" end="37"/>
                                            </p:txEl>
                                          </p:spTgt>
                                        </p:tgtEl>
                                        <p:attrNameLst>
                                          <p:attrName>style.visibility</p:attrName>
                                        </p:attrNameLst>
                                      </p:cBhvr>
                                      <p:to>
                                        <p:strVal val="visible"/>
                                      </p:to>
                                    </p:set>
                                    <p:animEffect transition="in" filter="fade">
                                      <p:cBhvr>
                                        <p:cTn id="18" dur="1000"/>
                                        <p:tgtEl>
                                          <p:spTgt spid="1286150">
                                            <p:txEl>
                                              <p:charRg st="27" end="37"/>
                                            </p:txEl>
                                          </p:spTgt>
                                        </p:tgtEl>
                                      </p:cBhvr>
                                    </p:animEffect>
                                    <p:anim calcmode="lin" valueType="num">
                                      <p:cBhvr>
                                        <p:cTn id="19" dur="1000" fill="hold"/>
                                        <p:tgtEl>
                                          <p:spTgt spid="1286150">
                                            <p:txEl>
                                              <p:charRg st="27" end="37"/>
                                            </p:txEl>
                                          </p:spTgt>
                                        </p:tgtEl>
                                        <p:attrNameLst>
                                          <p:attrName>ppt_x</p:attrName>
                                        </p:attrNameLst>
                                      </p:cBhvr>
                                      <p:tavLst>
                                        <p:tav tm="0">
                                          <p:val>
                                            <p:strVal val="#ppt_x"/>
                                          </p:val>
                                        </p:tav>
                                        <p:tav tm="100000">
                                          <p:val>
                                            <p:strVal val="#ppt_x"/>
                                          </p:val>
                                        </p:tav>
                                      </p:tavLst>
                                    </p:anim>
                                    <p:anim calcmode="lin" valueType="num">
                                      <p:cBhvr>
                                        <p:cTn id="20" dur="1000" fill="hold"/>
                                        <p:tgtEl>
                                          <p:spTgt spid="1286150">
                                            <p:txEl>
                                              <p:charRg st="27" end="37"/>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286150">
                                            <p:txEl>
                                              <p:charRg st="37" end="68"/>
                                            </p:txEl>
                                          </p:spTgt>
                                        </p:tgtEl>
                                        <p:attrNameLst>
                                          <p:attrName>style.visibility</p:attrName>
                                        </p:attrNameLst>
                                      </p:cBhvr>
                                      <p:to>
                                        <p:strVal val="visible"/>
                                      </p:to>
                                    </p:set>
                                    <p:animEffect transition="in" filter="fade">
                                      <p:cBhvr>
                                        <p:cTn id="25" dur="1000"/>
                                        <p:tgtEl>
                                          <p:spTgt spid="1286150">
                                            <p:txEl>
                                              <p:charRg st="37" end="68"/>
                                            </p:txEl>
                                          </p:spTgt>
                                        </p:tgtEl>
                                      </p:cBhvr>
                                    </p:animEffect>
                                    <p:anim calcmode="lin" valueType="num">
                                      <p:cBhvr>
                                        <p:cTn id="26" dur="1000" fill="hold"/>
                                        <p:tgtEl>
                                          <p:spTgt spid="1286150">
                                            <p:txEl>
                                              <p:charRg st="37" end="68"/>
                                            </p:txEl>
                                          </p:spTgt>
                                        </p:tgtEl>
                                        <p:attrNameLst>
                                          <p:attrName>ppt_x</p:attrName>
                                        </p:attrNameLst>
                                      </p:cBhvr>
                                      <p:tavLst>
                                        <p:tav tm="0">
                                          <p:val>
                                            <p:strVal val="#ppt_x"/>
                                          </p:val>
                                        </p:tav>
                                        <p:tav tm="100000">
                                          <p:val>
                                            <p:strVal val="#ppt_x"/>
                                          </p:val>
                                        </p:tav>
                                      </p:tavLst>
                                    </p:anim>
                                    <p:anim calcmode="lin" valueType="num">
                                      <p:cBhvr>
                                        <p:cTn id="27" dur="1000" fill="hold"/>
                                        <p:tgtEl>
                                          <p:spTgt spid="1286150">
                                            <p:txEl>
                                              <p:charRg st="37" end="6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61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7170" name="矩形 1287169"/>
          <p:cNvSpPr/>
          <p:nvPr/>
        </p:nvSpPr>
        <p:spPr>
          <a:xfrm>
            <a:off x="76200" y="76200"/>
            <a:ext cx="90678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4000">
                <a:solidFill>
                  <a:schemeClr val="bg1"/>
                </a:solidFill>
                <a:latin typeface="Arial" panose="020B0604020202020204" pitchFamily="34" charset="0"/>
                <a:cs typeface="Arial" panose="020B0604020202020204" pitchFamily="34" charset="0"/>
              </a:rPr>
              <a:t>It is not English 10a or Math 55</a:t>
            </a:r>
            <a:endParaRPr lang="en-US" altLang="zh-CN" sz="4000">
              <a:solidFill>
                <a:schemeClr val="bg1"/>
              </a:solidFill>
              <a:latin typeface="Arial" panose="020B0604020202020204" pitchFamily="34" charset="0"/>
              <a:ea typeface="Arial" panose="020B0604020202020204" pitchFamily="34" charset="0"/>
            </a:endParaRPr>
          </a:p>
        </p:txBody>
      </p:sp>
      <p:sp>
        <p:nvSpPr>
          <p:cNvPr id="1287171" name="矩形 1287170"/>
          <p:cNvSpPr/>
          <p:nvPr/>
        </p:nvSpPr>
        <p:spPr>
          <a:xfrm>
            <a:off x="76200" y="838200"/>
            <a:ext cx="89916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4000">
                <a:solidFill>
                  <a:schemeClr val="bg1"/>
                </a:solidFill>
                <a:latin typeface="Arial" panose="020B0604020202020204" pitchFamily="34" charset="0"/>
                <a:cs typeface="Arial" panose="020B0604020202020204" pitchFamily="34" charset="0"/>
              </a:rPr>
              <a:t>It is about rigorous fun</a:t>
            </a:r>
            <a:endParaRPr lang="en-US" altLang="zh-CN" sz="4000">
              <a:solidFill>
                <a:schemeClr val="bg1"/>
              </a:solidFill>
              <a:latin typeface="Arial" panose="020B0604020202020204" pitchFamily="34" charset="0"/>
              <a:ea typeface="Arial" panose="020B0604020202020204" pitchFamily="34" charset="0"/>
            </a:endParaRPr>
          </a:p>
        </p:txBody>
      </p:sp>
      <p:sp>
        <p:nvSpPr>
          <p:cNvPr id="1287177" name="矩形 1287176"/>
          <p:cNvSpPr/>
          <p:nvPr/>
        </p:nvSpPr>
        <p:spPr>
          <a:xfrm>
            <a:off x="152400" y="1600200"/>
            <a:ext cx="8991600" cy="2514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200">
                <a:solidFill>
                  <a:srgbClr val="FFCC00"/>
                </a:solidFill>
                <a:latin typeface="Arial" panose="020B0604020202020204" pitchFamily="34" charset="0"/>
                <a:cs typeface="Arial" panose="020B0604020202020204" pitchFamily="34" charset="0"/>
              </a:rPr>
              <a:t>“I would not give a fig for the simplicity on this side of complexity, but I would give my life for the simplicity on the other side of complexity.”</a:t>
            </a:r>
            <a:br>
              <a:rPr lang="en-US" altLang="zh-CN" sz="3200">
                <a:solidFill>
                  <a:srgbClr val="FFCC00"/>
                </a:solidFill>
                <a:latin typeface="Arial" panose="020B0604020202020204" pitchFamily="34" charset="0"/>
                <a:cs typeface="Arial" panose="020B0604020202020204" pitchFamily="34" charset="0"/>
              </a:rPr>
            </a:br>
            <a:br>
              <a:rPr lang="en-US" altLang="zh-CN" sz="800">
                <a:solidFill>
                  <a:srgbClr val="FFCC00"/>
                </a:solidFill>
                <a:latin typeface="Arial" panose="020B0604020202020204" pitchFamily="34" charset="0"/>
                <a:cs typeface="Arial" panose="020B0604020202020204" pitchFamily="34" charset="0"/>
              </a:rPr>
            </a:br>
            <a:r>
              <a:rPr lang="en-US" altLang="zh-CN" sz="3200">
                <a:solidFill>
                  <a:srgbClr val="FFCC00"/>
                </a:solidFill>
                <a:latin typeface="Arial" panose="020B0604020202020204" pitchFamily="34" charset="0"/>
                <a:cs typeface="Arial" panose="020B0604020202020204" pitchFamily="34" charset="0"/>
              </a:rPr>
              <a:t>					</a:t>
            </a:r>
            <a:r>
              <a:rPr lang="en-US" altLang="zh-CN" sz="2800">
                <a:solidFill>
                  <a:srgbClr val="FFCC00"/>
                </a:solidFill>
                <a:latin typeface="Arial" panose="020B0604020202020204" pitchFamily="34" charset="0"/>
                <a:cs typeface="Arial" panose="020B0604020202020204" pitchFamily="34" charset="0"/>
              </a:rPr>
              <a:t>Oliver Wendell Holmes</a:t>
            </a:r>
            <a:endParaRPr lang="en-US" altLang="zh-CN" sz="2800">
              <a:solidFill>
                <a:srgbClr val="FFCC00"/>
              </a:solidFill>
              <a:latin typeface="Arial" panose="020B0604020202020204" pitchFamily="34" charset="0"/>
              <a:ea typeface="Arial" panose="020B0604020202020204" pitchFamily="34" charset="0"/>
            </a:endParaRPr>
          </a:p>
        </p:txBody>
      </p:sp>
      <p:sp>
        <p:nvSpPr>
          <p:cNvPr id="1287180" name="矩形 1287179"/>
          <p:cNvSpPr/>
          <p:nvPr/>
        </p:nvSpPr>
        <p:spPr>
          <a:xfrm>
            <a:off x="76200" y="4191000"/>
            <a:ext cx="5562600" cy="23622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 A different kind of effort</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Change is hard</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 Rigorous fun???</a:t>
            </a:r>
            <a:endParaRPr lang="en-US" altLang="zh-CN" sz="35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71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287180">
                                            <p:txEl>
                                              <p:charRg st="0" end="28"/>
                                            </p:txEl>
                                          </p:spTgt>
                                        </p:tgtEl>
                                        <p:attrNameLst>
                                          <p:attrName>style.visibility</p:attrName>
                                        </p:attrNameLst>
                                      </p:cBhvr>
                                      <p:to>
                                        <p:strVal val="visible"/>
                                      </p:to>
                                    </p:set>
                                    <p:animEffect transition="in" filter="fade">
                                      <p:cBhvr>
                                        <p:cTn id="15" dur="1000"/>
                                        <p:tgtEl>
                                          <p:spTgt spid="1287180">
                                            <p:txEl>
                                              <p:charRg st="0" end="28"/>
                                            </p:txEl>
                                          </p:spTgt>
                                        </p:tgtEl>
                                      </p:cBhvr>
                                    </p:animEffect>
                                    <p:anim calcmode="lin" valueType="num">
                                      <p:cBhvr>
                                        <p:cTn id="16" dur="1000" fill="hold"/>
                                        <p:tgtEl>
                                          <p:spTgt spid="1287180">
                                            <p:txEl>
                                              <p:charRg st="0" end="28"/>
                                            </p:txEl>
                                          </p:spTgt>
                                        </p:tgtEl>
                                        <p:attrNameLst>
                                          <p:attrName>ppt_x</p:attrName>
                                        </p:attrNameLst>
                                      </p:cBhvr>
                                      <p:tavLst>
                                        <p:tav tm="0">
                                          <p:val>
                                            <p:strVal val="#ppt_x"/>
                                          </p:val>
                                        </p:tav>
                                        <p:tav tm="100000">
                                          <p:val>
                                            <p:strVal val="#ppt_x"/>
                                          </p:val>
                                        </p:tav>
                                      </p:tavLst>
                                    </p:anim>
                                    <p:anim calcmode="lin" valueType="num">
                                      <p:cBhvr>
                                        <p:cTn id="17" dur="1000" fill="hold"/>
                                        <p:tgtEl>
                                          <p:spTgt spid="1287180">
                                            <p:txEl>
                                              <p:charRg st="0" end="28"/>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287180">
                                            <p:txEl>
                                              <p:charRg st="28" end="44"/>
                                            </p:txEl>
                                          </p:spTgt>
                                        </p:tgtEl>
                                        <p:attrNameLst>
                                          <p:attrName>style.visibility</p:attrName>
                                        </p:attrNameLst>
                                      </p:cBhvr>
                                      <p:to>
                                        <p:strVal val="visible"/>
                                      </p:to>
                                    </p:set>
                                    <p:animEffect transition="in" filter="fade">
                                      <p:cBhvr>
                                        <p:cTn id="22" dur="1000"/>
                                        <p:tgtEl>
                                          <p:spTgt spid="1287180">
                                            <p:txEl>
                                              <p:charRg st="28" end="44"/>
                                            </p:txEl>
                                          </p:spTgt>
                                        </p:tgtEl>
                                      </p:cBhvr>
                                    </p:animEffect>
                                    <p:anim calcmode="lin" valueType="num">
                                      <p:cBhvr>
                                        <p:cTn id="23" dur="1000" fill="hold"/>
                                        <p:tgtEl>
                                          <p:spTgt spid="1287180">
                                            <p:txEl>
                                              <p:charRg st="28" end="44"/>
                                            </p:txEl>
                                          </p:spTgt>
                                        </p:tgtEl>
                                        <p:attrNameLst>
                                          <p:attrName>ppt_x</p:attrName>
                                        </p:attrNameLst>
                                      </p:cBhvr>
                                      <p:tavLst>
                                        <p:tav tm="0">
                                          <p:val>
                                            <p:strVal val="#ppt_x"/>
                                          </p:val>
                                        </p:tav>
                                        <p:tav tm="100000">
                                          <p:val>
                                            <p:strVal val="#ppt_x"/>
                                          </p:val>
                                        </p:tav>
                                      </p:tavLst>
                                    </p:anim>
                                    <p:anim calcmode="lin" valueType="num">
                                      <p:cBhvr>
                                        <p:cTn id="24" dur="1000" fill="hold"/>
                                        <p:tgtEl>
                                          <p:spTgt spid="1287180">
                                            <p:txEl>
                                              <p:charRg st="28" end="4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87180">
                                            <p:txEl>
                                              <p:charRg st="44" end="61"/>
                                            </p:txEl>
                                          </p:spTgt>
                                        </p:tgtEl>
                                        <p:attrNameLst>
                                          <p:attrName>style.visibility</p:attrName>
                                        </p:attrNameLst>
                                      </p:cBhvr>
                                      <p:to>
                                        <p:strVal val="visible"/>
                                      </p:to>
                                    </p:set>
                                    <p:animEffect transition="in" filter="fade">
                                      <p:cBhvr>
                                        <p:cTn id="29" dur="1000"/>
                                        <p:tgtEl>
                                          <p:spTgt spid="1287180">
                                            <p:txEl>
                                              <p:charRg st="44" end="61"/>
                                            </p:txEl>
                                          </p:spTgt>
                                        </p:tgtEl>
                                      </p:cBhvr>
                                    </p:animEffect>
                                    <p:anim calcmode="lin" valueType="num">
                                      <p:cBhvr>
                                        <p:cTn id="30" dur="1000" fill="hold"/>
                                        <p:tgtEl>
                                          <p:spTgt spid="1287180">
                                            <p:txEl>
                                              <p:charRg st="44" end="61"/>
                                            </p:txEl>
                                          </p:spTgt>
                                        </p:tgtEl>
                                        <p:attrNameLst>
                                          <p:attrName>ppt_x</p:attrName>
                                        </p:attrNameLst>
                                      </p:cBhvr>
                                      <p:tavLst>
                                        <p:tav tm="0">
                                          <p:val>
                                            <p:strVal val="#ppt_x"/>
                                          </p:val>
                                        </p:tav>
                                        <p:tav tm="100000">
                                          <p:val>
                                            <p:strVal val="#ppt_x"/>
                                          </p:val>
                                        </p:tav>
                                      </p:tavLst>
                                    </p:anim>
                                    <p:anim calcmode="lin" valueType="num">
                                      <p:cBhvr>
                                        <p:cTn id="31" dur="1000" fill="hold"/>
                                        <p:tgtEl>
                                          <p:spTgt spid="1287180">
                                            <p:txEl>
                                              <p:charRg st="44" end="6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7171" grpId="0"/>
      <p:bldP spid="128717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70786" name="矩形 1270785"/>
          <p:cNvSpPr/>
          <p:nvPr/>
        </p:nvSpPr>
        <p:spPr>
          <a:xfrm>
            <a:off x="838200" y="76200"/>
            <a:ext cx="7772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Tahoma" panose="020B0604030504040204" pitchFamily="34" charset="0"/>
              </a:rPr>
              <a:t>Final Project</a:t>
            </a:r>
            <a:endParaRPr lang="en-US" altLang="zh-CN" sz="4000">
              <a:solidFill>
                <a:schemeClr val="bg1"/>
              </a:solidFill>
              <a:latin typeface="Tahoma" panose="020B0604030504040204" pitchFamily="34" charset="0"/>
            </a:endParaRPr>
          </a:p>
        </p:txBody>
      </p:sp>
      <p:sp>
        <p:nvSpPr>
          <p:cNvPr id="1270787" name="矩形 1270786"/>
          <p:cNvSpPr/>
          <p:nvPr/>
        </p:nvSpPr>
        <p:spPr>
          <a:xfrm>
            <a:off x="76200" y="6858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600">
                <a:solidFill>
                  <a:schemeClr val="bg1"/>
                </a:solidFill>
                <a:latin typeface="Tahoma" panose="020B0604030504040204" pitchFamily="34" charset="0"/>
              </a:rPr>
              <a:t> 20-30 minute Presentation</a:t>
            </a:r>
            <a:endParaRPr lang="en-US" altLang="zh-CN" sz="36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Any topic within positive psychology</a:t>
            </a:r>
            <a:endParaRPr lang="en-US" altLang="zh-CN" sz="32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Written text (10-15 pages double spaced)</a:t>
            </a:r>
            <a:endParaRPr lang="en-US" altLang="zh-CN" sz="32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Slides (word or </a:t>
            </a:r>
            <a:r>
              <a:rPr lang="en-US" altLang="zh-CN" sz="3200" err="1">
                <a:solidFill>
                  <a:schemeClr val="bg1"/>
                </a:solidFill>
                <a:latin typeface="Tahoma" panose="020B0604030504040204" pitchFamily="34" charset="0"/>
              </a:rPr>
              <a:t>powerpoints</a:t>
            </a:r>
            <a:r>
              <a:rPr lang="en-US" altLang="zh-CN" sz="3200">
                <a:solidFill>
                  <a:schemeClr val="bg1"/>
                </a:solidFill>
                <a:latin typeface="Tahoma" panose="020B0604030504040204" pitchFamily="34" charset="0"/>
              </a:rPr>
              <a:t>)</a:t>
            </a:r>
            <a:endParaRPr lang="en-US" altLang="zh-CN" sz="3200">
              <a:solidFill>
                <a:schemeClr val="bg1"/>
              </a:solidFill>
              <a:latin typeface="Tahoma" panose="020B0604030504040204" pitchFamily="34" charset="0"/>
            </a:endParaRPr>
          </a:p>
          <a:p>
            <a:pPr lvl="0"/>
            <a:r>
              <a:rPr lang="en-US" altLang="zh-CN" sz="3600">
                <a:solidFill>
                  <a:schemeClr val="bg1"/>
                </a:solidFill>
                <a:latin typeface="Tahoma" panose="020B0604030504040204" pitchFamily="34" charset="0"/>
              </a:rPr>
              <a:t> Include:</a:t>
            </a:r>
            <a:endParaRPr lang="en-US" altLang="zh-CN" sz="36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Reference to research</a:t>
            </a:r>
            <a:endParaRPr lang="en-US" altLang="zh-CN" sz="32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Optional: stories, film clips, exercises, etc</a:t>
            </a:r>
            <a:endParaRPr lang="en-US" altLang="zh-CN" sz="3200">
              <a:solidFill>
                <a:schemeClr val="bg1"/>
              </a:solidFill>
              <a:latin typeface="Tahoma" panose="020B0604030504040204" pitchFamily="34" charset="0"/>
            </a:endParaRPr>
          </a:p>
          <a:p>
            <a:pPr lvl="0"/>
            <a:r>
              <a:rPr lang="en-US" altLang="zh-CN" sz="3600">
                <a:solidFill>
                  <a:schemeClr val="bg1"/>
                </a:solidFill>
                <a:latin typeface="Tahoma" panose="020B0604030504040204" pitchFamily="34" charset="0"/>
              </a:rPr>
              <a:t> Why a presentation?</a:t>
            </a:r>
            <a:endParaRPr lang="en-US" altLang="zh-CN" sz="36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Teaching as learning</a:t>
            </a:r>
            <a:endParaRPr lang="en-US" altLang="zh-CN" sz="3200">
              <a:solidFill>
                <a:schemeClr val="bg1"/>
              </a:solidFill>
              <a:latin typeface="Tahoma" panose="020B0604030504040204" pitchFamily="34" charset="0"/>
            </a:endParaRPr>
          </a:p>
          <a:p>
            <a:pPr lvl="1"/>
            <a:r>
              <a:rPr lang="en-US" altLang="zh-CN" sz="3200">
                <a:solidFill>
                  <a:schemeClr val="bg1"/>
                </a:solidFill>
                <a:latin typeface="Tahoma" panose="020B0604030504040204" pitchFamily="34" charset="0"/>
              </a:rPr>
              <a:t> Spread goodness…</a:t>
            </a:r>
            <a:endParaRPr lang="en-US" altLang="zh-CN" sz="3200">
              <a:solidFill>
                <a:schemeClr val="bg1"/>
              </a:solidFill>
              <a:latin typeface="Tahoma" panose="020B0604030504040204" pitchFamily="34" charset="0"/>
            </a:endParaRPr>
          </a:p>
          <a:p>
            <a:pPr lvl="0"/>
            <a:endParaRPr lang="en-US" altLang="zh-CN" sz="36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70786"/>
                                        </p:tgtEl>
                                        <p:attrNameLst>
                                          <p:attrName>style.visibility</p:attrName>
                                        </p:attrNameLst>
                                      </p:cBhvr>
                                      <p:to>
                                        <p:strVal val="visible"/>
                                      </p:to>
                                    </p:set>
                                    <p:anim calcmode="lin" valueType="num">
                                      <p:cBhvr>
                                        <p:cTn id="7" dur="1000" fill="hold"/>
                                        <p:tgtEl>
                                          <p:spTgt spid="1270786"/>
                                        </p:tgtEl>
                                        <p:attrNameLst>
                                          <p:attrName>ppt_x</p:attrName>
                                        </p:attrNameLst>
                                      </p:cBhvr>
                                      <p:tavLst>
                                        <p:tav tm="0">
                                          <p:val>
                                            <p:strVal val="#ppt_x-.2"/>
                                          </p:val>
                                        </p:tav>
                                        <p:tav tm="100000">
                                          <p:val>
                                            <p:strVal val="#ppt_x"/>
                                          </p:val>
                                        </p:tav>
                                      </p:tavLst>
                                    </p:anim>
                                    <p:anim calcmode="lin" valueType="num">
                                      <p:cBhvr>
                                        <p:cTn id="8" dur="1000" fill="hold"/>
                                        <p:tgtEl>
                                          <p:spTgt spid="12707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27078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70787">
                                            <p:txEl>
                                              <p:charRg st="0" end="27"/>
                                            </p:txEl>
                                          </p:spTgt>
                                        </p:tgtEl>
                                        <p:attrNameLst>
                                          <p:attrName>style.visibility</p:attrName>
                                        </p:attrNameLst>
                                      </p:cBhvr>
                                      <p:to>
                                        <p:strVal val="visible"/>
                                      </p:to>
                                    </p:set>
                                    <p:animEffect transition="in" filter="fade">
                                      <p:cBhvr>
                                        <p:cTn id="14" dur="1000"/>
                                        <p:tgtEl>
                                          <p:spTgt spid="1270787">
                                            <p:txEl>
                                              <p:charRg st="0" end="27"/>
                                            </p:txEl>
                                          </p:spTgt>
                                        </p:tgtEl>
                                      </p:cBhvr>
                                    </p:animEffect>
                                    <p:anim calcmode="lin" valueType="num">
                                      <p:cBhvr>
                                        <p:cTn id="15" dur="1000" fill="hold"/>
                                        <p:tgtEl>
                                          <p:spTgt spid="1270787">
                                            <p:txEl>
                                              <p:charRg st="0" end="27"/>
                                            </p:txEl>
                                          </p:spTgt>
                                        </p:tgtEl>
                                        <p:attrNameLst>
                                          <p:attrName>ppt_x</p:attrName>
                                        </p:attrNameLst>
                                      </p:cBhvr>
                                      <p:tavLst>
                                        <p:tav tm="0">
                                          <p:val>
                                            <p:strVal val="#ppt_x"/>
                                          </p:val>
                                        </p:tav>
                                        <p:tav tm="100000">
                                          <p:val>
                                            <p:strVal val="#ppt_x"/>
                                          </p:val>
                                        </p:tav>
                                      </p:tavLst>
                                    </p:anim>
                                    <p:anim calcmode="lin" valueType="num">
                                      <p:cBhvr>
                                        <p:cTn id="16" dur="1000" fill="hold"/>
                                        <p:tgtEl>
                                          <p:spTgt spid="1270787">
                                            <p:txEl>
                                              <p:charRg st="0" end="27"/>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70787">
                                            <p:txEl>
                                              <p:charRg st="27" end="65"/>
                                            </p:txEl>
                                          </p:spTgt>
                                        </p:tgtEl>
                                        <p:attrNameLst>
                                          <p:attrName>style.visibility</p:attrName>
                                        </p:attrNameLst>
                                      </p:cBhvr>
                                      <p:to>
                                        <p:strVal val="visible"/>
                                      </p:to>
                                    </p:set>
                                    <p:animEffect transition="in" filter="fade">
                                      <p:cBhvr>
                                        <p:cTn id="21" dur="1000"/>
                                        <p:tgtEl>
                                          <p:spTgt spid="1270787">
                                            <p:txEl>
                                              <p:charRg st="27" end="65"/>
                                            </p:txEl>
                                          </p:spTgt>
                                        </p:tgtEl>
                                      </p:cBhvr>
                                    </p:animEffect>
                                    <p:anim calcmode="lin" valueType="num">
                                      <p:cBhvr>
                                        <p:cTn id="22" dur="1000" fill="hold"/>
                                        <p:tgtEl>
                                          <p:spTgt spid="1270787">
                                            <p:txEl>
                                              <p:charRg st="27" end="65"/>
                                            </p:txEl>
                                          </p:spTgt>
                                        </p:tgtEl>
                                        <p:attrNameLst>
                                          <p:attrName>ppt_x</p:attrName>
                                        </p:attrNameLst>
                                      </p:cBhvr>
                                      <p:tavLst>
                                        <p:tav tm="0">
                                          <p:val>
                                            <p:strVal val="#ppt_x"/>
                                          </p:val>
                                        </p:tav>
                                        <p:tav tm="100000">
                                          <p:val>
                                            <p:strVal val="#ppt_x"/>
                                          </p:val>
                                        </p:tav>
                                      </p:tavLst>
                                    </p:anim>
                                    <p:anim calcmode="lin" valueType="num">
                                      <p:cBhvr>
                                        <p:cTn id="23" dur="1000" fill="hold"/>
                                        <p:tgtEl>
                                          <p:spTgt spid="1270787">
                                            <p:txEl>
                                              <p:charRg st="27" end="6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70787">
                                            <p:txEl>
                                              <p:charRg st="65" end="107"/>
                                            </p:txEl>
                                          </p:spTgt>
                                        </p:tgtEl>
                                        <p:attrNameLst>
                                          <p:attrName>style.visibility</p:attrName>
                                        </p:attrNameLst>
                                      </p:cBhvr>
                                      <p:to>
                                        <p:strVal val="visible"/>
                                      </p:to>
                                    </p:set>
                                    <p:animEffect transition="in" filter="fade">
                                      <p:cBhvr>
                                        <p:cTn id="28" dur="1000"/>
                                        <p:tgtEl>
                                          <p:spTgt spid="1270787">
                                            <p:txEl>
                                              <p:charRg st="65" end="107"/>
                                            </p:txEl>
                                          </p:spTgt>
                                        </p:tgtEl>
                                      </p:cBhvr>
                                    </p:animEffect>
                                    <p:anim calcmode="lin" valueType="num">
                                      <p:cBhvr>
                                        <p:cTn id="29" dur="1000" fill="hold"/>
                                        <p:tgtEl>
                                          <p:spTgt spid="1270787">
                                            <p:txEl>
                                              <p:charRg st="65" end="107"/>
                                            </p:txEl>
                                          </p:spTgt>
                                        </p:tgtEl>
                                        <p:attrNameLst>
                                          <p:attrName>ppt_x</p:attrName>
                                        </p:attrNameLst>
                                      </p:cBhvr>
                                      <p:tavLst>
                                        <p:tav tm="0">
                                          <p:val>
                                            <p:strVal val="#ppt_x"/>
                                          </p:val>
                                        </p:tav>
                                        <p:tav tm="100000">
                                          <p:val>
                                            <p:strVal val="#ppt_x"/>
                                          </p:val>
                                        </p:tav>
                                      </p:tavLst>
                                    </p:anim>
                                    <p:anim calcmode="lin" valueType="num">
                                      <p:cBhvr>
                                        <p:cTn id="30" dur="1000" fill="hold"/>
                                        <p:tgtEl>
                                          <p:spTgt spid="1270787">
                                            <p:txEl>
                                              <p:charRg st="65" end="10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70787">
                                            <p:txEl>
                                              <p:charRg st="107" end="137"/>
                                            </p:txEl>
                                          </p:spTgt>
                                        </p:tgtEl>
                                        <p:attrNameLst>
                                          <p:attrName>style.visibility</p:attrName>
                                        </p:attrNameLst>
                                      </p:cBhvr>
                                      <p:to>
                                        <p:strVal val="visible"/>
                                      </p:to>
                                    </p:set>
                                    <p:animEffect transition="in" filter="fade">
                                      <p:cBhvr>
                                        <p:cTn id="35" dur="1000"/>
                                        <p:tgtEl>
                                          <p:spTgt spid="1270787">
                                            <p:txEl>
                                              <p:charRg st="107" end="137"/>
                                            </p:txEl>
                                          </p:spTgt>
                                        </p:tgtEl>
                                      </p:cBhvr>
                                    </p:animEffect>
                                    <p:anim calcmode="lin" valueType="num">
                                      <p:cBhvr>
                                        <p:cTn id="36" dur="1000" fill="hold"/>
                                        <p:tgtEl>
                                          <p:spTgt spid="1270787">
                                            <p:txEl>
                                              <p:charRg st="107" end="137"/>
                                            </p:txEl>
                                          </p:spTgt>
                                        </p:tgtEl>
                                        <p:attrNameLst>
                                          <p:attrName>ppt_x</p:attrName>
                                        </p:attrNameLst>
                                      </p:cBhvr>
                                      <p:tavLst>
                                        <p:tav tm="0">
                                          <p:val>
                                            <p:strVal val="#ppt_x"/>
                                          </p:val>
                                        </p:tav>
                                        <p:tav tm="100000">
                                          <p:val>
                                            <p:strVal val="#ppt_x"/>
                                          </p:val>
                                        </p:tav>
                                      </p:tavLst>
                                    </p:anim>
                                    <p:anim calcmode="lin" valueType="num">
                                      <p:cBhvr>
                                        <p:cTn id="37" dur="1000" fill="hold"/>
                                        <p:tgtEl>
                                          <p:spTgt spid="1270787">
                                            <p:txEl>
                                              <p:charRg st="107" end="13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270787">
                                            <p:txEl>
                                              <p:charRg st="137" end="147"/>
                                            </p:txEl>
                                          </p:spTgt>
                                        </p:tgtEl>
                                        <p:attrNameLst>
                                          <p:attrName>style.visibility</p:attrName>
                                        </p:attrNameLst>
                                      </p:cBhvr>
                                      <p:to>
                                        <p:strVal val="visible"/>
                                      </p:to>
                                    </p:set>
                                    <p:animEffect transition="in" filter="fade">
                                      <p:cBhvr>
                                        <p:cTn id="42" dur="1000"/>
                                        <p:tgtEl>
                                          <p:spTgt spid="1270787">
                                            <p:txEl>
                                              <p:charRg st="137" end="147"/>
                                            </p:txEl>
                                          </p:spTgt>
                                        </p:tgtEl>
                                      </p:cBhvr>
                                    </p:animEffect>
                                    <p:anim calcmode="lin" valueType="num">
                                      <p:cBhvr>
                                        <p:cTn id="43" dur="1000" fill="hold"/>
                                        <p:tgtEl>
                                          <p:spTgt spid="1270787">
                                            <p:txEl>
                                              <p:charRg st="137" end="147"/>
                                            </p:txEl>
                                          </p:spTgt>
                                        </p:tgtEl>
                                        <p:attrNameLst>
                                          <p:attrName>ppt_x</p:attrName>
                                        </p:attrNameLst>
                                      </p:cBhvr>
                                      <p:tavLst>
                                        <p:tav tm="0">
                                          <p:val>
                                            <p:strVal val="#ppt_x"/>
                                          </p:val>
                                        </p:tav>
                                        <p:tav tm="100000">
                                          <p:val>
                                            <p:strVal val="#ppt_x"/>
                                          </p:val>
                                        </p:tav>
                                      </p:tavLst>
                                    </p:anim>
                                    <p:anim calcmode="lin" valueType="num">
                                      <p:cBhvr>
                                        <p:cTn id="44" dur="1000" fill="hold"/>
                                        <p:tgtEl>
                                          <p:spTgt spid="1270787">
                                            <p:txEl>
                                              <p:charRg st="137" end="14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70787">
                                            <p:txEl>
                                              <p:charRg st="147" end="170"/>
                                            </p:txEl>
                                          </p:spTgt>
                                        </p:tgtEl>
                                        <p:attrNameLst>
                                          <p:attrName>style.visibility</p:attrName>
                                        </p:attrNameLst>
                                      </p:cBhvr>
                                      <p:to>
                                        <p:strVal val="visible"/>
                                      </p:to>
                                    </p:set>
                                    <p:animEffect transition="in" filter="fade">
                                      <p:cBhvr>
                                        <p:cTn id="49" dur="1000"/>
                                        <p:tgtEl>
                                          <p:spTgt spid="1270787">
                                            <p:txEl>
                                              <p:charRg st="147" end="170"/>
                                            </p:txEl>
                                          </p:spTgt>
                                        </p:tgtEl>
                                      </p:cBhvr>
                                    </p:animEffect>
                                    <p:anim calcmode="lin" valueType="num">
                                      <p:cBhvr>
                                        <p:cTn id="50" dur="1000" fill="hold"/>
                                        <p:tgtEl>
                                          <p:spTgt spid="1270787">
                                            <p:txEl>
                                              <p:charRg st="147" end="170"/>
                                            </p:txEl>
                                          </p:spTgt>
                                        </p:tgtEl>
                                        <p:attrNameLst>
                                          <p:attrName>ppt_x</p:attrName>
                                        </p:attrNameLst>
                                      </p:cBhvr>
                                      <p:tavLst>
                                        <p:tav tm="0">
                                          <p:val>
                                            <p:strVal val="#ppt_x"/>
                                          </p:val>
                                        </p:tav>
                                        <p:tav tm="100000">
                                          <p:val>
                                            <p:strVal val="#ppt_x"/>
                                          </p:val>
                                        </p:tav>
                                      </p:tavLst>
                                    </p:anim>
                                    <p:anim calcmode="lin" valueType="num">
                                      <p:cBhvr>
                                        <p:cTn id="51" dur="1000" fill="hold"/>
                                        <p:tgtEl>
                                          <p:spTgt spid="1270787">
                                            <p:txEl>
                                              <p:charRg st="147" end="17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270787">
                                            <p:txEl>
                                              <p:charRg st="170" end="217"/>
                                            </p:txEl>
                                          </p:spTgt>
                                        </p:tgtEl>
                                        <p:attrNameLst>
                                          <p:attrName>style.visibility</p:attrName>
                                        </p:attrNameLst>
                                      </p:cBhvr>
                                      <p:to>
                                        <p:strVal val="visible"/>
                                      </p:to>
                                    </p:set>
                                    <p:animEffect transition="in" filter="fade">
                                      <p:cBhvr>
                                        <p:cTn id="56" dur="1000"/>
                                        <p:tgtEl>
                                          <p:spTgt spid="1270787">
                                            <p:txEl>
                                              <p:charRg st="170" end="217"/>
                                            </p:txEl>
                                          </p:spTgt>
                                        </p:tgtEl>
                                      </p:cBhvr>
                                    </p:animEffect>
                                    <p:anim calcmode="lin" valueType="num">
                                      <p:cBhvr>
                                        <p:cTn id="57" dur="1000" fill="hold"/>
                                        <p:tgtEl>
                                          <p:spTgt spid="1270787">
                                            <p:txEl>
                                              <p:charRg st="170" end="217"/>
                                            </p:txEl>
                                          </p:spTgt>
                                        </p:tgtEl>
                                        <p:attrNameLst>
                                          <p:attrName>ppt_x</p:attrName>
                                        </p:attrNameLst>
                                      </p:cBhvr>
                                      <p:tavLst>
                                        <p:tav tm="0">
                                          <p:val>
                                            <p:strVal val="#ppt_x"/>
                                          </p:val>
                                        </p:tav>
                                        <p:tav tm="100000">
                                          <p:val>
                                            <p:strVal val="#ppt_x"/>
                                          </p:val>
                                        </p:tav>
                                      </p:tavLst>
                                    </p:anim>
                                    <p:anim calcmode="lin" valueType="num">
                                      <p:cBhvr>
                                        <p:cTn id="58" dur="1000" fill="hold"/>
                                        <p:tgtEl>
                                          <p:spTgt spid="1270787">
                                            <p:txEl>
                                              <p:charRg st="170" end="21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70787">
                                            <p:txEl>
                                              <p:charRg st="217" end="238"/>
                                            </p:txEl>
                                          </p:spTgt>
                                        </p:tgtEl>
                                        <p:attrNameLst>
                                          <p:attrName>style.visibility</p:attrName>
                                        </p:attrNameLst>
                                      </p:cBhvr>
                                      <p:to>
                                        <p:strVal val="visible"/>
                                      </p:to>
                                    </p:set>
                                    <p:animEffect transition="in" filter="fade">
                                      <p:cBhvr>
                                        <p:cTn id="63" dur="1000"/>
                                        <p:tgtEl>
                                          <p:spTgt spid="1270787">
                                            <p:txEl>
                                              <p:charRg st="217" end="238"/>
                                            </p:txEl>
                                          </p:spTgt>
                                        </p:tgtEl>
                                      </p:cBhvr>
                                    </p:animEffect>
                                    <p:anim calcmode="lin" valueType="num">
                                      <p:cBhvr>
                                        <p:cTn id="64" dur="1000" fill="hold"/>
                                        <p:tgtEl>
                                          <p:spTgt spid="1270787">
                                            <p:txEl>
                                              <p:charRg st="217" end="238"/>
                                            </p:txEl>
                                          </p:spTgt>
                                        </p:tgtEl>
                                        <p:attrNameLst>
                                          <p:attrName>ppt_x</p:attrName>
                                        </p:attrNameLst>
                                      </p:cBhvr>
                                      <p:tavLst>
                                        <p:tav tm="0">
                                          <p:val>
                                            <p:strVal val="#ppt_x"/>
                                          </p:val>
                                        </p:tav>
                                        <p:tav tm="100000">
                                          <p:val>
                                            <p:strVal val="#ppt_x"/>
                                          </p:val>
                                        </p:tav>
                                      </p:tavLst>
                                    </p:anim>
                                    <p:anim calcmode="lin" valueType="num">
                                      <p:cBhvr>
                                        <p:cTn id="65" dur="1000" fill="hold"/>
                                        <p:tgtEl>
                                          <p:spTgt spid="1270787">
                                            <p:txEl>
                                              <p:charRg st="217" end="23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270787">
                                            <p:txEl>
                                              <p:charRg st="238" end="260"/>
                                            </p:txEl>
                                          </p:spTgt>
                                        </p:tgtEl>
                                        <p:attrNameLst>
                                          <p:attrName>style.visibility</p:attrName>
                                        </p:attrNameLst>
                                      </p:cBhvr>
                                      <p:to>
                                        <p:strVal val="visible"/>
                                      </p:to>
                                    </p:set>
                                    <p:animEffect transition="in" filter="fade">
                                      <p:cBhvr>
                                        <p:cTn id="70" dur="1000"/>
                                        <p:tgtEl>
                                          <p:spTgt spid="1270787">
                                            <p:txEl>
                                              <p:charRg st="238" end="260"/>
                                            </p:txEl>
                                          </p:spTgt>
                                        </p:tgtEl>
                                      </p:cBhvr>
                                    </p:animEffect>
                                    <p:anim calcmode="lin" valueType="num">
                                      <p:cBhvr>
                                        <p:cTn id="71" dur="1000" fill="hold"/>
                                        <p:tgtEl>
                                          <p:spTgt spid="1270787">
                                            <p:txEl>
                                              <p:charRg st="238" end="260"/>
                                            </p:txEl>
                                          </p:spTgt>
                                        </p:tgtEl>
                                        <p:attrNameLst>
                                          <p:attrName>ppt_x</p:attrName>
                                        </p:attrNameLst>
                                      </p:cBhvr>
                                      <p:tavLst>
                                        <p:tav tm="0">
                                          <p:val>
                                            <p:strVal val="#ppt_x"/>
                                          </p:val>
                                        </p:tav>
                                        <p:tav tm="100000">
                                          <p:val>
                                            <p:strVal val="#ppt_x"/>
                                          </p:val>
                                        </p:tav>
                                      </p:tavLst>
                                    </p:anim>
                                    <p:anim calcmode="lin" valueType="num">
                                      <p:cBhvr>
                                        <p:cTn id="72" dur="1000" fill="hold"/>
                                        <p:tgtEl>
                                          <p:spTgt spid="1270787">
                                            <p:txEl>
                                              <p:charRg st="238" end="26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270787">
                                            <p:txEl>
                                              <p:charRg st="260" end="278"/>
                                            </p:txEl>
                                          </p:spTgt>
                                        </p:tgtEl>
                                        <p:attrNameLst>
                                          <p:attrName>style.visibility</p:attrName>
                                        </p:attrNameLst>
                                      </p:cBhvr>
                                      <p:to>
                                        <p:strVal val="visible"/>
                                      </p:to>
                                    </p:set>
                                    <p:animEffect transition="in" filter="fade">
                                      <p:cBhvr>
                                        <p:cTn id="77" dur="1000"/>
                                        <p:tgtEl>
                                          <p:spTgt spid="1270787">
                                            <p:txEl>
                                              <p:charRg st="260" end="278"/>
                                            </p:txEl>
                                          </p:spTgt>
                                        </p:tgtEl>
                                      </p:cBhvr>
                                    </p:animEffect>
                                    <p:anim calcmode="lin" valueType="num">
                                      <p:cBhvr>
                                        <p:cTn id="78" dur="1000" fill="hold"/>
                                        <p:tgtEl>
                                          <p:spTgt spid="1270787">
                                            <p:txEl>
                                              <p:charRg st="260" end="278"/>
                                            </p:txEl>
                                          </p:spTgt>
                                        </p:tgtEl>
                                        <p:attrNameLst>
                                          <p:attrName>ppt_x</p:attrName>
                                        </p:attrNameLst>
                                      </p:cBhvr>
                                      <p:tavLst>
                                        <p:tav tm="0">
                                          <p:val>
                                            <p:strVal val="#ppt_x"/>
                                          </p:val>
                                        </p:tav>
                                        <p:tav tm="100000">
                                          <p:val>
                                            <p:strVal val="#ppt_x"/>
                                          </p:val>
                                        </p:tav>
                                      </p:tavLst>
                                    </p:anim>
                                    <p:anim calcmode="lin" valueType="num">
                                      <p:cBhvr>
                                        <p:cTn id="79" dur="1000" fill="hold"/>
                                        <p:tgtEl>
                                          <p:spTgt spid="1270787">
                                            <p:txEl>
                                              <p:charRg st="260" end="27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78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1266" name="矩形 1291265"/>
          <p:cNvSpPr/>
          <p:nvPr/>
        </p:nvSpPr>
        <p:spPr>
          <a:xfrm>
            <a:off x="381000" y="4648200"/>
            <a:ext cx="3962400" cy="18288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4000">
                <a:solidFill>
                  <a:schemeClr val="bg1"/>
                </a:solidFill>
                <a:latin typeface="Arial" panose="020B0604020202020204" pitchFamily="34" charset="0"/>
                <a:cs typeface="Arial" panose="020B0604020202020204" pitchFamily="34" charset="0"/>
              </a:rPr>
              <a:t>Why Positive Psychology?</a:t>
            </a:r>
            <a:endParaRPr lang="en-US" altLang="zh-CN" sz="4000">
              <a:solidFill>
                <a:schemeClr val="bg1"/>
              </a:solidFill>
              <a:latin typeface="Arial" panose="020B0604020202020204" pitchFamily="34" charset="0"/>
              <a:ea typeface="Arial" panose="020B0604020202020204" pitchFamily="34" charset="0"/>
            </a:endParaRPr>
          </a:p>
        </p:txBody>
      </p:sp>
      <p:pic>
        <p:nvPicPr>
          <p:cNvPr id="1291275" name="图片 1291274" descr="MARVA"/>
          <p:cNvPicPr>
            <a:picLocks noChangeAspect="1"/>
          </p:cNvPicPr>
          <p:nvPr/>
        </p:nvPicPr>
        <p:blipFill>
          <a:blip r:embed="rId1"/>
          <a:stretch>
            <a:fillRect/>
          </a:stretch>
        </p:blipFill>
        <p:spPr>
          <a:xfrm>
            <a:off x="5791200" y="0"/>
            <a:ext cx="3359150" cy="4786313"/>
          </a:xfrm>
          <a:prstGeom prst="rect">
            <a:avLst/>
          </a:prstGeom>
          <a:noFill/>
          <a:ln w="9525">
            <a:noFill/>
          </a:ln>
        </p:spPr>
      </p:pic>
      <p:pic>
        <p:nvPicPr>
          <p:cNvPr id="1291276" name="图片 1291275" descr="RainbowHeaven,Himalayas,Pakistan"/>
          <p:cNvPicPr>
            <a:picLocks noChangeAspect="1"/>
          </p:cNvPicPr>
          <p:nvPr/>
        </p:nvPicPr>
        <p:blipFill>
          <a:blip r:embed="rId2"/>
          <a:srcRect l="9843" b="14063"/>
          <a:stretch>
            <a:fillRect/>
          </a:stretch>
        </p:blipFill>
        <p:spPr>
          <a:xfrm>
            <a:off x="0" y="0"/>
            <a:ext cx="5791200" cy="4138613"/>
          </a:xfrm>
          <a:prstGeom prst="rect">
            <a:avLst/>
          </a:prstGeom>
          <a:noFill/>
          <a:ln w="9525">
            <a:noFill/>
          </a:ln>
        </p:spPr>
      </p:pic>
      <p:pic>
        <p:nvPicPr>
          <p:cNvPr id="1291280" name="图片 1291279" descr="pedsurologybaby"/>
          <p:cNvPicPr>
            <a:picLocks noChangeAspect="1"/>
          </p:cNvPicPr>
          <p:nvPr/>
        </p:nvPicPr>
        <p:blipFill>
          <a:blip r:embed="rId3"/>
          <a:stretch>
            <a:fillRect/>
          </a:stretch>
        </p:blipFill>
        <p:spPr>
          <a:xfrm>
            <a:off x="5110163" y="4113213"/>
            <a:ext cx="4033837" cy="2754312"/>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3316" name="矩形 1293315"/>
          <p:cNvSpPr/>
          <p:nvPr/>
        </p:nvSpPr>
        <p:spPr>
          <a:xfrm>
            <a:off x="76200" y="1295400"/>
            <a:ext cx="4572000" cy="28956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a:solidFill>
                  <a:schemeClr val="bg1"/>
                </a:solidFill>
                <a:latin typeface="Arial" panose="020B0604020202020204" pitchFamily="34" charset="0"/>
                <a:cs typeface="Arial" panose="020B0604020202020204" pitchFamily="34" charset="0"/>
              </a:rPr>
              <a:t>Anger: 5,584</a:t>
            </a:r>
            <a:endParaRPr lang="en-US" altLang="zh-CN">
              <a:solidFill>
                <a:schemeClr val="bg1"/>
              </a:solidFill>
              <a:latin typeface="Arial" panose="020B0604020202020204" pitchFamily="34" charset="0"/>
              <a:cs typeface="Arial" panose="020B0604020202020204" pitchFamily="34" charset="0"/>
            </a:endParaRPr>
          </a:p>
          <a:p>
            <a:pPr lvl="0"/>
            <a:r>
              <a:rPr lang="en-US" altLang="zh-CN">
                <a:solidFill>
                  <a:schemeClr val="bg1"/>
                </a:solidFill>
                <a:latin typeface="Arial" panose="020B0604020202020204" pitchFamily="34" charset="0"/>
                <a:cs typeface="Arial" panose="020B0604020202020204" pitchFamily="34" charset="0"/>
              </a:rPr>
              <a:t>Anxiety: 41,416</a:t>
            </a:r>
            <a:endParaRPr lang="en-US" altLang="zh-CN">
              <a:solidFill>
                <a:schemeClr val="bg1"/>
              </a:solidFill>
              <a:latin typeface="Arial" panose="020B0604020202020204" pitchFamily="34" charset="0"/>
              <a:cs typeface="Arial" panose="020B0604020202020204" pitchFamily="34" charset="0"/>
            </a:endParaRPr>
          </a:p>
          <a:p>
            <a:pPr lvl="0"/>
            <a:r>
              <a:rPr lang="en-US" altLang="zh-CN">
                <a:solidFill>
                  <a:schemeClr val="bg1"/>
                </a:solidFill>
                <a:latin typeface="Arial" panose="020B0604020202020204" pitchFamily="34" charset="0"/>
                <a:cs typeface="Arial" panose="020B0604020202020204" pitchFamily="34" charset="0"/>
              </a:rPr>
              <a:t>Depression: 54,040</a:t>
            </a:r>
            <a:endParaRPr lang="en-US" altLang="zh-CN">
              <a:solidFill>
                <a:schemeClr val="bg1"/>
              </a:solidFill>
              <a:latin typeface="Arial" panose="020B0604020202020204" pitchFamily="34" charset="0"/>
              <a:ea typeface="Arial" panose="020B0604020202020204" pitchFamily="34" charset="0"/>
            </a:endParaRPr>
          </a:p>
        </p:txBody>
      </p:sp>
      <p:sp>
        <p:nvSpPr>
          <p:cNvPr id="1293317" name="矩形 1293316"/>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Psychological Abstracts (1967-2000)</a:t>
            </a:r>
            <a:endParaRPr lang="en-US" altLang="zh-CN" sz="4000">
              <a:solidFill>
                <a:schemeClr val="bg1"/>
              </a:solidFill>
              <a:latin typeface="Arial" panose="020B0604020202020204" pitchFamily="34" charset="0"/>
              <a:ea typeface="Arial" panose="020B0604020202020204" pitchFamily="34" charset="0"/>
            </a:endParaRPr>
          </a:p>
        </p:txBody>
      </p:sp>
      <p:sp>
        <p:nvSpPr>
          <p:cNvPr id="1293318" name="矩形 1293317"/>
          <p:cNvSpPr/>
          <p:nvPr/>
        </p:nvSpPr>
        <p:spPr>
          <a:xfrm>
            <a:off x="4572000" y="1219200"/>
            <a:ext cx="4572000" cy="20574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a:solidFill>
                  <a:srgbClr val="FFCC00"/>
                </a:solidFill>
                <a:latin typeface="Arial" panose="020B0604020202020204" pitchFamily="34" charset="0"/>
                <a:cs typeface="Arial" panose="020B0604020202020204" pitchFamily="34" charset="0"/>
              </a:rPr>
              <a:t>Joy: 415</a:t>
            </a:r>
            <a:endParaRPr lang="en-US" altLang="zh-CN">
              <a:solidFill>
                <a:srgbClr val="FFCC00"/>
              </a:solidFill>
              <a:latin typeface="Arial" panose="020B0604020202020204" pitchFamily="34" charset="0"/>
              <a:cs typeface="Arial" panose="020B0604020202020204" pitchFamily="34" charset="0"/>
            </a:endParaRPr>
          </a:p>
          <a:p>
            <a:pPr lvl="0"/>
            <a:r>
              <a:rPr lang="en-US" altLang="zh-CN">
                <a:solidFill>
                  <a:srgbClr val="FFCC00"/>
                </a:solidFill>
                <a:latin typeface="Arial" panose="020B0604020202020204" pitchFamily="34" charset="0"/>
                <a:cs typeface="Arial" panose="020B0604020202020204" pitchFamily="34" charset="0"/>
              </a:rPr>
              <a:t>Happiness: 1,710</a:t>
            </a:r>
            <a:endParaRPr lang="en-US" altLang="zh-CN">
              <a:solidFill>
                <a:srgbClr val="FFCC00"/>
              </a:solidFill>
              <a:latin typeface="Arial" panose="020B0604020202020204" pitchFamily="34" charset="0"/>
              <a:cs typeface="Arial" panose="020B0604020202020204" pitchFamily="34" charset="0"/>
            </a:endParaRPr>
          </a:p>
          <a:p>
            <a:pPr lvl="0"/>
            <a:r>
              <a:rPr lang="en-US" altLang="zh-CN">
                <a:solidFill>
                  <a:srgbClr val="FFCC00"/>
                </a:solidFill>
                <a:latin typeface="Arial" panose="020B0604020202020204" pitchFamily="34" charset="0"/>
                <a:cs typeface="Arial" panose="020B0604020202020204" pitchFamily="34" charset="0"/>
              </a:rPr>
              <a:t>Life satisfaction: 2,582</a:t>
            </a:r>
            <a:endParaRPr lang="en-US" altLang="zh-CN">
              <a:solidFill>
                <a:srgbClr val="FFCC00"/>
              </a:solidFill>
              <a:latin typeface="Arial" panose="020B0604020202020204" pitchFamily="34" charset="0"/>
              <a:ea typeface="Arial" panose="020B0604020202020204" pitchFamily="34" charset="0"/>
            </a:endParaRPr>
          </a:p>
        </p:txBody>
      </p:sp>
      <p:sp>
        <p:nvSpPr>
          <p:cNvPr id="1293319" name="矩形 1293318"/>
          <p:cNvSpPr/>
          <p:nvPr/>
        </p:nvSpPr>
        <p:spPr>
          <a:xfrm>
            <a:off x="3429000" y="4191000"/>
            <a:ext cx="2514600" cy="2590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buNone/>
            </a:pPr>
            <a:r>
              <a:rPr lang="en-US" altLang="zh-CN" sz="3600">
                <a:solidFill>
                  <a:schemeClr val="bg1"/>
                </a:solidFill>
                <a:latin typeface="Arial" panose="020B0604020202020204" pitchFamily="34" charset="0"/>
                <a:cs typeface="Arial" panose="020B0604020202020204" pitchFamily="34" charset="0"/>
              </a:rPr>
              <a:t>Ratio: 21/</a:t>
            </a:r>
            <a:r>
              <a:rPr lang="en-US" altLang="zh-CN" sz="3600">
                <a:solidFill>
                  <a:srgbClr val="FFCC00"/>
                </a:solidFill>
                <a:latin typeface="Arial" panose="020B0604020202020204" pitchFamily="34" charset="0"/>
                <a:cs typeface="Arial" panose="020B0604020202020204" pitchFamily="34" charset="0"/>
              </a:rPr>
              <a:t>1</a:t>
            </a:r>
            <a:endParaRPr lang="en-US" altLang="zh-CN" sz="36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93316">
                                            <p:txEl>
                                              <p:charRg st="0" end="13"/>
                                            </p:txEl>
                                          </p:spTgt>
                                        </p:tgtEl>
                                        <p:attrNameLst>
                                          <p:attrName>style.visibility</p:attrName>
                                        </p:attrNameLst>
                                      </p:cBhvr>
                                      <p:to>
                                        <p:strVal val="visible"/>
                                      </p:to>
                                    </p:set>
                                    <p:animEffect transition="in" filter="fade">
                                      <p:cBhvr>
                                        <p:cTn id="7" dur="1000"/>
                                        <p:tgtEl>
                                          <p:spTgt spid="1293316">
                                            <p:txEl>
                                              <p:charRg st="0" end="13"/>
                                            </p:txEl>
                                          </p:spTgt>
                                        </p:tgtEl>
                                      </p:cBhvr>
                                    </p:animEffect>
                                    <p:anim calcmode="lin" valueType="num">
                                      <p:cBhvr>
                                        <p:cTn id="8" dur="1000" fill="hold"/>
                                        <p:tgtEl>
                                          <p:spTgt spid="1293316">
                                            <p:txEl>
                                              <p:charRg st="0" end="13"/>
                                            </p:txEl>
                                          </p:spTgt>
                                        </p:tgtEl>
                                        <p:attrNameLst>
                                          <p:attrName>ppt_x</p:attrName>
                                        </p:attrNameLst>
                                      </p:cBhvr>
                                      <p:tavLst>
                                        <p:tav tm="0">
                                          <p:val>
                                            <p:strVal val="#ppt_x"/>
                                          </p:val>
                                        </p:tav>
                                        <p:tav tm="100000">
                                          <p:val>
                                            <p:strVal val="#ppt_x"/>
                                          </p:val>
                                        </p:tav>
                                      </p:tavLst>
                                    </p:anim>
                                    <p:anim calcmode="lin" valueType="num">
                                      <p:cBhvr>
                                        <p:cTn id="9" dur="1000" fill="hold"/>
                                        <p:tgtEl>
                                          <p:spTgt spid="1293316">
                                            <p:txEl>
                                              <p:charRg st="0" end="1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93316">
                                            <p:txEl>
                                              <p:charRg st="13" end="29"/>
                                            </p:txEl>
                                          </p:spTgt>
                                        </p:tgtEl>
                                        <p:attrNameLst>
                                          <p:attrName>style.visibility</p:attrName>
                                        </p:attrNameLst>
                                      </p:cBhvr>
                                      <p:to>
                                        <p:strVal val="visible"/>
                                      </p:to>
                                    </p:set>
                                    <p:animEffect transition="in" filter="fade">
                                      <p:cBhvr>
                                        <p:cTn id="14" dur="1000"/>
                                        <p:tgtEl>
                                          <p:spTgt spid="1293316">
                                            <p:txEl>
                                              <p:charRg st="13" end="29"/>
                                            </p:txEl>
                                          </p:spTgt>
                                        </p:tgtEl>
                                      </p:cBhvr>
                                    </p:animEffect>
                                    <p:anim calcmode="lin" valueType="num">
                                      <p:cBhvr>
                                        <p:cTn id="15" dur="1000" fill="hold"/>
                                        <p:tgtEl>
                                          <p:spTgt spid="1293316">
                                            <p:txEl>
                                              <p:charRg st="13" end="29"/>
                                            </p:txEl>
                                          </p:spTgt>
                                        </p:tgtEl>
                                        <p:attrNameLst>
                                          <p:attrName>ppt_x</p:attrName>
                                        </p:attrNameLst>
                                      </p:cBhvr>
                                      <p:tavLst>
                                        <p:tav tm="0">
                                          <p:val>
                                            <p:strVal val="#ppt_x"/>
                                          </p:val>
                                        </p:tav>
                                        <p:tav tm="100000">
                                          <p:val>
                                            <p:strVal val="#ppt_x"/>
                                          </p:val>
                                        </p:tav>
                                      </p:tavLst>
                                    </p:anim>
                                    <p:anim calcmode="lin" valueType="num">
                                      <p:cBhvr>
                                        <p:cTn id="16" dur="1000" fill="hold"/>
                                        <p:tgtEl>
                                          <p:spTgt spid="1293316">
                                            <p:txEl>
                                              <p:charRg st="13" end="2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93316">
                                            <p:txEl>
                                              <p:charRg st="29" end="48"/>
                                            </p:txEl>
                                          </p:spTgt>
                                        </p:tgtEl>
                                        <p:attrNameLst>
                                          <p:attrName>style.visibility</p:attrName>
                                        </p:attrNameLst>
                                      </p:cBhvr>
                                      <p:to>
                                        <p:strVal val="visible"/>
                                      </p:to>
                                    </p:set>
                                    <p:animEffect transition="in" filter="fade">
                                      <p:cBhvr>
                                        <p:cTn id="21" dur="1000"/>
                                        <p:tgtEl>
                                          <p:spTgt spid="1293316">
                                            <p:txEl>
                                              <p:charRg st="29" end="48"/>
                                            </p:txEl>
                                          </p:spTgt>
                                        </p:tgtEl>
                                      </p:cBhvr>
                                    </p:animEffect>
                                    <p:anim calcmode="lin" valueType="num">
                                      <p:cBhvr>
                                        <p:cTn id="22" dur="1000" fill="hold"/>
                                        <p:tgtEl>
                                          <p:spTgt spid="1293316">
                                            <p:txEl>
                                              <p:charRg st="29" end="48"/>
                                            </p:txEl>
                                          </p:spTgt>
                                        </p:tgtEl>
                                        <p:attrNameLst>
                                          <p:attrName>ppt_x</p:attrName>
                                        </p:attrNameLst>
                                      </p:cBhvr>
                                      <p:tavLst>
                                        <p:tav tm="0">
                                          <p:val>
                                            <p:strVal val="#ppt_x"/>
                                          </p:val>
                                        </p:tav>
                                        <p:tav tm="100000">
                                          <p:val>
                                            <p:strVal val="#ppt_x"/>
                                          </p:val>
                                        </p:tav>
                                      </p:tavLst>
                                    </p:anim>
                                    <p:anim calcmode="lin" valueType="num">
                                      <p:cBhvr>
                                        <p:cTn id="23" dur="1000" fill="hold"/>
                                        <p:tgtEl>
                                          <p:spTgt spid="1293316">
                                            <p:txEl>
                                              <p:charRg st="29" end="48"/>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93318">
                                            <p:txEl>
                                              <p:charRg st="0" end="9"/>
                                            </p:txEl>
                                          </p:spTgt>
                                        </p:tgtEl>
                                        <p:attrNameLst>
                                          <p:attrName>style.visibility</p:attrName>
                                        </p:attrNameLst>
                                      </p:cBhvr>
                                      <p:to>
                                        <p:strVal val="visible"/>
                                      </p:to>
                                    </p:set>
                                    <p:animEffect transition="in" filter="fade">
                                      <p:cBhvr>
                                        <p:cTn id="28" dur="1000"/>
                                        <p:tgtEl>
                                          <p:spTgt spid="1293318">
                                            <p:txEl>
                                              <p:charRg st="0" end="9"/>
                                            </p:txEl>
                                          </p:spTgt>
                                        </p:tgtEl>
                                      </p:cBhvr>
                                    </p:animEffect>
                                    <p:anim calcmode="lin" valueType="num">
                                      <p:cBhvr>
                                        <p:cTn id="29" dur="1000" fill="hold"/>
                                        <p:tgtEl>
                                          <p:spTgt spid="1293318">
                                            <p:txEl>
                                              <p:charRg st="0" end="9"/>
                                            </p:txEl>
                                          </p:spTgt>
                                        </p:tgtEl>
                                        <p:attrNameLst>
                                          <p:attrName>ppt_x</p:attrName>
                                        </p:attrNameLst>
                                      </p:cBhvr>
                                      <p:tavLst>
                                        <p:tav tm="0">
                                          <p:val>
                                            <p:strVal val="#ppt_x"/>
                                          </p:val>
                                        </p:tav>
                                        <p:tav tm="100000">
                                          <p:val>
                                            <p:strVal val="#ppt_x"/>
                                          </p:val>
                                        </p:tav>
                                      </p:tavLst>
                                    </p:anim>
                                    <p:anim calcmode="lin" valueType="num">
                                      <p:cBhvr>
                                        <p:cTn id="30" dur="1000" fill="hold"/>
                                        <p:tgtEl>
                                          <p:spTgt spid="1293318">
                                            <p:txEl>
                                              <p:charRg st="0" end="9"/>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93318">
                                            <p:txEl>
                                              <p:charRg st="9" end="26"/>
                                            </p:txEl>
                                          </p:spTgt>
                                        </p:tgtEl>
                                        <p:attrNameLst>
                                          <p:attrName>style.visibility</p:attrName>
                                        </p:attrNameLst>
                                      </p:cBhvr>
                                      <p:to>
                                        <p:strVal val="visible"/>
                                      </p:to>
                                    </p:set>
                                    <p:animEffect transition="in" filter="fade">
                                      <p:cBhvr>
                                        <p:cTn id="35" dur="1000"/>
                                        <p:tgtEl>
                                          <p:spTgt spid="1293318">
                                            <p:txEl>
                                              <p:charRg st="9" end="26"/>
                                            </p:txEl>
                                          </p:spTgt>
                                        </p:tgtEl>
                                      </p:cBhvr>
                                    </p:animEffect>
                                    <p:anim calcmode="lin" valueType="num">
                                      <p:cBhvr>
                                        <p:cTn id="36" dur="1000" fill="hold"/>
                                        <p:tgtEl>
                                          <p:spTgt spid="1293318">
                                            <p:txEl>
                                              <p:charRg st="9" end="26"/>
                                            </p:txEl>
                                          </p:spTgt>
                                        </p:tgtEl>
                                        <p:attrNameLst>
                                          <p:attrName>ppt_x</p:attrName>
                                        </p:attrNameLst>
                                      </p:cBhvr>
                                      <p:tavLst>
                                        <p:tav tm="0">
                                          <p:val>
                                            <p:strVal val="#ppt_x"/>
                                          </p:val>
                                        </p:tav>
                                        <p:tav tm="100000">
                                          <p:val>
                                            <p:strVal val="#ppt_x"/>
                                          </p:val>
                                        </p:tav>
                                      </p:tavLst>
                                    </p:anim>
                                    <p:anim calcmode="lin" valueType="num">
                                      <p:cBhvr>
                                        <p:cTn id="37" dur="1000" fill="hold"/>
                                        <p:tgtEl>
                                          <p:spTgt spid="1293318">
                                            <p:txEl>
                                              <p:charRg st="9" end="2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293318">
                                            <p:txEl>
                                              <p:charRg st="26" end="51"/>
                                            </p:txEl>
                                          </p:spTgt>
                                        </p:tgtEl>
                                        <p:attrNameLst>
                                          <p:attrName>style.visibility</p:attrName>
                                        </p:attrNameLst>
                                      </p:cBhvr>
                                      <p:to>
                                        <p:strVal val="visible"/>
                                      </p:to>
                                    </p:set>
                                    <p:animEffect transition="in" filter="fade">
                                      <p:cBhvr>
                                        <p:cTn id="42" dur="1000"/>
                                        <p:tgtEl>
                                          <p:spTgt spid="1293318">
                                            <p:txEl>
                                              <p:charRg st="26" end="51"/>
                                            </p:txEl>
                                          </p:spTgt>
                                        </p:tgtEl>
                                      </p:cBhvr>
                                    </p:animEffect>
                                    <p:anim calcmode="lin" valueType="num">
                                      <p:cBhvr>
                                        <p:cTn id="43" dur="1000" fill="hold"/>
                                        <p:tgtEl>
                                          <p:spTgt spid="1293318">
                                            <p:txEl>
                                              <p:charRg st="26" end="51"/>
                                            </p:txEl>
                                          </p:spTgt>
                                        </p:tgtEl>
                                        <p:attrNameLst>
                                          <p:attrName>ppt_x</p:attrName>
                                        </p:attrNameLst>
                                      </p:cBhvr>
                                      <p:tavLst>
                                        <p:tav tm="0">
                                          <p:val>
                                            <p:strVal val="#ppt_x"/>
                                          </p:val>
                                        </p:tav>
                                        <p:tav tm="100000">
                                          <p:val>
                                            <p:strVal val="#ppt_x"/>
                                          </p:val>
                                        </p:tav>
                                      </p:tavLst>
                                    </p:anim>
                                    <p:anim calcmode="lin" valueType="num">
                                      <p:cBhvr>
                                        <p:cTn id="44" dur="1000" fill="hold"/>
                                        <p:tgtEl>
                                          <p:spTgt spid="1293318">
                                            <p:txEl>
                                              <p:charRg st="26" end="5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93319">
                                            <p:txEl>
                                              <p:charRg st="0" end="12"/>
                                            </p:txEl>
                                          </p:spTgt>
                                        </p:tgtEl>
                                        <p:attrNameLst>
                                          <p:attrName>style.visibility</p:attrName>
                                        </p:attrNameLst>
                                      </p:cBhvr>
                                      <p:to>
                                        <p:strVal val="visible"/>
                                      </p:to>
                                    </p:set>
                                    <p:animEffect transition="in" filter="fade">
                                      <p:cBhvr>
                                        <p:cTn id="49" dur="1000"/>
                                        <p:tgtEl>
                                          <p:spTgt spid="1293319">
                                            <p:txEl>
                                              <p:charRg st="0" end="12"/>
                                            </p:txEl>
                                          </p:spTgt>
                                        </p:tgtEl>
                                      </p:cBhvr>
                                    </p:animEffect>
                                    <p:anim calcmode="lin" valueType="num">
                                      <p:cBhvr>
                                        <p:cTn id="50" dur="1000" fill="hold"/>
                                        <p:tgtEl>
                                          <p:spTgt spid="1293319">
                                            <p:txEl>
                                              <p:charRg st="0" end="12"/>
                                            </p:txEl>
                                          </p:spTgt>
                                        </p:tgtEl>
                                        <p:attrNameLst>
                                          <p:attrName>ppt_x</p:attrName>
                                        </p:attrNameLst>
                                      </p:cBhvr>
                                      <p:tavLst>
                                        <p:tav tm="0">
                                          <p:val>
                                            <p:strVal val="#ppt_x"/>
                                          </p:val>
                                        </p:tav>
                                        <p:tav tm="100000">
                                          <p:val>
                                            <p:strVal val="#ppt_x"/>
                                          </p:val>
                                        </p:tav>
                                      </p:tavLst>
                                    </p:anim>
                                    <p:anim calcmode="lin" valueType="num">
                                      <p:cBhvr>
                                        <p:cTn id="51" dur="1000" fill="hold"/>
                                        <p:tgtEl>
                                          <p:spTgt spid="1293319">
                                            <p:txEl>
                                              <p:charRg st="0"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4338" name="矩形 1294337"/>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a:solidFill>
                  <a:schemeClr val="bg1"/>
                </a:solidFill>
                <a:latin typeface="Arial" panose="020B0604020202020204" pitchFamily="34" charset="0"/>
                <a:cs typeface="Arial" panose="020B0604020202020204" pitchFamily="34" charset="0"/>
              </a:rPr>
              <a:t>Focusing on the Negative</a:t>
            </a:r>
            <a:endParaRPr lang="en-US" altLang="zh-CN">
              <a:solidFill>
                <a:schemeClr val="bg1"/>
              </a:solidFill>
              <a:latin typeface="Arial" panose="020B0604020202020204" pitchFamily="34" charset="0"/>
              <a:ea typeface="Arial" panose="020B0604020202020204" pitchFamily="34" charset="0"/>
            </a:endParaRPr>
          </a:p>
        </p:txBody>
      </p:sp>
      <p:sp>
        <p:nvSpPr>
          <p:cNvPr id="1294339" name="矩形 1294338"/>
          <p:cNvSpPr/>
          <p:nvPr/>
        </p:nvSpPr>
        <p:spPr>
          <a:xfrm>
            <a:off x="0" y="1371600"/>
            <a:ext cx="9144000" cy="42672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200">
                <a:solidFill>
                  <a:srgbClr val="FFCC00"/>
                </a:solidFill>
                <a:latin typeface="Arial" panose="020B0604020202020204" pitchFamily="34" charset="0"/>
                <a:cs typeface="Arial" panose="020B0604020202020204" pitchFamily="34" charset="0"/>
              </a:rPr>
              <a:t>“The science of psychology has been far more successful on the negative than on the positive side; it has revealed to us much about man’s shortcomings, his illnesses, his sins, but little about his potentialities, his virtues, his achievable aspirations, or his psychological height.  It is as if psychology had voluntarily restricted itself to only half its rightful jurisdiction, and that the darker, meaner half.”</a:t>
            </a:r>
            <a:br>
              <a:rPr lang="en-US" altLang="zh-CN" sz="2400">
                <a:solidFill>
                  <a:srgbClr val="FFCC00"/>
                </a:solidFill>
                <a:latin typeface="Arial" panose="020B0604020202020204" pitchFamily="34" charset="0"/>
                <a:cs typeface="Arial" panose="020B0604020202020204" pitchFamily="34" charset="0"/>
              </a:rPr>
            </a:br>
            <a:r>
              <a:rPr lang="en-US" altLang="zh-CN" sz="2800">
                <a:solidFill>
                  <a:srgbClr val="FFCC00"/>
                </a:solidFill>
                <a:latin typeface="Arial" panose="020B0604020202020204" pitchFamily="34" charset="0"/>
                <a:cs typeface="Arial" panose="020B0604020202020204" pitchFamily="34" charset="0"/>
              </a:rPr>
              <a:t>						     Abraham </a:t>
            </a:r>
            <a:r>
              <a:rPr lang="en-US" altLang="zh-CN" sz="2800" err="1">
                <a:solidFill>
                  <a:srgbClr val="FFCC00"/>
                </a:solidFill>
                <a:latin typeface="Arial" panose="020B0604020202020204" pitchFamily="34" charset="0"/>
                <a:cs typeface="Arial" panose="020B0604020202020204" pitchFamily="34" charset="0"/>
              </a:rPr>
              <a:t>Maslow</a:t>
            </a:r>
            <a:endParaRPr lang="en-US" altLang="zh-CN" sz="28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4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433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5362" name="矩形 1295361"/>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a:solidFill>
                  <a:schemeClr val="bg1"/>
                </a:solidFill>
                <a:latin typeface="Arial" panose="020B0604020202020204" pitchFamily="34" charset="0"/>
                <a:cs typeface="Arial" panose="020B0604020202020204" pitchFamily="34" charset="0"/>
              </a:rPr>
              <a:t>Accentuating the Positive</a:t>
            </a:r>
            <a:endParaRPr lang="en-US" altLang="zh-CN">
              <a:solidFill>
                <a:schemeClr val="bg1"/>
              </a:solidFill>
              <a:latin typeface="Arial" panose="020B0604020202020204" pitchFamily="34" charset="0"/>
              <a:ea typeface="Arial" panose="020B0604020202020204" pitchFamily="34" charset="0"/>
            </a:endParaRPr>
          </a:p>
        </p:txBody>
      </p:sp>
      <p:sp>
        <p:nvSpPr>
          <p:cNvPr id="1295363" name="矩形 1295362"/>
          <p:cNvSpPr/>
          <p:nvPr/>
        </p:nvSpPr>
        <p:spPr>
          <a:xfrm>
            <a:off x="76200" y="1219200"/>
            <a:ext cx="9067800" cy="26670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200">
                <a:solidFill>
                  <a:srgbClr val="FFCC00"/>
                </a:solidFill>
                <a:latin typeface="Arial" panose="020B0604020202020204" pitchFamily="34" charset="0"/>
                <a:cs typeface="Arial" panose="020B0604020202020204" pitchFamily="34" charset="0"/>
              </a:rPr>
              <a:t>“The aim of Positive Psychology is to catalyze a change in psychology from a preoccupation only with repairing the worst things in life to also building the best qualities in life.”</a:t>
            </a:r>
            <a:br>
              <a:rPr lang="en-US" altLang="zh-CN" sz="3200">
                <a:solidFill>
                  <a:srgbClr val="FFCC00"/>
                </a:solidFill>
                <a:latin typeface="Arial" panose="020B0604020202020204" pitchFamily="34" charset="0"/>
                <a:cs typeface="Arial" panose="020B0604020202020204" pitchFamily="34" charset="0"/>
              </a:rPr>
            </a:br>
            <a:r>
              <a:rPr lang="en-US" altLang="zh-CN" sz="2800">
                <a:solidFill>
                  <a:srgbClr val="FFCC00"/>
                </a:solidFill>
                <a:latin typeface="Arial" panose="020B0604020202020204" pitchFamily="34" charset="0"/>
                <a:cs typeface="Arial" panose="020B0604020202020204" pitchFamily="34" charset="0"/>
              </a:rPr>
              <a:t>						  Martin Seligman</a:t>
            </a:r>
            <a:endParaRPr lang="en-US" altLang="zh-CN" sz="28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5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53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5842" name="矩形 1315841"/>
          <p:cNvSpPr/>
          <p:nvPr/>
        </p:nvSpPr>
        <p:spPr>
          <a:xfrm>
            <a:off x="838200" y="228600"/>
            <a:ext cx="7772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Psychology Needs Help</a:t>
            </a:r>
            <a:endParaRPr lang="en-US" altLang="zh-CN" sz="4000">
              <a:solidFill>
                <a:schemeClr val="bg1"/>
              </a:solidFill>
              <a:latin typeface="Arial" panose="020B0604020202020204" pitchFamily="34" charset="0"/>
              <a:ea typeface="Arial" panose="020B0604020202020204" pitchFamily="34" charset="0"/>
            </a:endParaRPr>
          </a:p>
        </p:txBody>
      </p:sp>
      <p:sp>
        <p:nvSpPr>
          <p:cNvPr id="1315843" name="矩形 1315842"/>
          <p:cNvSpPr/>
          <p:nvPr/>
        </p:nvSpPr>
        <p:spPr>
          <a:xfrm>
            <a:off x="76200" y="1143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21/1 ratio is unhealthy</a:t>
            </a:r>
            <a:r>
              <a:rPr lang="en-US" altLang="zh-CN" sz="3500">
                <a:solidFill>
                  <a:schemeClr val="bg1"/>
                </a:solidFill>
                <a:latin typeface="Arial" panose="020B0604020202020204" pitchFamily="34" charset="0"/>
                <a:ea typeface="Arial" panose="020B0604020202020204" pitchFamily="34" charset="0"/>
              </a:rPr>
              <a:t>…</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ea typeface="Arial" panose="020B0604020202020204" pitchFamily="34" charset="0"/>
              </a:rPr>
              <a:t>…</a:t>
            </a:r>
            <a:r>
              <a:rPr lang="en-US" altLang="zh-CN" sz="3500">
                <a:solidFill>
                  <a:schemeClr val="bg1"/>
                </a:solidFill>
                <a:latin typeface="Arial" panose="020B0604020202020204" pitchFamily="34" charset="0"/>
                <a:cs typeface="Arial" panose="020B0604020202020204" pitchFamily="34" charset="0"/>
              </a:rPr>
              <a:t> but it reflects reality</a:t>
            </a:r>
            <a:endParaRPr lang="en-US" altLang="zh-CN" sz="3500">
              <a:solidFill>
                <a:schemeClr val="bg1"/>
              </a:solidFill>
              <a:latin typeface="Arial" panose="020B0604020202020204" pitchFamily="34" charset="0"/>
              <a:cs typeface="Arial" panose="020B0604020202020204" pitchFamily="34" charset="0"/>
            </a:endParaRPr>
          </a:p>
          <a:p>
            <a:pPr lvl="1"/>
            <a:r>
              <a:rPr lang="en-US" altLang="zh-CN" sz="3100">
                <a:solidFill>
                  <a:schemeClr val="bg1"/>
                </a:solidFill>
                <a:latin typeface="Arial" panose="020B0604020202020204" pitchFamily="34" charset="0"/>
                <a:cs typeface="Arial" panose="020B0604020202020204" pitchFamily="34" charset="0"/>
              </a:rPr>
              <a:t> depression 10 times higher today than 1960</a:t>
            </a:r>
            <a:endParaRPr lang="en-US" altLang="zh-CN" sz="3100">
              <a:solidFill>
                <a:schemeClr val="bg1"/>
              </a:solidFill>
              <a:latin typeface="Arial" panose="020B0604020202020204" pitchFamily="34" charset="0"/>
              <a:cs typeface="Arial" panose="020B0604020202020204" pitchFamily="34" charset="0"/>
            </a:endParaRPr>
          </a:p>
          <a:p>
            <a:pPr lvl="1"/>
            <a:r>
              <a:rPr lang="en-US" altLang="zh-CN" sz="3100">
                <a:solidFill>
                  <a:schemeClr val="bg1"/>
                </a:solidFill>
                <a:latin typeface="Arial" panose="020B0604020202020204" pitchFamily="34" charset="0"/>
                <a:cs typeface="Arial" panose="020B0604020202020204" pitchFamily="34" charset="0"/>
              </a:rPr>
              <a:t> mean age for depression today is 14.5 (compared to 29.5 in 1960)</a:t>
            </a:r>
            <a:endParaRPr lang="en-US" altLang="zh-CN" sz="31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315842"/>
                                        </p:tgtEl>
                                        <p:attrNameLst>
                                          <p:attrName>style.visibility</p:attrName>
                                        </p:attrNameLst>
                                      </p:cBhvr>
                                      <p:to>
                                        <p:strVal val="visible"/>
                                      </p:to>
                                    </p:set>
                                    <p:anim calcmode="lin" valueType="num">
                                      <p:cBhvr>
                                        <p:cTn id="7" dur="1000" fill="hold"/>
                                        <p:tgtEl>
                                          <p:spTgt spid="1315842"/>
                                        </p:tgtEl>
                                        <p:attrNameLst>
                                          <p:attrName>ppt_x</p:attrName>
                                        </p:attrNameLst>
                                      </p:cBhvr>
                                      <p:tavLst>
                                        <p:tav tm="0">
                                          <p:val>
                                            <p:strVal val="#ppt_x-.2"/>
                                          </p:val>
                                        </p:tav>
                                        <p:tav tm="100000">
                                          <p:val>
                                            <p:strVal val="#ppt_x"/>
                                          </p:val>
                                        </p:tav>
                                      </p:tavLst>
                                    </p:anim>
                                    <p:anim calcmode="lin" valueType="num">
                                      <p:cBhvr>
                                        <p:cTn id="8" dur="1000" fill="hold"/>
                                        <p:tgtEl>
                                          <p:spTgt spid="1315842"/>
                                        </p:tgtEl>
                                        <p:attrNameLst>
                                          <p:attrName>ppt_y</p:attrName>
                                        </p:attrNameLst>
                                      </p:cBhvr>
                                      <p:tavLst>
                                        <p:tav tm="0">
                                          <p:val>
                                            <p:strVal val="#ppt_y"/>
                                          </p:val>
                                        </p:tav>
                                        <p:tav tm="100000">
                                          <p:val>
                                            <p:strVal val="#ppt_y"/>
                                          </p:val>
                                        </p:tav>
                                      </p:tavLst>
                                    </p:anim>
                                    <p:animEffect transition="in" filter="wipe(right)" prLst="gradientSize: 0.1">
                                      <p:cBhvr>
                                        <p:cTn id="9" dur="1000"/>
                                        <p:tgtEl>
                                          <p:spTgt spid="131584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15843">
                                            <p:txEl>
                                              <p:charRg st="0" end="25"/>
                                            </p:txEl>
                                          </p:spTgt>
                                        </p:tgtEl>
                                        <p:attrNameLst>
                                          <p:attrName>style.visibility</p:attrName>
                                        </p:attrNameLst>
                                      </p:cBhvr>
                                      <p:to>
                                        <p:strVal val="visible"/>
                                      </p:to>
                                    </p:set>
                                    <p:animEffect transition="in" filter="fade">
                                      <p:cBhvr>
                                        <p:cTn id="14" dur="1000"/>
                                        <p:tgtEl>
                                          <p:spTgt spid="1315843">
                                            <p:txEl>
                                              <p:charRg st="0" end="25"/>
                                            </p:txEl>
                                          </p:spTgt>
                                        </p:tgtEl>
                                      </p:cBhvr>
                                    </p:animEffect>
                                    <p:anim calcmode="lin" valueType="num">
                                      <p:cBhvr>
                                        <p:cTn id="15" dur="1000" fill="hold"/>
                                        <p:tgtEl>
                                          <p:spTgt spid="1315843">
                                            <p:txEl>
                                              <p:charRg st="0" end="25"/>
                                            </p:txEl>
                                          </p:spTgt>
                                        </p:tgtEl>
                                        <p:attrNameLst>
                                          <p:attrName>ppt_x</p:attrName>
                                        </p:attrNameLst>
                                      </p:cBhvr>
                                      <p:tavLst>
                                        <p:tav tm="0">
                                          <p:val>
                                            <p:strVal val="#ppt_x"/>
                                          </p:val>
                                        </p:tav>
                                        <p:tav tm="100000">
                                          <p:val>
                                            <p:strVal val="#ppt_x"/>
                                          </p:val>
                                        </p:tav>
                                      </p:tavLst>
                                    </p:anim>
                                    <p:anim calcmode="lin" valueType="num">
                                      <p:cBhvr>
                                        <p:cTn id="16" dur="1000" fill="hold"/>
                                        <p:tgtEl>
                                          <p:spTgt spid="1315843">
                                            <p:txEl>
                                              <p:charRg st="0" end="2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15843">
                                            <p:txEl>
                                              <p:charRg st="25" end="51"/>
                                            </p:txEl>
                                          </p:spTgt>
                                        </p:tgtEl>
                                        <p:attrNameLst>
                                          <p:attrName>style.visibility</p:attrName>
                                        </p:attrNameLst>
                                      </p:cBhvr>
                                      <p:to>
                                        <p:strVal val="visible"/>
                                      </p:to>
                                    </p:set>
                                    <p:animEffect transition="in" filter="fade">
                                      <p:cBhvr>
                                        <p:cTn id="21" dur="1000"/>
                                        <p:tgtEl>
                                          <p:spTgt spid="1315843">
                                            <p:txEl>
                                              <p:charRg st="25" end="51"/>
                                            </p:txEl>
                                          </p:spTgt>
                                        </p:tgtEl>
                                      </p:cBhvr>
                                    </p:animEffect>
                                    <p:anim calcmode="lin" valueType="num">
                                      <p:cBhvr>
                                        <p:cTn id="22" dur="1000" fill="hold"/>
                                        <p:tgtEl>
                                          <p:spTgt spid="1315843">
                                            <p:txEl>
                                              <p:charRg st="25" end="51"/>
                                            </p:txEl>
                                          </p:spTgt>
                                        </p:tgtEl>
                                        <p:attrNameLst>
                                          <p:attrName>ppt_x</p:attrName>
                                        </p:attrNameLst>
                                      </p:cBhvr>
                                      <p:tavLst>
                                        <p:tav tm="0">
                                          <p:val>
                                            <p:strVal val="#ppt_x"/>
                                          </p:val>
                                        </p:tav>
                                        <p:tav tm="100000">
                                          <p:val>
                                            <p:strVal val="#ppt_x"/>
                                          </p:val>
                                        </p:tav>
                                      </p:tavLst>
                                    </p:anim>
                                    <p:anim calcmode="lin" valueType="num">
                                      <p:cBhvr>
                                        <p:cTn id="23" dur="1000" fill="hold"/>
                                        <p:tgtEl>
                                          <p:spTgt spid="1315843">
                                            <p:txEl>
                                              <p:charRg st="25" end="5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15843">
                                            <p:txEl>
                                              <p:charRg st="51" end="95"/>
                                            </p:txEl>
                                          </p:spTgt>
                                        </p:tgtEl>
                                        <p:attrNameLst>
                                          <p:attrName>style.visibility</p:attrName>
                                        </p:attrNameLst>
                                      </p:cBhvr>
                                      <p:to>
                                        <p:strVal val="visible"/>
                                      </p:to>
                                    </p:set>
                                    <p:animEffect transition="in" filter="fade">
                                      <p:cBhvr>
                                        <p:cTn id="28" dur="1000"/>
                                        <p:tgtEl>
                                          <p:spTgt spid="1315843">
                                            <p:txEl>
                                              <p:charRg st="51" end="95"/>
                                            </p:txEl>
                                          </p:spTgt>
                                        </p:tgtEl>
                                      </p:cBhvr>
                                    </p:animEffect>
                                    <p:anim calcmode="lin" valueType="num">
                                      <p:cBhvr>
                                        <p:cTn id="29" dur="1000" fill="hold"/>
                                        <p:tgtEl>
                                          <p:spTgt spid="1315843">
                                            <p:txEl>
                                              <p:charRg st="51" end="95"/>
                                            </p:txEl>
                                          </p:spTgt>
                                        </p:tgtEl>
                                        <p:attrNameLst>
                                          <p:attrName>ppt_x</p:attrName>
                                        </p:attrNameLst>
                                      </p:cBhvr>
                                      <p:tavLst>
                                        <p:tav tm="0">
                                          <p:val>
                                            <p:strVal val="#ppt_x"/>
                                          </p:val>
                                        </p:tav>
                                        <p:tav tm="100000">
                                          <p:val>
                                            <p:strVal val="#ppt_x"/>
                                          </p:val>
                                        </p:tav>
                                      </p:tavLst>
                                    </p:anim>
                                    <p:anim calcmode="lin" valueType="num">
                                      <p:cBhvr>
                                        <p:cTn id="30" dur="1000" fill="hold"/>
                                        <p:tgtEl>
                                          <p:spTgt spid="1315843">
                                            <p:txEl>
                                              <p:charRg st="51" end="9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15843">
                                            <p:txEl>
                                              <p:charRg st="95" end="161"/>
                                            </p:txEl>
                                          </p:spTgt>
                                        </p:tgtEl>
                                        <p:attrNameLst>
                                          <p:attrName>style.visibility</p:attrName>
                                        </p:attrNameLst>
                                      </p:cBhvr>
                                      <p:to>
                                        <p:strVal val="visible"/>
                                      </p:to>
                                    </p:set>
                                    <p:animEffect transition="in" filter="fade">
                                      <p:cBhvr>
                                        <p:cTn id="35" dur="1000"/>
                                        <p:tgtEl>
                                          <p:spTgt spid="1315843">
                                            <p:txEl>
                                              <p:charRg st="95" end="161"/>
                                            </p:txEl>
                                          </p:spTgt>
                                        </p:tgtEl>
                                      </p:cBhvr>
                                    </p:animEffect>
                                    <p:anim calcmode="lin" valueType="num">
                                      <p:cBhvr>
                                        <p:cTn id="36" dur="1000" fill="hold"/>
                                        <p:tgtEl>
                                          <p:spTgt spid="1315843">
                                            <p:txEl>
                                              <p:charRg st="95" end="161"/>
                                            </p:txEl>
                                          </p:spTgt>
                                        </p:tgtEl>
                                        <p:attrNameLst>
                                          <p:attrName>ppt_x</p:attrName>
                                        </p:attrNameLst>
                                      </p:cBhvr>
                                      <p:tavLst>
                                        <p:tav tm="0">
                                          <p:val>
                                            <p:strVal val="#ppt_x"/>
                                          </p:val>
                                        </p:tav>
                                        <p:tav tm="100000">
                                          <p:val>
                                            <p:strVal val="#ppt_x"/>
                                          </p:val>
                                        </p:tav>
                                      </p:tavLst>
                                    </p:anim>
                                    <p:anim calcmode="lin" valueType="num">
                                      <p:cBhvr>
                                        <p:cTn id="37" dur="1000" fill="hold"/>
                                        <p:tgtEl>
                                          <p:spTgt spid="1315843">
                                            <p:txEl>
                                              <p:charRg st="95" end="16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584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74882" name="图片 1274881"/>
          <p:cNvPicPr>
            <a:picLocks noChangeAspect="1"/>
          </p:cNvPicPr>
          <p:nvPr/>
        </p:nvPicPr>
        <p:blipFill>
          <a:blip r:embed="rId1"/>
          <a:srcRect l="12189" t="16252" r="36568" b="30003"/>
          <a:stretch>
            <a:fillRect/>
          </a:stretch>
        </p:blipFill>
        <p:spPr>
          <a:xfrm>
            <a:off x="0" y="-98425"/>
            <a:ext cx="9144000" cy="7013575"/>
          </a:xfrm>
          <a:prstGeom prst="rect">
            <a:avLst/>
          </a:prstGeom>
          <a:noFill/>
          <a:ln w="1270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6866" name="矩形 1316865"/>
          <p:cNvSpPr/>
          <p:nvPr/>
        </p:nvSpPr>
        <p:spPr>
          <a:xfrm>
            <a:off x="838200" y="228600"/>
            <a:ext cx="7772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Does Psychology Need Help?</a:t>
            </a:r>
            <a:endParaRPr lang="en-US" altLang="zh-CN" sz="4000">
              <a:solidFill>
                <a:schemeClr val="bg1"/>
              </a:solidFill>
              <a:latin typeface="Arial" panose="020B0604020202020204" pitchFamily="34" charset="0"/>
              <a:ea typeface="Arial" panose="020B0604020202020204" pitchFamily="34" charset="0"/>
            </a:endParaRPr>
          </a:p>
        </p:txBody>
      </p:sp>
      <p:sp>
        <p:nvSpPr>
          <p:cNvPr id="1316868" name="矩形 1316867"/>
          <p:cNvSpPr/>
          <p:nvPr/>
        </p:nvSpPr>
        <p:spPr>
          <a:xfrm>
            <a:off x="76200" y="9906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21/1 ratio of studies is unhealthy</a:t>
            </a:r>
            <a:r>
              <a:rPr lang="en-US" altLang="zh-CN" sz="3500">
                <a:solidFill>
                  <a:schemeClr val="bg1"/>
                </a:solidFill>
                <a:latin typeface="Arial" panose="020B0604020202020204" pitchFamily="34" charset="0"/>
                <a:ea typeface="Arial" panose="020B0604020202020204" pitchFamily="34" charset="0"/>
              </a:rPr>
              <a:t>…</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ea typeface="Arial" panose="020B0604020202020204" pitchFamily="34" charset="0"/>
              </a:rPr>
              <a:t>…</a:t>
            </a:r>
            <a:r>
              <a:rPr lang="en-US" altLang="zh-CN" sz="3500">
                <a:solidFill>
                  <a:schemeClr val="bg1"/>
                </a:solidFill>
                <a:latin typeface="Arial" panose="020B0604020202020204" pitchFamily="34" charset="0"/>
                <a:cs typeface="Arial" panose="020B0604020202020204" pitchFamily="34" charset="0"/>
              </a:rPr>
              <a:t> but it reflects reality</a:t>
            </a:r>
            <a:endParaRPr lang="en-US" altLang="zh-CN" sz="3500">
              <a:solidFill>
                <a:schemeClr val="bg1"/>
              </a:solidFill>
              <a:latin typeface="Arial" panose="020B0604020202020204" pitchFamily="34" charset="0"/>
              <a:cs typeface="Arial" panose="020B0604020202020204" pitchFamily="34" charset="0"/>
            </a:endParaRPr>
          </a:p>
          <a:p>
            <a:pPr lvl="1"/>
            <a:r>
              <a:rPr lang="en-US" altLang="zh-CN" sz="3000">
                <a:solidFill>
                  <a:schemeClr val="bg1"/>
                </a:solidFill>
                <a:latin typeface="Arial" panose="020B0604020202020204" pitchFamily="34" charset="0"/>
                <a:cs typeface="Arial" panose="020B0604020202020204" pitchFamily="34" charset="0"/>
              </a:rPr>
              <a:t>depression 10 times higher today than 1960</a:t>
            </a:r>
            <a:endParaRPr lang="en-US" altLang="zh-CN" sz="3000">
              <a:solidFill>
                <a:schemeClr val="bg1"/>
              </a:solidFill>
              <a:latin typeface="Arial" panose="020B0604020202020204" pitchFamily="34" charset="0"/>
              <a:cs typeface="Arial" panose="020B0604020202020204" pitchFamily="34" charset="0"/>
            </a:endParaRPr>
          </a:p>
          <a:p>
            <a:pPr lvl="1"/>
            <a:r>
              <a:rPr lang="en-US" altLang="zh-CN" sz="3000">
                <a:solidFill>
                  <a:schemeClr val="bg1"/>
                </a:solidFill>
                <a:latin typeface="Arial" panose="020B0604020202020204" pitchFamily="34" charset="0"/>
                <a:cs typeface="Arial" panose="020B0604020202020204" pitchFamily="34" charset="0"/>
              </a:rPr>
              <a:t>mean age for depression today is 14.5 (compared to 29.5 in 1960)</a:t>
            </a:r>
            <a:endParaRPr lang="en-US" altLang="zh-CN" sz="3000">
              <a:solidFill>
                <a:schemeClr val="bg1"/>
              </a:solidFill>
              <a:latin typeface="Arial" panose="020B0604020202020204" pitchFamily="34" charset="0"/>
              <a:cs typeface="Arial" panose="020B0604020202020204" pitchFamily="34" charset="0"/>
            </a:endParaRPr>
          </a:p>
          <a:p>
            <a:pPr lvl="1"/>
            <a:r>
              <a:rPr lang="en-US" altLang="zh-CN" sz="3000">
                <a:solidFill>
                  <a:schemeClr val="bg1"/>
                </a:solidFill>
                <a:latin typeface="Arial" panose="020B0604020202020204" pitchFamily="34" charset="0"/>
                <a:cs typeface="Arial" panose="020B0604020202020204" pitchFamily="34" charset="0"/>
              </a:rPr>
              <a:t>80% of Harvard students depressed at least once last year</a:t>
            </a:r>
            <a:endParaRPr lang="en-US" altLang="zh-CN" sz="3000">
              <a:solidFill>
                <a:schemeClr val="bg1"/>
              </a:solidFill>
              <a:latin typeface="Arial" panose="020B0604020202020204" pitchFamily="34" charset="0"/>
              <a:cs typeface="Arial" panose="020B0604020202020204" pitchFamily="34" charset="0"/>
            </a:endParaRPr>
          </a:p>
          <a:p>
            <a:pPr lvl="1"/>
            <a:r>
              <a:rPr lang="en-US" altLang="zh-CN" sz="3000">
                <a:solidFill>
                  <a:schemeClr val="bg1"/>
                </a:solidFill>
                <a:latin typeface="Arial" panose="020B0604020202020204" pitchFamily="34" charset="0"/>
                <a:cs typeface="Arial" panose="020B0604020202020204" pitchFamily="34" charset="0"/>
              </a:rPr>
              <a:t>45% of college students nationwide depressed; 94% overwhelmed (</a:t>
            </a:r>
            <a:r>
              <a:rPr lang="en-US" altLang="zh-CN" sz="3000" err="1">
                <a:solidFill>
                  <a:schemeClr val="bg1"/>
                </a:solidFill>
                <a:latin typeface="Arial" panose="020B0604020202020204" pitchFamily="34" charset="0"/>
                <a:cs typeface="Arial" panose="020B0604020202020204" pitchFamily="34" charset="0"/>
              </a:rPr>
              <a:t>Kadison</a:t>
            </a:r>
            <a:r>
              <a:rPr lang="en-US" altLang="zh-CN" sz="3000">
                <a:solidFill>
                  <a:schemeClr val="bg1"/>
                </a:solidFill>
                <a:latin typeface="Arial" panose="020B0604020202020204" pitchFamily="34" charset="0"/>
                <a:cs typeface="Arial" panose="020B0604020202020204" pitchFamily="34" charset="0"/>
              </a:rPr>
              <a:t>, 2005)</a:t>
            </a:r>
            <a:endParaRPr lang="en-US" altLang="zh-CN" sz="30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16868">
                                            <p:txEl>
                                              <p:charRg st="228" end="306"/>
                                            </p:txEl>
                                          </p:spTgt>
                                        </p:tgtEl>
                                        <p:attrNameLst>
                                          <p:attrName>style.visibility</p:attrName>
                                        </p:attrNameLst>
                                      </p:cBhvr>
                                      <p:to>
                                        <p:strVal val="visible"/>
                                      </p:to>
                                    </p:set>
                                    <p:animEffect transition="in" filter="fade">
                                      <p:cBhvr>
                                        <p:cTn id="7" dur="1000"/>
                                        <p:tgtEl>
                                          <p:spTgt spid="1316868">
                                            <p:txEl>
                                              <p:charRg st="228" end="306"/>
                                            </p:txEl>
                                          </p:spTgt>
                                        </p:tgtEl>
                                      </p:cBhvr>
                                    </p:animEffect>
                                    <p:anim calcmode="lin" valueType="num">
                                      <p:cBhvr>
                                        <p:cTn id="8" dur="1000" fill="hold"/>
                                        <p:tgtEl>
                                          <p:spTgt spid="1316868">
                                            <p:txEl>
                                              <p:charRg st="228" end="306"/>
                                            </p:txEl>
                                          </p:spTgt>
                                        </p:tgtEl>
                                        <p:attrNameLst>
                                          <p:attrName>ppt_x</p:attrName>
                                        </p:attrNameLst>
                                      </p:cBhvr>
                                      <p:tavLst>
                                        <p:tav tm="0">
                                          <p:val>
                                            <p:strVal val="#ppt_x"/>
                                          </p:val>
                                        </p:tav>
                                        <p:tav tm="100000">
                                          <p:val>
                                            <p:strVal val="#ppt_x"/>
                                          </p:val>
                                        </p:tav>
                                      </p:tavLst>
                                    </p:anim>
                                    <p:anim calcmode="lin" valueType="num">
                                      <p:cBhvr>
                                        <p:cTn id="9" dur="1000" fill="hold"/>
                                        <p:tgtEl>
                                          <p:spTgt spid="1316868">
                                            <p:txEl>
                                              <p:charRg st="228" end="30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7410" name="矩形 1297409"/>
          <p:cNvSpPr/>
          <p:nvPr/>
        </p:nvSpPr>
        <p:spPr>
          <a:xfrm>
            <a:off x="838200" y="228600"/>
            <a:ext cx="7772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Why More “Positive” Research?</a:t>
            </a:r>
            <a:endParaRPr lang="en-US" altLang="zh-CN" sz="4000">
              <a:solidFill>
                <a:schemeClr val="bg1"/>
              </a:solidFill>
              <a:latin typeface="Arial" panose="020B0604020202020204" pitchFamily="34" charset="0"/>
              <a:ea typeface="Arial" panose="020B0604020202020204" pitchFamily="34" charset="0"/>
            </a:endParaRPr>
          </a:p>
        </p:txBody>
      </p:sp>
      <p:sp>
        <p:nvSpPr>
          <p:cNvPr id="1297411" name="矩形 1297410"/>
          <p:cNvSpPr/>
          <p:nvPr/>
        </p:nvSpPr>
        <p:spPr>
          <a:xfrm>
            <a:off x="76200" y="1143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Psychology as creative rather than merely reactive</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Happiness is not the negation of unhappiness</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Prevention through cultivating the positive</a:t>
            </a:r>
            <a:endParaRPr lang="en-US" altLang="zh-CN" sz="35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97410"/>
                                        </p:tgtEl>
                                        <p:attrNameLst>
                                          <p:attrName>style.visibility</p:attrName>
                                        </p:attrNameLst>
                                      </p:cBhvr>
                                      <p:to>
                                        <p:strVal val="visible"/>
                                      </p:to>
                                    </p:set>
                                    <p:anim calcmode="lin" valueType="num">
                                      <p:cBhvr>
                                        <p:cTn id="7" dur="1000" fill="hold"/>
                                        <p:tgtEl>
                                          <p:spTgt spid="1297410"/>
                                        </p:tgtEl>
                                        <p:attrNameLst>
                                          <p:attrName>ppt_x</p:attrName>
                                        </p:attrNameLst>
                                      </p:cBhvr>
                                      <p:tavLst>
                                        <p:tav tm="0">
                                          <p:val>
                                            <p:strVal val="#ppt_x-.2"/>
                                          </p:val>
                                        </p:tav>
                                        <p:tav tm="100000">
                                          <p:val>
                                            <p:strVal val="#ppt_x"/>
                                          </p:val>
                                        </p:tav>
                                      </p:tavLst>
                                    </p:anim>
                                    <p:anim calcmode="lin" valueType="num">
                                      <p:cBhvr>
                                        <p:cTn id="8" dur="1000" fill="hold"/>
                                        <p:tgtEl>
                                          <p:spTgt spid="12974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29741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97411">
                                            <p:txEl>
                                              <p:charRg st="0" end="51"/>
                                            </p:txEl>
                                          </p:spTgt>
                                        </p:tgtEl>
                                        <p:attrNameLst>
                                          <p:attrName>style.visibility</p:attrName>
                                        </p:attrNameLst>
                                      </p:cBhvr>
                                      <p:to>
                                        <p:strVal val="visible"/>
                                      </p:to>
                                    </p:set>
                                    <p:animEffect transition="in" filter="fade">
                                      <p:cBhvr>
                                        <p:cTn id="14" dur="1000"/>
                                        <p:tgtEl>
                                          <p:spTgt spid="1297411">
                                            <p:txEl>
                                              <p:charRg st="0" end="51"/>
                                            </p:txEl>
                                          </p:spTgt>
                                        </p:tgtEl>
                                      </p:cBhvr>
                                    </p:animEffect>
                                    <p:anim calcmode="lin" valueType="num">
                                      <p:cBhvr>
                                        <p:cTn id="15" dur="1000" fill="hold"/>
                                        <p:tgtEl>
                                          <p:spTgt spid="1297411">
                                            <p:txEl>
                                              <p:charRg st="0" end="51"/>
                                            </p:txEl>
                                          </p:spTgt>
                                        </p:tgtEl>
                                        <p:attrNameLst>
                                          <p:attrName>ppt_x</p:attrName>
                                        </p:attrNameLst>
                                      </p:cBhvr>
                                      <p:tavLst>
                                        <p:tav tm="0">
                                          <p:val>
                                            <p:strVal val="#ppt_x"/>
                                          </p:val>
                                        </p:tav>
                                        <p:tav tm="100000">
                                          <p:val>
                                            <p:strVal val="#ppt_x"/>
                                          </p:val>
                                        </p:tav>
                                      </p:tavLst>
                                    </p:anim>
                                    <p:anim calcmode="lin" valueType="num">
                                      <p:cBhvr>
                                        <p:cTn id="16" dur="1000" fill="hold"/>
                                        <p:tgtEl>
                                          <p:spTgt spid="1297411">
                                            <p:txEl>
                                              <p:charRg st="0" end="5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97411">
                                            <p:txEl>
                                              <p:charRg st="51" end="96"/>
                                            </p:txEl>
                                          </p:spTgt>
                                        </p:tgtEl>
                                        <p:attrNameLst>
                                          <p:attrName>style.visibility</p:attrName>
                                        </p:attrNameLst>
                                      </p:cBhvr>
                                      <p:to>
                                        <p:strVal val="visible"/>
                                      </p:to>
                                    </p:set>
                                    <p:animEffect transition="in" filter="fade">
                                      <p:cBhvr>
                                        <p:cTn id="21" dur="1000"/>
                                        <p:tgtEl>
                                          <p:spTgt spid="1297411">
                                            <p:txEl>
                                              <p:charRg st="51" end="96"/>
                                            </p:txEl>
                                          </p:spTgt>
                                        </p:tgtEl>
                                      </p:cBhvr>
                                    </p:animEffect>
                                    <p:anim calcmode="lin" valueType="num">
                                      <p:cBhvr>
                                        <p:cTn id="22" dur="1000" fill="hold"/>
                                        <p:tgtEl>
                                          <p:spTgt spid="1297411">
                                            <p:txEl>
                                              <p:charRg st="51" end="96"/>
                                            </p:txEl>
                                          </p:spTgt>
                                        </p:tgtEl>
                                        <p:attrNameLst>
                                          <p:attrName>ppt_x</p:attrName>
                                        </p:attrNameLst>
                                      </p:cBhvr>
                                      <p:tavLst>
                                        <p:tav tm="0">
                                          <p:val>
                                            <p:strVal val="#ppt_x"/>
                                          </p:val>
                                        </p:tav>
                                        <p:tav tm="100000">
                                          <p:val>
                                            <p:strVal val="#ppt_x"/>
                                          </p:val>
                                        </p:tav>
                                      </p:tavLst>
                                    </p:anim>
                                    <p:anim calcmode="lin" valueType="num">
                                      <p:cBhvr>
                                        <p:cTn id="23" dur="1000" fill="hold"/>
                                        <p:tgtEl>
                                          <p:spTgt spid="1297411">
                                            <p:txEl>
                                              <p:charRg st="51" end="9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97411">
                                            <p:txEl>
                                              <p:charRg st="96" end="140"/>
                                            </p:txEl>
                                          </p:spTgt>
                                        </p:tgtEl>
                                        <p:attrNameLst>
                                          <p:attrName>style.visibility</p:attrName>
                                        </p:attrNameLst>
                                      </p:cBhvr>
                                      <p:to>
                                        <p:strVal val="visible"/>
                                      </p:to>
                                    </p:set>
                                    <p:animEffect transition="in" filter="fade">
                                      <p:cBhvr>
                                        <p:cTn id="28" dur="1000"/>
                                        <p:tgtEl>
                                          <p:spTgt spid="1297411">
                                            <p:txEl>
                                              <p:charRg st="96" end="140"/>
                                            </p:txEl>
                                          </p:spTgt>
                                        </p:tgtEl>
                                      </p:cBhvr>
                                    </p:animEffect>
                                    <p:anim calcmode="lin" valueType="num">
                                      <p:cBhvr>
                                        <p:cTn id="29" dur="1000" fill="hold"/>
                                        <p:tgtEl>
                                          <p:spTgt spid="1297411">
                                            <p:txEl>
                                              <p:charRg st="96" end="140"/>
                                            </p:txEl>
                                          </p:spTgt>
                                        </p:tgtEl>
                                        <p:attrNameLst>
                                          <p:attrName>ppt_x</p:attrName>
                                        </p:attrNameLst>
                                      </p:cBhvr>
                                      <p:tavLst>
                                        <p:tav tm="0">
                                          <p:val>
                                            <p:strVal val="#ppt_x"/>
                                          </p:val>
                                        </p:tav>
                                        <p:tav tm="100000">
                                          <p:val>
                                            <p:strVal val="#ppt_x"/>
                                          </p:val>
                                        </p:tav>
                                      </p:tavLst>
                                    </p:anim>
                                    <p:anim calcmode="lin" valueType="num">
                                      <p:cBhvr>
                                        <p:cTn id="30" dur="1000" fill="hold"/>
                                        <p:tgtEl>
                                          <p:spTgt spid="1297411">
                                            <p:txEl>
                                              <p:charRg st="96" end="14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74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75906" name="矩形 1275905"/>
          <p:cNvSpPr/>
          <p:nvPr/>
        </p:nvSpPr>
        <p:spPr>
          <a:xfrm>
            <a:off x="1979613" y="1508125"/>
            <a:ext cx="2743200" cy="1311275"/>
          </a:xfrm>
          <a:prstGeom prst="rect">
            <a:avLst/>
          </a:prstGeom>
          <a:noFill/>
          <a:ln w="9525">
            <a:noFill/>
          </a:ln>
        </p:spPr>
        <p:txBody>
          <a:bodyPr lIns="92075" tIns="46038" rIns="92075" bIns="46038">
            <a:spAutoFit/>
          </a:bodyPr>
          <a:p>
            <a:pPr algn="ctr">
              <a:spcBef>
                <a:spcPct val="50000"/>
              </a:spcBef>
            </a:pPr>
            <a:r>
              <a:rPr lang="en-US" altLang="zh-CN" sz="4000" i="1">
                <a:solidFill>
                  <a:schemeClr val="bg1"/>
                </a:solidFill>
                <a:latin typeface="Arial" panose="020B0604020202020204" pitchFamily="34" charset="0"/>
              </a:rPr>
              <a:t>“Negative” Research</a:t>
            </a:r>
            <a:endParaRPr lang="en-US" altLang="zh-CN" sz="4000" i="1">
              <a:solidFill>
                <a:schemeClr val="bg1"/>
              </a:solidFill>
              <a:latin typeface="Arial" panose="020B0604020202020204" pitchFamily="34" charset="0"/>
            </a:endParaRPr>
          </a:p>
        </p:txBody>
      </p:sp>
      <p:sp>
        <p:nvSpPr>
          <p:cNvPr id="1275907" name="任意多边形 1275906"/>
          <p:cNvSpPr/>
          <p:nvPr/>
        </p:nvSpPr>
        <p:spPr>
          <a:xfrm>
            <a:off x="4570413" y="2220913"/>
            <a:ext cx="1371600" cy="3276600"/>
          </a:xfrm>
          <a:custGeom>
            <a:avLst/>
            <a:gdLst>
              <a:gd name="txL" fmla="*/ 0 w 21600"/>
              <a:gd name="txT" fmla="*/ 0 h 42227"/>
              <a:gd name="txR" fmla="*/ 21600 w 21600"/>
              <a:gd name="txB" fmla="*/ 42227 h 42227"/>
            </a:gdLst>
            <a:ahLst/>
            <a:cxnLst>
              <a:cxn ang="270">
                <a:pos x="2090" y="0"/>
              </a:cxn>
              <a:cxn ang="90">
                <a:pos x="6077" y="42226"/>
              </a:cxn>
              <a:cxn ang="180">
                <a:pos x="0" y="21499"/>
              </a:cxn>
            </a:cxnLst>
            <a:rect l="txL" t="txT" r="txR" b="txB"/>
            <a:pathLst>
              <a:path w="21600" h="42227" fill="none">
                <a:moveTo>
                  <a:pt x="2090" y="0"/>
                </a:moveTo>
                <a:arcTo wR="21600" hR="21600" stAng="-5066850" swAng="9486406"/>
              </a:path>
              <a:path w="21600" h="42227" stroke="0">
                <a:moveTo>
                  <a:pt x="2090" y="0"/>
                </a:moveTo>
                <a:arcTo wR="21600" hR="21600" stAng="-5066850" swAng="9486406"/>
                <a:lnTo>
                  <a:pt x="0" y="21499"/>
                </a:lnTo>
                <a:close/>
              </a:path>
            </a:pathLst>
          </a:custGeom>
          <a:noFill/>
          <a:ln w="12700" cap="rnd" cmpd="sng">
            <a:solidFill>
              <a:schemeClr val="bg1"/>
            </a:solidFill>
            <a:prstDash val="solid"/>
            <a:headEnd type="none" w="sm" len="sm"/>
            <a:tailEnd type="stealth" w="lg" len="lg"/>
          </a:ln>
        </p:spPr>
        <p:txBody>
          <a:bodyPr/>
          <a:p>
            <a:endParaRPr lang="zh-CN" altLang="en-US"/>
          </a:p>
        </p:txBody>
      </p:sp>
      <p:sp>
        <p:nvSpPr>
          <p:cNvPr id="1275908" name="矩形 1275907"/>
          <p:cNvSpPr/>
          <p:nvPr/>
        </p:nvSpPr>
        <p:spPr>
          <a:xfrm>
            <a:off x="1827213" y="5029200"/>
            <a:ext cx="3124200" cy="1311275"/>
          </a:xfrm>
          <a:prstGeom prst="rect">
            <a:avLst/>
          </a:prstGeom>
          <a:noFill/>
          <a:ln w="9525">
            <a:noFill/>
          </a:ln>
        </p:spPr>
        <p:txBody>
          <a:bodyPr lIns="92075" tIns="46038" rIns="92075" bIns="46038">
            <a:spAutoFit/>
          </a:bodyPr>
          <a:p>
            <a:pPr algn="ctr">
              <a:spcBef>
                <a:spcPct val="50000"/>
              </a:spcBef>
            </a:pPr>
            <a:r>
              <a:rPr lang="en-US" altLang="zh-CN" sz="4000" i="1">
                <a:solidFill>
                  <a:schemeClr val="bg1"/>
                </a:solidFill>
                <a:latin typeface="Arial" panose="020B0604020202020204" pitchFamily="34" charset="0"/>
              </a:rPr>
              <a:t>Negative Experiences</a:t>
            </a:r>
            <a:endParaRPr lang="en-US" altLang="zh-CN" sz="4000" i="1">
              <a:solidFill>
                <a:schemeClr val="bg1"/>
              </a:solidFill>
              <a:latin typeface="Arial" panose="020B0604020202020204" pitchFamily="34" charset="0"/>
            </a:endParaRPr>
          </a:p>
        </p:txBody>
      </p:sp>
      <p:sp>
        <p:nvSpPr>
          <p:cNvPr id="1275909" name="任意多边形 1275908"/>
          <p:cNvSpPr/>
          <p:nvPr/>
        </p:nvSpPr>
        <p:spPr>
          <a:xfrm>
            <a:off x="609600" y="2217738"/>
            <a:ext cx="1600200" cy="3333750"/>
          </a:xfrm>
          <a:custGeom>
            <a:avLst/>
            <a:gdLst>
              <a:gd name="txL" fmla="*/ 0 w 21600"/>
              <a:gd name="txT" fmla="*/ 0 h 42959"/>
              <a:gd name="txR" fmla="*/ 21600 w 21600"/>
              <a:gd name="txB" fmla="*/ 42959 h 42959"/>
            </a:gdLst>
            <a:ahLst/>
            <a:cxnLst>
              <a:cxn ang="90">
                <a:pos x="18964" y="42958"/>
              </a:cxn>
              <a:cxn ang="270">
                <a:pos x="19737" y="0"/>
              </a:cxn>
              <a:cxn ang="0">
                <a:pos x="21600" y="21520"/>
              </a:cxn>
            </a:cxnLst>
            <a:rect l="txL" t="txT" r="txR" b="txB"/>
            <a:pathLst>
              <a:path w="21600" h="42959" fill="none">
                <a:moveTo>
                  <a:pt x="18964" y="42958"/>
                </a:moveTo>
                <a:arcTo wR="21600" hR="21600" stAng="-15779408" swAng="10082541"/>
              </a:path>
              <a:path w="21600" h="42959" stroke="0">
                <a:moveTo>
                  <a:pt x="18964" y="42958"/>
                </a:moveTo>
                <a:arcTo wR="21600" hR="21600" stAng="-15779408" swAng="10082541"/>
                <a:lnTo>
                  <a:pt x="21600" y="21520"/>
                </a:lnTo>
                <a:close/>
              </a:path>
            </a:pathLst>
          </a:custGeom>
          <a:noFill/>
          <a:ln w="12700" cap="rnd" cmpd="sng">
            <a:solidFill>
              <a:schemeClr val="bg1"/>
            </a:solidFill>
            <a:prstDash val="solid"/>
            <a:headEnd type="none" w="sm" len="sm"/>
            <a:tailEnd type="stealth" w="lg" len="lg"/>
          </a:ln>
        </p:spPr>
        <p:txBody>
          <a:bodyPr/>
          <a:p>
            <a:endParaRPr lang="zh-CN" altLang="en-US"/>
          </a:p>
        </p:txBody>
      </p:sp>
      <p:sp>
        <p:nvSpPr>
          <p:cNvPr id="1275910" name="矩形 1275909"/>
          <p:cNvSpPr/>
          <p:nvPr/>
        </p:nvSpPr>
        <p:spPr>
          <a:xfrm>
            <a:off x="457200" y="152400"/>
            <a:ext cx="5562600" cy="838200"/>
          </a:xfrm>
          <a:prstGeom prst="rect">
            <a:avLst/>
          </a:prstGeom>
          <a:noFill/>
          <a:ln w="9525">
            <a:noFill/>
          </a:ln>
        </p:spPr>
        <p:txBody>
          <a:bodyPr lIns="92075" tIns="46038" rIns="92075" bIns="46038" anchor="ctr" anchorCtr="0"/>
          <a:p>
            <a:pPr algn="ctr"/>
            <a:r>
              <a:rPr lang="en-US" altLang="zh-CN" sz="4400">
                <a:solidFill>
                  <a:schemeClr val="bg1"/>
                </a:solidFill>
                <a:effectLst>
                  <a:outerShdw blurRad="38100" dist="38100" dir="2700000">
                    <a:srgbClr val="C0C0C0"/>
                  </a:outerShdw>
                </a:effectLst>
                <a:latin typeface="Arial" panose="020B0604020202020204" pitchFamily="34" charset="0"/>
              </a:rPr>
              <a:t>Unhappiness Spiral</a:t>
            </a:r>
            <a:endParaRPr lang="en-US" altLang="zh-CN" sz="4400">
              <a:solidFill>
                <a:schemeClr val="bg1"/>
              </a:solidFill>
              <a:effectLst>
                <a:outerShdw blurRad="38100" dist="38100" dir="2700000">
                  <a:srgbClr val="C0C0C0"/>
                </a:outerShdw>
              </a:effectLst>
              <a:latin typeface="Arial" panose="020B0604020202020204" pitchFamily="34" charset="0"/>
            </a:endParaRPr>
          </a:p>
        </p:txBody>
      </p:sp>
      <p:pic>
        <p:nvPicPr>
          <p:cNvPr id="1275911" name="图片 1275910" descr="smiley">
            <a:hlinkClick r:id="rId1"/>
          </p:cNvPr>
          <p:cNvPicPr>
            <a:picLocks noChangeAspect="1"/>
          </p:cNvPicPr>
          <p:nvPr/>
        </p:nvPicPr>
        <p:blipFill>
          <a:blip r:embed="rId2"/>
          <a:stretch>
            <a:fillRect/>
          </a:stretch>
        </p:blipFill>
        <p:spPr>
          <a:xfrm>
            <a:off x="6248400" y="152400"/>
            <a:ext cx="2819400" cy="2819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1275908">
                                            <p:txEl>
                                              <p:charRg st="0" end="21"/>
                                            </p:txEl>
                                          </p:spTgt>
                                        </p:tgtEl>
                                        <p:attrNameLst>
                                          <p:attrName>style.visibility</p:attrName>
                                        </p:attrNameLst>
                                      </p:cBhvr>
                                      <p:to>
                                        <p:strVal val="visible"/>
                                      </p:to>
                                    </p:set>
                                    <p:anim to="" calcmode="lin" valueType="num">
                                      <p:cBhvr>
                                        <p:cTn id="7" dur="1" fill="hold"/>
                                        <p:tgtEl>
                                          <p:spTgt spid="1275908">
                                            <p:txEl>
                                              <p:charRg st="0" end="21"/>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1275909"/>
                                        </p:tgtEl>
                                        <p:attrNameLst>
                                          <p:attrName>style.visibility</p:attrName>
                                        </p:attrNameLst>
                                      </p:cBhvr>
                                      <p:to>
                                        <p:strVal val="visible"/>
                                      </p:to>
                                    </p:set>
                                    <p:anim to="" calcmode="lin" valueType="num">
                                      <p:cBhvr>
                                        <p:cTn id="12" dur="1" fill="hold"/>
                                        <p:tgtEl>
                                          <p:spTgt spid="1275909"/>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1275906"/>
                                        </p:tgtEl>
                                        <p:attrNameLst>
                                          <p:attrName>style.visibility</p:attrName>
                                        </p:attrNameLst>
                                      </p:cBhvr>
                                      <p:to>
                                        <p:strVal val="visible"/>
                                      </p:to>
                                    </p:set>
                                    <p:anim to="" calcmode="lin" valueType="num">
                                      <p:cBhvr>
                                        <p:cTn id="17" dur="1" fill="hold"/>
                                        <p:tgtEl>
                                          <p:spTgt spid="1275906"/>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499"/>
                                          </p:stCondLst>
                                        </p:cTn>
                                        <p:tgtEl>
                                          <p:spTgt spid="1275907"/>
                                        </p:tgtEl>
                                        <p:attrNameLst>
                                          <p:attrName>style.visibility</p:attrName>
                                        </p:attrNameLst>
                                      </p:cBhvr>
                                      <p:to>
                                        <p:strVal val="visible"/>
                                      </p:to>
                                    </p:set>
                                    <p:anim to="" calcmode="lin" valueType="num">
                                      <p:cBhvr>
                                        <p:cTn id="22" dur="1" fill="hold"/>
                                        <p:tgtEl>
                                          <p:spTgt spid="1275907"/>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906" grpId="0"/>
      <p:bldP spid="127590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76930" name="矩形 1276929"/>
          <p:cNvSpPr/>
          <p:nvPr/>
        </p:nvSpPr>
        <p:spPr>
          <a:xfrm>
            <a:off x="2055813" y="1508125"/>
            <a:ext cx="2743200" cy="1311275"/>
          </a:xfrm>
          <a:prstGeom prst="rect">
            <a:avLst/>
          </a:prstGeom>
          <a:noFill/>
          <a:ln w="9525">
            <a:noFill/>
          </a:ln>
        </p:spPr>
        <p:txBody>
          <a:bodyPr lIns="92075" tIns="46038" rIns="92075" bIns="46038">
            <a:spAutoFit/>
          </a:bodyPr>
          <a:p>
            <a:pPr algn="ctr">
              <a:spcBef>
                <a:spcPct val="50000"/>
              </a:spcBef>
            </a:pPr>
            <a:r>
              <a:rPr lang="en-US" altLang="zh-CN" sz="4000" i="1">
                <a:solidFill>
                  <a:schemeClr val="bg1"/>
                </a:solidFill>
                <a:latin typeface="Arial" panose="020B0604020202020204" pitchFamily="34" charset="0"/>
              </a:rPr>
              <a:t>“Positive” Research</a:t>
            </a:r>
            <a:endParaRPr lang="en-US" altLang="zh-CN" sz="4000" i="1">
              <a:solidFill>
                <a:schemeClr val="bg1"/>
              </a:solidFill>
              <a:latin typeface="Arial" panose="020B0604020202020204" pitchFamily="34" charset="0"/>
            </a:endParaRPr>
          </a:p>
        </p:txBody>
      </p:sp>
      <p:sp>
        <p:nvSpPr>
          <p:cNvPr id="1276931" name="任意多边形 1276930"/>
          <p:cNvSpPr/>
          <p:nvPr/>
        </p:nvSpPr>
        <p:spPr>
          <a:xfrm>
            <a:off x="4646613" y="2220913"/>
            <a:ext cx="1371600" cy="3276600"/>
          </a:xfrm>
          <a:custGeom>
            <a:avLst/>
            <a:gdLst>
              <a:gd name="txL" fmla="*/ 0 w 21600"/>
              <a:gd name="txT" fmla="*/ 0 h 42227"/>
              <a:gd name="txR" fmla="*/ 21600 w 21600"/>
              <a:gd name="txB" fmla="*/ 42227 h 42227"/>
            </a:gdLst>
            <a:ahLst/>
            <a:cxnLst>
              <a:cxn ang="270">
                <a:pos x="2090" y="0"/>
              </a:cxn>
              <a:cxn ang="90">
                <a:pos x="6077" y="42226"/>
              </a:cxn>
              <a:cxn ang="180">
                <a:pos x="0" y="21499"/>
              </a:cxn>
            </a:cxnLst>
            <a:rect l="txL" t="txT" r="txR" b="txB"/>
            <a:pathLst>
              <a:path w="21600" h="42227" fill="none">
                <a:moveTo>
                  <a:pt x="2090" y="0"/>
                </a:moveTo>
                <a:arcTo wR="21600" hR="21600" stAng="-5066850" swAng="9486406"/>
              </a:path>
              <a:path w="21600" h="42227" stroke="0">
                <a:moveTo>
                  <a:pt x="2090" y="0"/>
                </a:moveTo>
                <a:arcTo wR="21600" hR="21600" stAng="-5066850" swAng="9486406"/>
                <a:lnTo>
                  <a:pt x="0" y="21499"/>
                </a:lnTo>
                <a:close/>
              </a:path>
            </a:pathLst>
          </a:custGeom>
          <a:noFill/>
          <a:ln w="12700" cap="rnd" cmpd="sng">
            <a:solidFill>
              <a:schemeClr val="bg1"/>
            </a:solidFill>
            <a:prstDash val="solid"/>
            <a:headEnd type="none" w="sm" len="sm"/>
            <a:tailEnd type="stealth" w="lg" len="lg"/>
          </a:ln>
        </p:spPr>
        <p:txBody>
          <a:bodyPr/>
          <a:p>
            <a:endParaRPr lang="zh-CN" altLang="en-US"/>
          </a:p>
        </p:txBody>
      </p:sp>
      <p:sp>
        <p:nvSpPr>
          <p:cNvPr id="1276932" name="矩形 1276931"/>
          <p:cNvSpPr/>
          <p:nvPr/>
        </p:nvSpPr>
        <p:spPr>
          <a:xfrm>
            <a:off x="1903413" y="5029200"/>
            <a:ext cx="3124200" cy="1311275"/>
          </a:xfrm>
          <a:prstGeom prst="rect">
            <a:avLst/>
          </a:prstGeom>
          <a:noFill/>
          <a:ln w="9525">
            <a:noFill/>
          </a:ln>
        </p:spPr>
        <p:txBody>
          <a:bodyPr lIns="92075" tIns="46038" rIns="92075" bIns="46038">
            <a:spAutoFit/>
          </a:bodyPr>
          <a:p>
            <a:pPr algn="ctr">
              <a:spcBef>
                <a:spcPct val="50000"/>
              </a:spcBef>
            </a:pPr>
            <a:r>
              <a:rPr lang="en-US" altLang="zh-CN" sz="4000" i="1">
                <a:solidFill>
                  <a:schemeClr val="bg1"/>
                </a:solidFill>
                <a:latin typeface="Arial" panose="020B0604020202020204" pitchFamily="34" charset="0"/>
              </a:rPr>
              <a:t>Positive Experiences</a:t>
            </a:r>
            <a:endParaRPr lang="en-US" altLang="zh-CN" sz="4000" i="1">
              <a:solidFill>
                <a:schemeClr val="bg1"/>
              </a:solidFill>
              <a:latin typeface="Arial" panose="020B0604020202020204" pitchFamily="34" charset="0"/>
            </a:endParaRPr>
          </a:p>
        </p:txBody>
      </p:sp>
      <p:sp>
        <p:nvSpPr>
          <p:cNvPr id="1276933" name="任意多边形 1276932"/>
          <p:cNvSpPr/>
          <p:nvPr/>
        </p:nvSpPr>
        <p:spPr>
          <a:xfrm>
            <a:off x="685800" y="2217738"/>
            <a:ext cx="1600200" cy="3333750"/>
          </a:xfrm>
          <a:custGeom>
            <a:avLst/>
            <a:gdLst>
              <a:gd name="txL" fmla="*/ 0 w 21600"/>
              <a:gd name="txT" fmla="*/ 0 h 42959"/>
              <a:gd name="txR" fmla="*/ 21600 w 21600"/>
              <a:gd name="txB" fmla="*/ 42959 h 42959"/>
            </a:gdLst>
            <a:ahLst/>
            <a:cxnLst>
              <a:cxn ang="90">
                <a:pos x="18964" y="42958"/>
              </a:cxn>
              <a:cxn ang="270">
                <a:pos x="19737" y="0"/>
              </a:cxn>
              <a:cxn ang="0">
                <a:pos x="21600" y="21520"/>
              </a:cxn>
            </a:cxnLst>
            <a:rect l="txL" t="txT" r="txR" b="txB"/>
            <a:pathLst>
              <a:path w="21600" h="42959" fill="none">
                <a:moveTo>
                  <a:pt x="18964" y="42958"/>
                </a:moveTo>
                <a:arcTo wR="21600" hR="21600" stAng="-15779408" swAng="10082541"/>
              </a:path>
              <a:path w="21600" h="42959" stroke="0">
                <a:moveTo>
                  <a:pt x="18964" y="42958"/>
                </a:moveTo>
                <a:arcTo wR="21600" hR="21600" stAng="-15779408" swAng="10082541"/>
                <a:lnTo>
                  <a:pt x="21600" y="21520"/>
                </a:lnTo>
                <a:close/>
              </a:path>
            </a:pathLst>
          </a:custGeom>
          <a:noFill/>
          <a:ln w="12700" cap="rnd" cmpd="sng">
            <a:solidFill>
              <a:schemeClr val="bg1"/>
            </a:solidFill>
            <a:prstDash val="solid"/>
            <a:headEnd type="none" w="sm" len="sm"/>
            <a:tailEnd type="stealth" w="lg" len="lg"/>
          </a:ln>
        </p:spPr>
        <p:txBody>
          <a:bodyPr/>
          <a:p>
            <a:endParaRPr lang="zh-CN" altLang="en-US"/>
          </a:p>
        </p:txBody>
      </p:sp>
      <p:sp>
        <p:nvSpPr>
          <p:cNvPr id="1276934" name="矩形 1276933"/>
          <p:cNvSpPr/>
          <p:nvPr/>
        </p:nvSpPr>
        <p:spPr>
          <a:xfrm>
            <a:off x="228600" y="152400"/>
            <a:ext cx="6705600" cy="838200"/>
          </a:xfrm>
          <a:prstGeom prst="rect">
            <a:avLst/>
          </a:prstGeom>
          <a:noFill/>
          <a:ln w="9525">
            <a:noFill/>
          </a:ln>
        </p:spPr>
        <p:txBody>
          <a:bodyPr lIns="92075" tIns="46038" rIns="92075" bIns="46038" anchor="ctr" anchorCtr="0"/>
          <a:p>
            <a:pPr algn="ctr"/>
            <a:r>
              <a:rPr lang="en-US" altLang="zh-CN" sz="4400">
                <a:solidFill>
                  <a:schemeClr val="bg1"/>
                </a:solidFill>
                <a:effectLst>
                  <a:outerShdw blurRad="38100" dist="38100" dir="2700000">
                    <a:srgbClr val="C0C0C0"/>
                  </a:outerShdw>
                </a:effectLst>
                <a:latin typeface="Arial" panose="020B0604020202020204" pitchFamily="34" charset="0"/>
              </a:rPr>
              <a:t>Happiness Spiral</a:t>
            </a:r>
            <a:endParaRPr lang="en-US" altLang="zh-CN" sz="4400">
              <a:solidFill>
                <a:schemeClr val="bg1"/>
              </a:solidFill>
              <a:effectLst>
                <a:outerShdw blurRad="38100" dist="38100" dir="2700000">
                  <a:srgbClr val="C0C0C0"/>
                </a:outerShdw>
              </a:effectLst>
              <a:latin typeface="Arial" panose="020B0604020202020204" pitchFamily="34" charset="0"/>
            </a:endParaRPr>
          </a:p>
        </p:txBody>
      </p:sp>
      <p:pic>
        <p:nvPicPr>
          <p:cNvPr id="1276935" name="图片 1276934" descr="303567_f"/>
          <p:cNvPicPr>
            <a:picLocks noChangeAspect="1"/>
          </p:cNvPicPr>
          <p:nvPr/>
        </p:nvPicPr>
        <p:blipFill>
          <a:blip r:embed="rId1"/>
          <a:stretch>
            <a:fillRect/>
          </a:stretch>
        </p:blipFill>
        <p:spPr>
          <a:xfrm>
            <a:off x="6096000" y="152400"/>
            <a:ext cx="2895600" cy="2865438"/>
          </a:xfrm>
          <a:prstGeom prst="rect">
            <a:avLst/>
          </a:prstGeom>
          <a:noFill/>
          <a:ln w="9525">
            <a:noFill/>
          </a:ln>
        </p:spPr>
      </p:pic>
      <p:sp>
        <p:nvSpPr>
          <p:cNvPr id="1276936" name="文本框 1276935"/>
          <p:cNvSpPr txBox="1"/>
          <p:nvPr/>
        </p:nvSpPr>
        <p:spPr>
          <a:xfrm>
            <a:off x="6384925" y="3856038"/>
            <a:ext cx="2378075" cy="1554162"/>
          </a:xfrm>
          <a:prstGeom prst="rect">
            <a:avLst/>
          </a:prstGeom>
          <a:noFill/>
          <a:ln w="12700">
            <a:noFill/>
          </a:ln>
        </p:spPr>
        <p:txBody>
          <a:bodyPr>
            <a:spAutoFit/>
          </a:bodyPr>
          <a:p>
            <a:r>
              <a:rPr lang="en-US" altLang="zh-CN" sz="3200">
                <a:solidFill>
                  <a:srgbClr val="FFCC00"/>
                </a:solidFill>
                <a:latin typeface="Arial" panose="020B0604020202020204" pitchFamily="34" charset="0"/>
                <a:cs typeface="Arial" panose="020B0604020202020204" pitchFamily="34" charset="0"/>
              </a:rPr>
              <a:t>Heisenberg Uncertainty Principle</a:t>
            </a:r>
            <a:endParaRPr lang="en-US" altLang="zh-CN" sz="32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1276930"/>
                                        </p:tgtEl>
                                        <p:attrNameLst>
                                          <p:attrName>style.visibility</p:attrName>
                                        </p:attrNameLst>
                                      </p:cBhvr>
                                      <p:to>
                                        <p:strVal val="visible"/>
                                      </p:to>
                                    </p:set>
                                    <p:anim to="" calcmode="lin" valueType="num">
                                      <p:cBhvr>
                                        <p:cTn id="7" dur="1" fill="hold"/>
                                        <p:tgtEl>
                                          <p:spTgt spid="1276930"/>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1276931"/>
                                        </p:tgtEl>
                                        <p:attrNameLst>
                                          <p:attrName>style.visibility</p:attrName>
                                        </p:attrNameLst>
                                      </p:cBhvr>
                                      <p:to>
                                        <p:strVal val="visible"/>
                                      </p:to>
                                    </p:set>
                                    <p:anim to="" calcmode="lin" valueType="num">
                                      <p:cBhvr>
                                        <p:cTn id="12" dur="1" fill="hold"/>
                                        <p:tgtEl>
                                          <p:spTgt spid="1276931"/>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1276932">
                                            <p:txEl>
                                              <p:charRg st="0" end="21"/>
                                            </p:txEl>
                                          </p:spTgt>
                                        </p:tgtEl>
                                        <p:attrNameLst>
                                          <p:attrName>style.visibility</p:attrName>
                                        </p:attrNameLst>
                                      </p:cBhvr>
                                      <p:to>
                                        <p:strVal val="visible"/>
                                      </p:to>
                                    </p:set>
                                    <p:anim to="" calcmode="lin" valueType="num">
                                      <p:cBhvr>
                                        <p:cTn id="17" dur="1" fill="hold"/>
                                        <p:tgtEl>
                                          <p:spTgt spid="1276932">
                                            <p:txEl>
                                              <p:charRg st="0" end="21"/>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499"/>
                                          </p:stCondLst>
                                        </p:cTn>
                                        <p:tgtEl>
                                          <p:spTgt spid="1276933"/>
                                        </p:tgtEl>
                                        <p:attrNameLst>
                                          <p:attrName>style.visibility</p:attrName>
                                        </p:attrNameLst>
                                      </p:cBhvr>
                                      <p:to>
                                        <p:strVal val="visible"/>
                                      </p:to>
                                    </p:set>
                                    <p:anim to="" calcmode="lin" valueType="num">
                                      <p:cBhvr>
                                        <p:cTn id="22" dur="1" fill="hold"/>
                                        <p:tgtEl>
                                          <p:spTgt spid="1276933"/>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769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6930" grpId="0"/>
      <p:bldP spid="1276932" grpId="0" build="p"/>
      <p:bldP spid="12769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4995" name="文本框 1364994"/>
          <p:cNvSpPr txBox="1"/>
          <p:nvPr/>
        </p:nvSpPr>
        <p:spPr>
          <a:xfrm>
            <a:off x="60325" y="1219200"/>
            <a:ext cx="9083675" cy="1676400"/>
          </a:xfrm>
          <a:prstGeom prst="rect">
            <a:avLst/>
          </a:prstGeom>
          <a:noFill/>
          <a:ln w="12700">
            <a:noFill/>
          </a:ln>
        </p:spPr>
        <p:txBody>
          <a:bodyPr>
            <a:spAutoFit/>
          </a:bodyPr>
          <a:p>
            <a:r>
              <a:rPr lang="en-US" altLang="zh-CN" sz="3200">
                <a:solidFill>
                  <a:schemeClr val="bg1"/>
                </a:solidFill>
                <a:latin typeface="Arial" panose="020B0604020202020204" pitchFamily="34" charset="0"/>
                <a:cs typeface="Arial" panose="020B0604020202020204" pitchFamily="34" charset="0"/>
              </a:rPr>
              <a:t>“Human systems grow in the direction of what they persistently ask questions about.”</a:t>
            </a:r>
            <a:endParaRPr lang="en-US" altLang="zh-CN" sz="3200">
              <a:solidFill>
                <a:schemeClr val="bg1"/>
              </a:solidFill>
              <a:latin typeface="Arial" panose="020B0604020202020204" pitchFamily="34" charset="0"/>
              <a:cs typeface="Arial" panose="020B0604020202020204" pitchFamily="34" charset="0"/>
            </a:endParaRPr>
          </a:p>
          <a:p>
            <a:r>
              <a:rPr lang="en-US" altLang="zh-CN" sz="4000">
                <a:solidFill>
                  <a:schemeClr val="bg1"/>
                </a:solidFill>
                <a:latin typeface="Arial" panose="020B0604020202020204" pitchFamily="34" charset="0"/>
                <a:cs typeface="Arial" panose="020B0604020202020204" pitchFamily="34" charset="0"/>
              </a:rPr>
              <a:t>	</a:t>
            </a:r>
            <a:r>
              <a:rPr lang="en-US" altLang="zh-CN" sz="3000">
                <a:solidFill>
                  <a:schemeClr val="bg1"/>
                </a:solidFill>
                <a:latin typeface="Arial" panose="020B0604020202020204" pitchFamily="34" charset="0"/>
                <a:cs typeface="Arial" panose="020B0604020202020204" pitchFamily="34" charset="0"/>
              </a:rPr>
              <a:t>				</a:t>
            </a:r>
            <a:r>
              <a:rPr lang="en-US" altLang="zh-CN" sz="3000" err="1">
                <a:solidFill>
                  <a:schemeClr val="bg1"/>
                </a:solidFill>
                <a:latin typeface="Arial" panose="020B0604020202020204" pitchFamily="34" charset="0"/>
                <a:cs typeface="Arial" panose="020B0604020202020204" pitchFamily="34" charset="0"/>
              </a:rPr>
              <a:t>Cooperrider</a:t>
            </a:r>
            <a:r>
              <a:rPr lang="en-US" altLang="zh-CN" sz="3000">
                <a:solidFill>
                  <a:schemeClr val="bg1"/>
                </a:solidFill>
                <a:latin typeface="Arial" panose="020B0604020202020204" pitchFamily="34" charset="0"/>
                <a:cs typeface="Arial" panose="020B0604020202020204" pitchFamily="34" charset="0"/>
              </a:rPr>
              <a:t> and Whitney</a:t>
            </a:r>
            <a:endParaRPr lang="en-US" altLang="zh-CN" sz="3000">
              <a:solidFill>
                <a:schemeClr val="bg1"/>
              </a:solidFill>
              <a:latin typeface="Arial" panose="020B0604020202020204" pitchFamily="34" charset="0"/>
              <a:ea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2530" name="矩形 1302529"/>
          <p:cNvSpPr/>
          <p:nvPr/>
        </p:nvSpPr>
        <p:spPr>
          <a:xfrm>
            <a:off x="0" y="2286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3400">
                <a:solidFill>
                  <a:schemeClr val="bg1"/>
                </a:solidFill>
                <a:latin typeface="Arial" panose="020B0604020202020204" pitchFamily="34" charset="0"/>
                <a:cs typeface="Arial" panose="020B0604020202020204" pitchFamily="34" charset="0"/>
              </a:rPr>
              <a:t>Happiness isn’t the Negation of Unhappiness</a:t>
            </a:r>
            <a:endParaRPr lang="en-US" altLang="zh-CN" sz="3400">
              <a:solidFill>
                <a:schemeClr val="bg1"/>
              </a:solidFill>
              <a:latin typeface="Arial" panose="020B0604020202020204" pitchFamily="34" charset="0"/>
              <a:ea typeface="Arial" panose="020B0604020202020204" pitchFamily="34" charset="0"/>
            </a:endParaRPr>
          </a:p>
        </p:txBody>
      </p:sp>
      <p:sp>
        <p:nvSpPr>
          <p:cNvPr id="1302534" name="文本框 1302533"/>
          <p:cNvSpPr txBox="1"/>
          <p:nvPr/>
        </p:nvSpPr>
        <p:spPr>
          <a:xfrm>
            <a:off x="212725" y="2087563"/>
            <a:ext cx="8596313" cy="579437"/>
          </a:xfrm>
          <a:prstGeom prst="rect">
            <a:avLst/>
          </a:prstGeom>
          <a:noFill/>
          <a:ln w="12700">
            <a:noFill/>
          </a:ln>
        </p:spPr>
        <p:txBody>
          <a:bodyPr>
            <a:spAutoFit/>
          </a:bodyPr>
          <a:p>
            <a:r>
              <a:rPr lang="en-US" altLang="zh-CN" sz="3200" b="1">
                <a:solidFill>
                  <a:srgbClr val="FFCC00"/>
                </a:solidFill>
                <a:latin typeface="Arial" panose="020B0604020202020204" pitchFamily="34" charset="0"/>
                <a:cs typeface="Arial" panose="020B0604020202020204" pitchFamily="34" charset="0"/>
              </a:rPr>
              <a:t>      Disease Model		    Health Model</a:t>
            </a:r>
            <a:endParaRPr lang="en-US" altLang="zh-CN" sz="3200" b="1">
              <a:solidFill>
                <a:srgbClr val="FFCC00"/>
              </a:solidFill>
              <a:latin typeface="Arial" panose="020B0604020202020204" pitchFamily="34" charset="0"/>
              <a:ea typeface="Arial" panose="020B0604020202020204" pitchFamily="34" charset="0"/>
            </a:endParaRPr>
          </a:p>
        </p:txBody>
      </p:sp>
      <p:sp>
        <p:nvSpPr>
          <p:cNvPr id="1302535" name="矩形 1302534"/>
          <p:cNvSpPr/>
          <p:nvPr/>
        </p:nvSpPr>
        <p:spPr>
          <a:xfrm>
            <a:off x="76200" y="3048000"/>
            <a:ext cx="9067800" cy="30480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buNone/>
            </a:pPr>
            <a:r>
              <a:rPr lang="en-US" altLang="zh-CN" sz="2800">
                <a:solidFill>
                  <a:schemeClr val="bg1"/>
                </a:solidFill>
                <a:latin typeface="Arial" panose="020B0604020202020204" pitchFamily="34" charset="0"/>
                <a:cs typeface="Arial" panose="020B0604020202020204" pitchFamily="34" charset="0"/>
              </a:rPr>
              <a:t>  Focus on weaknesses	  Focus on strengths</a:t>
            </a:r>
            <a:endParaRPr lang="en-US" altLang="zh-CN" sz="2800">
              <a:solidFill>
                <a:schemeClr val="bg1"/>
              </a:solidFill>
              <a:latin typeface="Arial" panose="020B0604020202020204" pitchFamily="34" charset="0"/>
              <a:cs typeface="Arial" panose="020B0604020202020204" pitchFamily="34" charset="0"/>
            </a:endParaRPr>
          </a:p>
          <a:p>
            <a:pPr lvl="0">
              <a:buNone/>
            </a:pPr>
            <a:r>
              <a:rPr lang="en-US" altLang="zh-CN" sz="2800">
                <a:solidFill>
                  <a:schemeClr val="bg1"/>
                </a:solidFill>
                <a:latin typeface="Arial" panose="020B0604020202020204" pitchFamily="34" charset="0"/>
                <a:cs typeface="Arial" panose="020B0604020202020204" pitchFamily="34" charset="0"/>
              </a:rPr>
              <a:t>  Overcoming deficiencies	  Building competencies</a:t>
            </a:r>
            <a:endParaRPr lang="en-US" altLang="zh-CN" sz="2800">
              <a:solidFill>
                <a:schemeClr val="bg1"/>
              </a:solidFill>
              <a:latin typeface="Arial" panose="020B0604020202020204" pitchFamily="34" charset="0"/>
              <a:cs typeface="Arial" panose="020B0604020202020204" pitchFamily="34" charset="0"/>
            </a:endParaRPr>
          </a:p>
          <a:p>
            <a:pPr lvl="0">
              <a:buNone/>
            </a:pPr>
            <a:r>
              <a:rPr lang="en-US" altLang="zh-CN" sz="2800">
                <a:solidFill>
                  <a:schemeClr val="bg1"/>
                </a:solidFill>
                <a:latin typeface="Arial" panose="020B0604020202020204" pitchFamily="34" charset="0"/>
                <a:cs typeface="Arial" panose="020B0604020202020204" pitchFamily="34" charset="0"/>
              </a:rPr>
              <a:t>  Avoiding pain			  Seeking pleasure</a:t>
            </a:r>
            <a:endParaRPr lang="en-US" altLang="zh-CN" sz="2800">
              <a:solidFill>
                <a:schemeClr val="bg1"/>
              </a:solidFill>
              <a:latin typeface="Arial" panose="020B0604020202020204" pitchFamily="34" charset="0"/>
              <a:cs typeface="Arial" panose="020B0604020202020204" pitchFamily="34" charset="0"/>
            </a:endParaRPr>
          </a:p>
          <a:p>
            <a:pPr lvl="0">
              <a:buNone/>
            </a:pPr>
            <a:r>
              <a:rPr lang="en-US" altLang="zh-CN" sz="2800">
                <a:solidFill>
                  <a:schemeClr val="bg1"/>
                </a:solidFill>
                <a:latin typeface="Arial" panose="020B0604020202020204" pitchFamily="34" charset="0"/>
                <a:cs typeface="Arial" panose="020B0604020202020204" pitchFamily="34" charset="0"/>
              </a:rPr>
              <a:t>  Running from unhappiness	  Pursuing happiness</a:t>
            </a:r>
            <a:endParaRPr lang="en-US" altLang="zh-CN" sz="2800">
              <a:solidFill>
                <a:schemeClr val="bg1"/>
              </a:solidFill>
              <a:latin typeface="Arial" panose="020B0604020202020204" pitchFamily="34" charset="0"/>
              <a:cs typeface="Arial" panose="020B0604020202020204" pitchFamily="34" charset="0"/>
            </a:endParaRPr>
          </a:p>
          <a:p>
            <a:pPr lvl="0">
              <a:buNone/>
            </a:pPr>
            <a:r>
              <a:rPr lang="en-US" altLang="zh-CN" sz="2800">
                <a:solidFill>
                  <a:schemeClr val="bg1"/>
                </a:solidFill>
                <a:latin typeface="Arial" panose="020B0604020202020204" pitchFamily="34" charset="0"/>
                <a:cs typeface="Arial" panose="020B0604020202020204" pitchFamily="34" charset="0"/>
              </a:rPr>
              <a:t>  Neutral state (0) as ceiling	  No ceiling</a:t>
            </a:r>
            <a:endParaRPr lang="en-US" altLang="zh-CN" sz="2800">
              <a:solidFill>
                <a:schemeClr val="bg1"/>
              </a:solidFill>
              <a:latin typeface="Arial" panose="020B0604020202020204" pitchFamily="34" charset="0"/>
              <a:cs typeface="Arial" panose="020B0604020202020204" pitchFamily="34" charset="0"/>
            </a:endParaRPr>
          </a:p>
          <a:p>
            <a:pPr lvl="0">
              <a:buNone/>
            </a:pPr>
            <a:r>
              <a:rPr lang="en-US" altLang="zh-CN" sz="2800">
                <a:solidFill>
                  <a:schemeClr val="bg1"/>
                </a:solidFill>
                <a:latin typeface="Arial" panose="020B0604020202020204" pitchFamily="34" charset="0"/>
                <a:cs typeface="Arial" panose="020B0604020202020204" pitchFamily="34" charset="0"/>
              </a:rPr>
              <a:t>  Tensionless as ideal		  Creative tension as ideal</a:t>
            </a:r>
            <a:endParaRPr lang="en-US" altLang="zh-CN" sz="2800">
              <a:solidFill>
                <a:schemeClr val="bg1"/>
              </a:solidFill>
              <a:latin typeface="Arial" panose="020B0604020202020204" pitchFamily="34" charset="0"/>
              <a:ea typeface="Arial" panose="020B0604020202020204" pitchFamily="34" charset="0"/>
            </a:endParaRPr>
          </a:p>
        </p:txBody>
      </p:sp>
      <p:sp>
        <p:nvSpPr>
          <p:cNvPr id="1302536" name="文本框 1302535"/>
          <p:cNvSpPr txBox="1"/>
          <p:nvPr/>
        </p:nvSpPr>
        <p:spPr>
          <a:xfrm>
            <a:off x="228600" y="1538288"/>
            <a:ext cx="8596313" cy="519112"/>
          </a:xfrm>
          <a:prstGeom prst="rect">
            <a:avLst/>
          </a:prstGeom>
          <a:noFill/>
          <a:ln w="12700">
            <a:noFill/>
          </a:ln>
        </p:spPr>
        <p:txBody>
          <a:bodyPr>
            <a:spAutoFit/>
          </a:bodyPr>
          <a:p>
            <a:pPr>
              <a:buChar char="-"/>
            </a:pPr>
            <a:r>
              <a:rPr lang="en-US" altLang="zh-CN" sz="2800" b="1">
                <a:solidFill>
                  <a:srgbClr val="FFCC00"/>
                </a:solidFill>
              </a:rPr>
              <a:t>_______________________ 0 ____________________ +</a:t>
            </a:r>
            <a:endParaRPr lang="en-US" altLang="zh-CN" sz="2800" b="1">
              <a:solidFill>
                <a:srgbClr val="FFCC00"/>
              </a:solidFill>
            </a:endParaRPr>
          </a:p>
        </p:txBody>
      </p:sp>
      <p:sp>
        <p:nvSpPr>
          <p:cNvPr id="1302538" name="文本框 1302537"/>
          <p:cNvSpPr txBox="1"/>
          <p:nvPr/>
        </p:nvSpPr>
        <p:spPr>
          <a:xfrm>
            <a:off x="228600" y="914400"/>
            <a:ext cx="8915400" cy="946150"/>
          </a:xfrm>
          <a:prstGeom prst="rect">
            <a:avLst/>
          </a:prstGeom>
          <a:noFill/>
          <a:ln w="12700">
            <a:noFill/>
          </a:ln>
        </p:spPr>
        <p:txBody>
          <a:bodyPr>
            <a:spAutoFit/>
          </a:bodyPr>
          <a:p>
            <a:r>
              <a:rPr lang="en-US" altLang="zh-CN" sz="2800">
                <a:solidFill>
                  <a:srgbClr val="FFCC00"/>
                </a:solidFill>
                <a:latin typeface="Arial" panose="020B0604020202020204" pitchFamily="34" charset="0"/>
                <a:cs typeface="Arial" panose="020B0604020202020204" pitchFamily="34" charset="0"/>
              </a:rPr>
              <a:t>neurosis, anger, anxiety,	wellbeing, satisfaction, joy</a:t>
            </a:r>
            <a:endParaRPr lang="en-US" altLang="zh-CN" sz="2800">
              <a:solidFill>
                <a:srgbClr val="FFCC00"/>
              </a:solidFill>
              <a:latin typeface="Arial" panose="020B0604020202020204" pitchFamily="34" charset="0"/>
              <a:cs typeface="Arial" panose="020B0604020202020204" pitchFamily="34" charset="0"/>
            </a:endParaRPr>
          </a:p>
          <a:p>
            <a:r>
              <a:rPr lang="en-US" altLang="zh-CN" sz="2800">
                <a:solidFill>
                  <a:srgbClr val="FFCC00"/>
                </a:solidFill>
                <a:latin typeface="Arial" panose="020B0604020202020204" pitchFamily="34" charset="0"/>
                <a:cs typeface="Arial" panose="020B0604020202020204" pitchFamily="34" charset="0"/>
              </a:rPr>
              <a:t>depression, psychosis		excitement, happiness</a:t>
            </a:r>
            <a:endParaRPr lang="en-US" altLang="zh-CN" sz="28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25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25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25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02535">
                                            <p:txEl>
                                              <p:charRg st="0" end="43"/>
                                            </p:txEl>
                                          </p:spTgt>
                                        </p:tgtEl>
                                        <p:attrNameLst>
                                          <p:attrName>style.visibility</p:attrName>
                                        </p:attrNameLst>
                                      </p:cBhvr>
                                      <p:to>
                                        <p:strVal val="visible"/>
                                      </p:to>
                                    </p:set>
                                    <p:animEffect transition="in" filter="fade">
                                      <p:cBhvr>
                                        <p:cTn id="19" dur="1000"/>
                                        <p:tgtEl>
                                          <p:spTgt spid="1302535">
                                            <p:txEl>
                                              <p:charRg st="0" end="43"/>
                                            </p:txEl>
                                          </p:spTgt>
                                        </p:tgtEl>
                                      </p:cBhvr>
                                    </p:animEffect>
                                    <p:anim calcmode="lin" valueType="num">
                                      <p:cBhvr>
                                        <p:cTn id="20" dur="1000" fill="hold"/>
                                        <p:tgtEl>
                                          <p:spTgt spid="1302535">
                                            <p:txEl>
                                              <p:charRg st="0" end="43"/>
                                            </p:txEl>
                                          </p:spTgt>
                                        </p:tgtEl>
                                        <p:attrNameLst>
                                          <p:attrName>ppt_x</p:attrName>
                                        </p:attrNameLst>
                                      </p:cBhvr>
                                      <p:tavLst>
                                        <p:tav tm="0">
                                          <p:val>
                                            <p:strVal val="#ppt_x"/>
                                          </p:val>
                                        </p:tav>
                                        <p:tav tm="100000">
                                          <p:val>
                                            <p:strVal val="#ppt_x"/>
                                          </p:val>
                                        </p:tav>
                                      </p:tavLst>
                                    </p:anim>
                                    <p:anim calcmode="lin" valueType="num">
                                      <p:cBhvr>
                                        <p:cTn id="21" dur="1000" fill="hold"/>
                                        <p:tgtEl>
                                          <p:spTgt spid="1302535">
                                            <p:txEl>
                                              <p:charRg st="0" end="4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02535">
                                            <p:txEl>
                                              <p:charRg st="43" end="93"/>
                                            </p:txEl>
                                          </p:spTgt>
                                        </p:tgtEl>
                                        <p:attrNameLst>
                                          <p:attrName>style.visibility</p:attrName>
                                        </p:attrNameLst>
                                      </p:cBhvr>
                                      <p:to>
                                        <p:strVal val="visible"/>
                                      </p:to>
                                    </p:set>
                                    <p:animEffect transition="in" filter="fade">
                                      <p:cBhvr>
                                        <p:cTn id="26" dur="1000"/>
                                        <p:tgtEl>
                                          <p:spTgt spid="1302535">
                                            <p:txEl>
                                              <p:charRg st="43" end="93"/>
                                            </p:txEl>
                                          </p:spTgt>
                                        </p:tgtEl>
                                      </p:cBhvr>
                                    </p:animEffect>
                                    <p:anim calcmode="lin" valueType="num">
                                      <p:cBhvr>
                                        <p:cTn id="27" dur="1000" fill="hold"/>
                                        <p:tgtEl>
                                          <p:spTgt spid="1302535">
                                            <p:txEl>
                                              <p:charRg st="43" end="93"/>
                                            </p:txEl>
                                          </p:spTgt>
                                        </p:tgtEl>
                                        <p:attrNameLst>
                                          <p:attrName>ppt_x</p:attrName>
                                        </p:attrNameLst>
                                      </p:cBhvr>
                                      <p:tavLst>
                                        <p:tav tm="0">
                                          <p:val>
                                            <p:strVal val="#ppt_x"/>
                                          </p:val>
                                        </p:tav>
                                        <p:tav tm="100000">
                                          <p:val>
                                            <p:strVal val="#ppt_x"/>
                                          </p:val>
                                        </p:tav>
                                      </p:tavLst>
                                    </p:anim>
                                    <p:anim calcmode="lin" valueType="num">
                                      <p:cBhvr>
                                        <p:cTn id="28" dur="1000" fill="hold"/>
                                        <p:tgtEl>
                                          <p:spTgt spid="1302535">
                                            <p:txEl>
                                              <p:charRg st="43" end="9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02535">
                                            <p:txEl>
                                              <p:charRg st="93" end="130"/>
                                            </p:txEl>
                                          </p:spTgt>
                                        </p:tgtEl>
                                        <p:attrNameLst>
                                          <p:attrName>style.visibility</p:attrName>
                                        </p:attrNameLst>
                                      </p:cBhvr>
                                      <p:to>
                                        <p:strVal val="visible"/>
                                      </p:to>
                                    </p:set>
                                    <p:animEffect transition="in" filter="fade">
                                      <p:cBhvr>
                                        <p:cTn id="33" dur="1000"/>
                                        <p:tgtEl>
                                          <p:spTgt spid="1302535">
                                            <p:txEl>
                                              <p:charRg st="93" end="130"/>
                                            </p:txEl>
                                          </p:spTgt>
                                        </p:tgtEl>
                                      </p:cBhvr>
                                    </p:animEffect>
                                    <p:anim calcmode="lin" valueType="num">
                                      <p:cBhvr>
                                        <p:cTn id="34" dur="1000" fill="hold"/>
                                        <p:tgtEl>
                                          <p:spTgt spid="1302535">
                                            <p:txEl>
                                              <p:charRg st="93" end="130"/>
                                            </p:txEl>
                                          </p:spTgt>
                                        </p:tgtEl>
                                        <p:attrNameLst>
                                          <p:attrName>ppt_x</p:attrName>
                                        </p:attrNameLst>
                                      </p:cBhvr>
                                      <p:tavLst>
                                        <p:tav tm="0">
                                          <p:val>
                                            <p:strVal val="#ppt_x"/>
                                          </p:val>
                                        </p:tav>
                                        <p:tav tm="100000">
                                          <p:val>
                                            <p:strVal val="#ppt_x"/>
                                          </p:val>
                                        </p:tav>
                                      </p:tavLst>
                                    </p:anim>
                                    <p:anim calcmode="lin" valueType="num">
                                      <p:cBhvr>
                                        <p:cTn id="35" dur="1000" fill="hold"/>
                                        <p:tgtEl>
                                          <p:spTgt spid="1302535">
                                            <p:txEl>
                                              <p:charRg st="93" end="13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02535">
                                            <p:txEl>
                                              <p:charRg st="130" end="178"/>
                                            </p:txEl>
                                          </p:spTgt>
                                        </p:tgtEl>
                                        <p:attrNameLst>
                                          <p:attrName>style.visibility</p:attrName>
                                        </p:attrNameLst>
                                      </p:cBhvr>
                                      <p:to>
                                        <p:strVal val="visible"/>
                                      </p:to>
                                    </p:set>
                                    <p:animEffect transition="in" filter="fade">
                                      <p:cBhvr>
                                        <p:cTn id="40" dur="1000"/>
                                        <p:tgtEl>
                                          <p:spTgt spid="1302535">
                                            <p:txEl>
                                              <p:charRg st="130" end="178"/>
                                            </p:txEl>
                                          </p:spTgt>
                                        </p:tgtEl>
                                      </p:cBhvr>
                                    </p:animEffect>
                                    <p:anim calcmode="lin" valueType="num">
                                      <p:cBhvr>
                                        <p:cTn id="41" dur="1000" fill="hold"/>
                                        <p:tgtEl>
                                          <p:spTgt spid="1302535">
                                            <p:txEl>
                                              <p:charRg st="130" end="178"/>
                                            </p:txEl>
                                          </p:spTgt>
                                        </p:tgtEl>
                                        <p:attrNameLst>
                                          <p:attrName>ppt_x</p:attrName>
                                        </p:attrNameLst>
                                      </p:cBhvr>
                                      <p:tavLst>
                                        <p:tav tm="0">
                                          <p:val>
                                            <p:strVal val="#ppt_x"/>
                                          </p:val>
                                        </p:tav>
                                        <p:tav tm="100000">
                                          <p:val>
                                            <p:strVal val="#ppt_x"/>
                                          </p:val>
                                        </p:tav>
                                      </p:tavLst>
                                    </p:anim>
                                    <p:anim calcmode="lin" valueType="num">
                                      <p:cBhvr>
                                        <p:cTn id="42" dur="1000" fill="hold"/>
                                        <p:tgtEl>
                                          <p:spTgt spid="1302535">
                                            <p:txEl>
                                              <p:charRg st="130" end="178"/>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302535">
                                            <p:txEl>
                                              <p:charRg st="178" end="222"/>
                                            </p:txEl>
                                          </p:spTgt>
                                        </p:tgtEl>
                                        <p:attrNameLst>
                                          <p:attrName>style.visibility</p:attrName>
                                        </p:attrNameLst>
                                      </p:cBhvr>
                                      <p:to>
                                        <p:strVal val="visible"/>
                                      </p:to>
                                    </p:set>
                                    <p:animEffect transition="in" filter="fade">
                                      <p:cBhvr>
                                        <p:cTn id="47" dur="1000"/>
                                        <p:tgtEl>
                                          <p:spTgt spid="1302535">
                                            <p:txEl>
                                              <p:charRg st="178" end="222"/>
                                            </p:txEl>
                                          </p:spTgt>
                                        </p:tgtEl>
                                      </p:cBhvr>
                                    </p:animEffect>
                                    <p:anim calcmode="lin" valueType="num">
                                      <p:cBhvr>
                                        <p:cTn id="48" dur="1000" fill="hold"/>
                                        <p:tgtEl>
                                          <p:spTgt spid="1302535">
                                            <p:txEl>
                                              <p:charRg st="178" end="222"/>
                                            </p:txEl>
                                          </p:spTgt>
                                        </p:tgtEl>
                                        <p:attrNameLst>
                                          <p:attrName>ppt_x</p:attrName>
                                        </p:attrNameLst>
                                      </p:cBhvr>
                                      <p:tavLst>
                                        <p:tav tm="0">
                                          <p:val>
                                            <p:strVal val="#ppt_x"/>
                                          </p:val>
                                        </p:tav>
                                        <p:tav tm="100000">
                                          <p:val>
                                            <p:strVal val="#ppt_x"/>
                                          </p:val>
                                        </p:tav>
                                      </p:tavLst>
                                    </p:anim>
                                    <p:anim calcmode="lin" valueType="num">
                                      <p:cBhvr>
                                        <p:cTn id="49" dur="1000" fill="hold"/>
                                        <p:tgtEl>
                                          <p:spTgt spid="1302535">
                                            <p:txEl>
                                              <p:charRg st="178" end="22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302535">
                                            <p:txEl>
                                              <p:charRg st="222" end="274"/>
                                            </p:txEl>
                                          </p:spTgt>
                                        </p:tgtEl>
                                        <p:attrNameLst>
                                          <p:attrName>style.visibility</p:attrName>
                                        </p:attrNameLst>
                                      </p:cBhvr>
                                      <p:to>
                                        <p:strVal val="visible"/>
                                      </p:to>
                                    </p:set>
                                    <p:animEffect transition="in" filter="fade">
                                      <p:cBhvr>
                                        <p:cTn id="54" dur="1000"/>
                                        <p:tgtEl>
                                          <p:spTgt spid="1302535">
                                            <p:txEl>
                                              <p:charRg st="222" end="274"/>
                                            </p:txEl>
                                          </p:spTgt>
                                        </p:tgtEl>
                                      </p:cBhvr>
                                    </p:animEffect>
                                    <p:anim calcmode="lin" valueType="num">
                                      <p:cBhvr>
                                        <p:cTn id="55" dur="1000" fill="hold"/>
                                        <p:tgtEl>
                                          <p:spTgt spid="1302535">
                                            <p:txEl>
                                              <p:charRg st="222" end="274"/>
                                            </p:txEl>
                                          </p:spTgt>
                                        </p:tgtEl>
                                        <p:attrNameLst>
                                          <p:attrName>ppt_x</p:attrName>
                                        </p:attrNameLst>
                                      </p:cBhvr>
                                      <p:tavLst>
                                        <p:tav tm="0">
                                          <p:val>
                                            <p:strVal val="#ppt_x"/>
                                          </p:val>
                                        </p:tav>
                                        <p:tav tm="100000">
                                          <p:val>
                                            <p:strVal val="#ppt_x"/>
                                          </p:val>
                                        </p:tav>
                                      </p:tavLst>
                                    </p:anim>
                                    <p:anim calcmode="lin" valueType="num">
                                      <p:cBhvr>
                                        <p:cTn id="56" dur="1000" fill="hold"/>
                                        <p:tgtEl>
                                          <p:spTgt spid="1302535">
                                            <p:txEl>
                                              <p:charRg st="222" end="27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2534" grpId="0"/>
      <p:bldP spid="1302536" grpId="0"/>
      <p:bldP spid="13025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3554" name="矩形 1303553"/>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Prevention through cultivating positive</a:t>
            </a:r>
            <a:endParaRPr lang="en-US" altLang="zh-CN" sz="4000">
              <a:solidFill>
                <a:schemeClr val="bg1"/>
              </a:solidFill>
              <a:latin typeface="Arial" panose="020B0604020202020204" pitchFamily="34" charset="0"/>
              <a:ea typeface="Arial" panose="020B0604020202020204" pitchFamily="34" charset="0"/>
            </a:endParaRPr>
          </a:p>
        </p:txBody>
      </p:sp>
      <p:sp>
        <p:nvSpPr>
          <p:cNvPr id="1303555" name="矩形 1303554"/>
          <p:cNvSpPr/>
          <p:nvPr/>
        </p:nvSpPr>
        <p:spPr>
          <a:xfrm>
            <a:off x="76200" y="762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Illness as the absence of health (vs. health as the absence of illness)</a:t>
            </a:r>
            <a:endParaRPr lang="en-US" altLang="zh-CN" sz="3500">
              <a:solidFill>
                <a:schemeClr val="bg1"/>
              </a:solidFill>
              <a:latin typeface="Arial" panose="020B0604020202020204" pitchFamily="34" charset="0"/>
              <a:ea typeface="Arial" panose="020B0604020202020204" pitchFamily="34" charset="0"/>
            </a:endParaRPr>
          </a:p>
        </p:txBody>
      </p:sp>
      <p:sp>
        <p:nvSpPr>
          <p:cNvPr id="1303556" name="文本框 1303555"/>
          <p:cNvSpPr txBox="1"/>
          <p:nvPr/>
        </p:nvSpPr>
        <p:spPr>
          <a:xfrm>
            <a:off x="60325" y="1981200"/>
            <a:ext cx="9083675" cy="3508375"/>
          </a:xfrm>
          <a:prstGeom prst="rect">
            <a:avLst/>
          </a:prstGeom>
          <a:noFill/>
          <a:ln w="12700">
            <a:noFill/>
          </a:ln>
        </p:spPr>
        <p:txBody>
          <a:bodyPr>
            <a:spAutoFit/>
          </a:bodyPr>
          <a:p>
            <a:r>
              <a:rPr lang="en-US" altLang="zh-CN" sz="2800">
                <a:solidFill>
                  <a:srgbClr val="FFCC00"/>
                </a:solidFill>
                <a:latin typeface="Arial" panose="020B0604020202020204" pitchFamily="34" charset="0"/>
                <a:cs typeface="Arial" panose="020B0604020202020204" pitchFamily="34" charset="0"/>
              </a:rPr>
              <a:t>“It [neurosis] is a falling short of what one could have been, and even, one could say, of what one </a:t>
            </a:r>
            <a:r>
              <a:rPr lang="en-US" altLang="zh-CN" sz="2800" i="1">
                <a:solidFill>
                  <a:srgbClr val="FFCC00"/>
                </a:solidFill>
                <a:latin typeface="Arial" panose="020B0604020202020204" pitchFamily="34" charset="0"/>
                <a:cs typeface="Arial" panose="020B0604020202020204" pitchFamily="34" charset="0"/>
              </a:rPr>
              <a:t>should</a:t>
            </a:r>
            <a:r>
              <a:rPr lang="en-US" altLang="zh-CN" sz="2800">
                <a:solidFill>
                  <a:srgbClr val="FFCC00"/>
                </a:solidFill>
                <a:latin typeface="Arial" panose="020B0604020202020204" pitchFamily="34" charset="0"/>
                <a:cs typeface="Arial" panose="020B0604020202020204" pitchFamily="34" charset="0"/>
              </a:rPr>
              <a:t> have been, biologically speaking, that is, if one had grown and developed in an unimpeded way.  Human and personal possibilities have been lost.  The world has been narrowed, and so has consciousness.  Capacities have been inhibited.”										Abraham </a:t>
            </a:r>
            <a:r>
              <a:rPr lang="en-US" altLang="zh-CN" sz="2800" err="1">
                <a:solidFill>
                  <a:srgbClr val="FFCC00"/>
                </a:solidFill>
                <a:latin typeface="Arial" panose="020B0604020202020204" pitchFamily="34" charset="0"/>
                <a:cs typeface="Arial" panose="020B0604020202020204" pitchFamily="34" charset="0"/>
              </a:rPr>
              <a:t>Maslow</a:t>
            </a:r>
            <a:endParaRPr lang="en-US" altLang="zh-CN" sz="2800">
              <a:solidFill>
                <a:srgbClr val="FFCC00"/>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03555">
                                            <p:txEl>
                                              <p:charRg st="0" end="72"/>
                                            </p:txEl>
                                          </p:spTgt>
                                        </p:tgtEl>
                                        <p:attrNameLst>
                                          <p:attrName>style.visibility</p:attrName>
                                        </p:attrNameLst>
                                      </p:cBhvr>
                                      <p:to>
                                        <p:strVal val="visible"/>
                                      </p:to>
                                    </p:set>
                                    <p:animEffect transition="in" filter="fade">
                                      <p:cBhvr>
                                        <p:cTn id="7" dur="1000"/>
                                        <p:tgtEl>
                                          <p:spTgt spid="1303555">
                                            <p:txEl>
                                              <p:charRg st="0" end="72"/>
                                            </p:txEl>
                                          </p:spTgt>
                                        </p:tgtEl>
                                      </p:cBhvr>
                                    </p:animEffect>
                                    <p:anim calcmode="lin" valueType="num">
                                      <p:cBhvr>
                                        <p:cTn id="8" dur="1000" fill="hold"/>
                                        <p:tgtEl>
                                          <p:spTgt spid="1303555">
                                            <p:txEl>
                                              <p:charRg st="0" end="72"/>
                                            </p:txEl>
                                          </p:spTgt>
                                        </p:tgtEl>
                                        <p:attrNameLst>
                                          <p:attrName>ppt_x</p:attrName>
                                        </p:attrNameLst>
                                      </p:cBhvr>
                                      <p:tavLst>
                                        <p:tav tm="0">
                                          <p:val>
                                            <p:strVal val="#ppt_x"/>
                                          </p:val>
                                        </p:tav>
                                        <p:tav tm="100000">
                                          <p:val>
                                            <p:strVal val="#ppt_x"/>
                                          </p:val>
                                        </p:tav>
                                      </p:tavLst>
                                    </p:anim>
                                    <p:anim calcmode="lin" valueType="num">
                                      <p:cBhvr>
                                        <p:cTn id="9" dur="1000" fill="hold"/>
                                        <p:tgtEl>
                                          <p:spTgt spid="1303555">
                                            <p:txEl>
                                              <p:charRg st="0" end="7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0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355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6627" name="矩形 1306626"/>
          <p:cNvSpPr/>
          <p:nvPr/>
        </p:nvSpPr>
        <p:spPr>
          <a:xfrm>
            <a:off x="76200" y="152400"/>
            <a:ext cx="9067800" cy="64770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2800">
                <a:solidFill>
                  <a:schemeClr val="bg1"/>
                </a:solidFill>
                <a:latin typeface="Arial" panose="020B0604020202020204" pitchFamily="34" charset="0"/>
                <a:cs typeface="Arial" panose="020B0604020202020204" pitchFamily="34" charset="0"/>
              </a:rPr>
              <a:t>“We have discovered that there are human strengths that act as buffers against mental illness: courage, future-mindedness, optimism, interpersonal skill, faith, work ethic, hope, honesty, perseverance, the capacity for flow and insight, to name several...  We have shown that learning optimism prevents depression and anxiety in children and adults, roughly halving their incidence over the next two years...  Similarly, I believe, that if we wish to prevent drug abuse in teenagers who grow up in a neighborhood that puts them at risk, that the effective prevention is not remedial.  Rather it consists of identifying and amplifying the strengths that these teens already have.”</a:t>
            </a:r>
            <a:br>
              <a:rPr lang="en-US" altLang="zh-CN" sz="2800">
                <a:solidFill>
                  <a:schemeClr val="bg1"/>
                </a:solidFill>
                <a:latin typeface="Arial" panose="020B0604020202020204" pitchFamily="34" charset="0"/>
                <a:cs typeface="Arial" panose="020B0604020202020204" pitchFamily="34" charset="0"/>
              </a:rPr>
            </a:br>
            <a:r>
              <a:rPr lang="en-US" altLang="zh-CN" sz="2800">
                <a:solidFill>
                  <a:schemeClr val="bg1"/>
                </a:solidFill>
                <a:latin typeface="Arial" panose="020B0604020202020204" pitchFamily="34" charset="0"/>
                <a:cs typeface="Arial" panose="020B0604020202020204" pitchFamily="34" charset="0"/>
              </a:rPr>
              <a:t>						  Martin Seligman</a:t>
            </a:r>
            <a:endParaRPr lang="en-US" altLang="zh-CN" sz="2800">
              <a:solidFill>
                <a:schemeClr val="bg1"/>
              </a:solidFill>
              <a:latin typeface="Arial" panose="020B0604020202020204" pitchFamily="34" charset="0"/>
              <a:ea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8306" name="矩形 1378305"/>
          <p:cNvSpPr/>
          <p:nvPr/>
        </p:nvSpPr>
        <p:spPr>
          <a:xfrm>
            <a:off x="0" y="762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Prevention through cultivating positive</a:t>
            </a:r>
            <a:endParaRPr lang="en-US" altLang="zh-CN" sz="4000">
              <a:solidFill>
                <a:schemeClr val="bg1"/>
              </a:solidFill>
              <a:latin typeface="Arial" panose="020B0604020202020204" pitchFamily="34" charset="0"/>
              <a:ea typeface="Arial" panose="020B0604020202020204" pitchFamily="34" charset="0"/>
            </a:endParaRPr>
          </a:p>
        </p:txBody>
      </p:sp>
      <p:sp>
        <p:nvSpPr>
          <p:cNvPr id="1378307" name="矩形 1378306"/>
          <p:cNvSpPr/>
          <p:nvPr/>
        </p:nvSpPr>
        <p:spPr>
          <a:xfrm>
            <a:off x="76200" y="7620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Illness as the absence of health (vs. health as the absence of illness)</a:t>
            </a:r>
            <a:endParaRPr lang="en-US" altLang="zh-CN" sz="3500">
              <a:solidFill>
                <a:schemeClr val="bg1"/>
              </a:solidFill>
              <a:latin typeface="Arial" panose="020B0604020202020204" pitchFamily="34" charset="0"/>
              <a:ea typeface="Arial" panose="020B0604020202020204" pitchFamily="34" charset="0"/>
            </a:endParaRPr>
          </a:p>
        </p:txBody>
      </p:sp>
      <p:sp>
        <p:nvSpPr>
          <p:cNvPr id="1378308" name="文本框 1378307"/>
          <p:cNvSpPr txBox="1"/>
          <p:nvPr/>
        </p:nvSpPr>
        <p:spPr>
          <a:xfrm>
            <a:off x="60325" y="1981200"/>
            <a:ext cx="9083675" cy="3508375"/>
          </a:xfrm>
          <a:prstGeom prst="rect">
            <a:avLst/>
          </a:prstGeom>
          <a:noFill/>
          <a:ln w="12700">
            <a:noFill/>
          </a:ln>
        </p:spPr>
        <p:txBody>
          <a:bodyPr>
            <a:spAutoFit/>
          </a:bodyPr>
          <a:p>
            <a:r>
              <a:rPr lang="en-US" altLang="zh-CN" sz="2800">
                <a:solidFill>
                  <a:srgbClr val="FFCC00"/>
                </a:solidFill>
                <a:latin typeface="Arial" panose="020B0604020202020204" pitchFamily="34" charset="0"/>
                <a:cs typeface="Arial" panose="020B0604020202020204" pitchFamily="34" charset="0"/>
              </a:rPr>
              <a:t>“It [neurosis] is a falling short of what one could have been, and even, one could say, of what one </a:t>
            </a:r>
            <a:r>
              <a:rPr lang="en-US" altLang="zh-CN" sz="2800" i="1">
                <a:solidFill>
                  <a:srgbClr val="FFCC00"/>
                </a:solidFill>
                <a:latin typeface="Arial" panose="020B0604020202020204" pitchFamily="34" charset="0"/>
                <a:cs typeface="Arial" panose="020B0604020202020204" pitchFamily="34" charset="0"/>
              </a:rPr>
              <a:t>should</a:t>
            </a:r>
            <a:r>
              <a:rPr lang="en-US" altLang="zh-CN" sz="2800">
                <a:solidFill>
                  <a:srgbClr val="FFCC00"/>
                </a:solidFill>
                <a:latin typeface="Arial" panose="020B0604020202020204" pitchFamily="34" charset="0"/>
                <a:cs typeface="Arial" panose="020B0604020202020204" pitchFamily="34" charset="0"/>
              </a:rPr>
              <a:t> have been, biologically speaking, that is, if one had grown and developed in an unimpeded way.  Human and personal possibilities have been lost.  The world has been narrowed, and so has consciousness.  Capacities have been inhibited.”										Abraham </a:t>
            </a:r>
            <a:r>
              <a:rPr lang="en-US" altLang="zh-CN" sz="2800" err="1">
                <a:solidFill>
                  <a:srgbClr val="FFCC00"/>
                </a:solidFill>
                <a:latin typeface="Arial" panose="020B0604020202020204" pitchFamily="34" charset="0"/>
                <a:cs typeface="Arial" panose="020B0604020202020204" pitchFamily="34" charset="0"/>
              </a:rPr>
              <a:t>Maslow</a:t>
            </a:r>
            <a:endParaRPr lang="en-US" altLang="zh-CN" sz="2800">
              <a:solidFill>
                <a:srgbClr val="FFCC00"/>
              </a:solidFill>
              <a:latin typeface="Arial" panose="020B0604020202020204" pitchFamily="34" charset="0"/>
              <a:ea typeface="Arial" panose="020B0604020202020204" pitchFamily="34" charset="0"/>
            </a:endParaRPr>
          </a:p>
        </p:txBody>
      </p:sp>
      <p:sp>
        <p:nvSpPr>
          <p:cNvPr id="1378309" name="矩形 1378308"/>
          <p:cNvSpPr/>
          <p:nvPr/>
        </p:nvSpPr>
        <p:spPr>
          <a:xfrm>
            <a:off x="76200" y="5410200"/>
            <a:ext cx="9067800" cy="13716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500">
                <a:solidFill>
                  <a:schemeClr val="bg1"/>
                </a:solidFill>
                <a:latin typeface="Arial" panose="020B0604020202020204" pitchFamily="34" charset="0"/>
                <a:cs typeface="Arial" panose="020B0604020202020204" pitchFamily="34" charset="0"/>
              </a:rPr>
              <a:t>Stronger “psychological immune system”</a:t>
            </a:r>
            <a:endParaRPr lang="en-US" altLang="zh-CN" sz="3500">
              <a:solidFill>
                <a:schemeClr val="bg1"/>
              </a:solidFill>
              <a:latin typeface="Arial" panose="020B0604020202020204" pitchFamily="34" charset="0"/>
              <a:cs typeface="Arial" panose="020B0604020202020204" pitchFamily="34" charset="0"/>
            </a:endParaRPr>
          </a:p>
          <a:p>
            <a:pPr lvl="0"/>
            <a:r>
              <a:rPr lang="en-US" altLang="zh-CN" sz="3500">
                <a:solidFill>
                  <a:schemeClr val="bg1"/>
                </a:solidFill>
                <a:latin typeface="Arial" panose="020B0604020202020204" pitchFamily="34" charset="0"/>
                <a:cs typeface="Arial" panose="020B0604020202020204" pitchFamily="34" charset="0"/>
              </a:rPr>
              <a:t>Mental health at Harvard</a:t>
            </a:r>
            <a:endParaRPr lang="en-US" altLang="zh-CN" sz="35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78309">
                                            <p:txEl>
                                              <p:charRg st="0" end="39"/>
                                            </p:txEl>
                                          </p:spTgt>
                                        </p:tgtEl>
                                        <p:attrNameLst>
                                          <p:attrName>style.visibility</p:attrName>
                                        </p:attrNameLst>
                                      </p:cBhvr>
                                      <p:to>
                                        <p:strVal val="visible"/>
                                      </p:to>
                                    </p:set>
                                    <p:animEffect transition="in" filter="fade">
                                      <p:cBhvr>
                                        <p:cTn id="7" dur="1000"/>
                                        <p:tgtEl>
                                          <p:spTgt spid="1378309">
                                            <p:txEl>
                                              <p:charRg st="0" end="39"/>
                                            </p:txEl>
                                          </p:spTgt>
                                        </p:tgtEl>
                                      </p:cBhvr>
                                    </p:animEffect>
                                    <p:anim calcmode="lin" valueType="num">
                                      <p:cBhvr>
                                        <p:cTn id="8" dur="1000" fill="hold"/>
                                        <p:tgtEl>
                                          <p:spTgt spid="1378309">
                                            <p:txEl>
                                              <p:charRg st="0" end="39"/>
                                            </p:txEl>
                                          </p:spTgt>
                                        </p:tgtEl>
                                        <p:attrNameLst>
                                          <p:attrName>ppt_x</p:attrName>
                                        </p:attrNameLst>
                                      </p:cBhvr>
                                      <p:tavLst>
                                        <p:tav tm="0">
                                          <p:val>
                                            <p:strVal val="#ppt_x"/>
                                          </p:val>
                                        </p:tav>
                                        <p:tav tm="100000">
                                          <p:val>
                                            <p:strVal val="#ppt_x"/>
                                          </p:val>
                                        </p:tav>
                                      </p:tavLst>
                                    </p:anim>
                                    <p:anim calcmode="lin" valueType="num">
                                      <p:cBhvr>
                                        <p:cTn id="9" dur="1000" fill="hold"/>
                                        <p:tgtEl>
                                          <p:spTgt spid="1378309">
                                            <p:txEl>
                                              <p:charRg st="0" end="39"/>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78309">
                                            <p:txEl>
                                              <p:charRg st="39" end="64"/>
                                            </p:txEl>
                                          </p:spTgt>
                                        </p:tgtEl>
                                        <p:attrNameLst>
                                          <p:attrName>style.visibility</p:attrName>
                                        </p:attrNameLst>
                                      </p:cBhvr>
                                      <p:to>
                                        <p:strVal val="visible"/>
                                      </p:to>
                                    </p:set>
                                    <p:animEffect transition="in" filter="fade">
                                      <p:cBhvr>
                                        <p:cTn id="14" dur="1000"/>
                                        <p:tgtEl>
                                          <p:spTgt spid="1378309">
                                            <p:txEl>
                                              <p:charRg st="39" end="64"/>
                                            </p:txEl>
                                          </p:spTgt>
                                        </p:tgtEl>
                                      </p:cBhvr>
                                    </p:animEffect>
                                    <p:anim calcmode="lin" valueType="num">
                                      <p:cBhvr>
                                        <p:cTn id="15" dur="1000" fill="hold"/>
                                        <p:tgtEl>
                                          <p:spTgt spid="1378309">
                                            <p:txEl>
                                              <p:charRg st="39" end="64"/>
                                            </p:txEl>
                                          </p:spTgt>
                                        </p:tgtEl>
                                        <p:attrNameLst>
                                          <p:attrName>ppt_x</p:attrName>
                                        </p:attrNameLst>
                                      </p:cBhvr>
                                      <p:tavLst>
                                        <p:tav tm="0">
                                          <p:val>
                                            <p:strVal val="#ppt_x"/>
                                          </p:val>
                                        </p:tav>
                                        <p:tav tm="100000">
                                          <p:val>
                                            <p:strVal val="#ppt_x"/>
                                          </p:val>
                                        </p:tav>
                                      </p:tavLst>
                                    </p:anim>
                                    <p:anim calcmode="lin" valueType="num">
                                      <p:cBhvr>
                                        <p:cTn id="16" dur="1000" fill="hold"/>
                                        <p:tgtEl>
                                          <p:spTgt spid="1378309">
                                            <p:txEl>
                                              <p:charRg st="39" end="6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0354" name="矩形 1380353"/>
          <p:cNvSpPr/>
          <p:nvPr/>
        </p:nvSpPr>
        <p:spPr>
          <a:xfrm>
            <a:off x="457200" y="304800"/>
            <a:ext cx="8153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The Power of Positive Psychology:</a:t>
            </a:r>
            <a:br>
              <a:rPr lang="en-US" altLang="zh-CN" sz="4000">
                <a:solidFill>
                  <a:schemeClr val="bg1"/>
                </a:solidFill>
                <a:latin typeface="Arial" panose="020B0604020202020204" pitchFamily="34" charset="0"/>
                <a:cs typeface="Arial" panose="020B0604020202020204" pitchFamily="34" charset="0"/>
              </a:rPr>
            </a:br>
            <a:r>
              <a:rPr lang="en-US" altLang="zh-CN" sz="3600">
                <a:solidFill>
                  <a:schemeClr val="bg1"/>
                </a:solidFill>
                <a:latin typeface="Arial" panose="020B0604020202020204" pitchFamily="34" charset="0"/>
                <a:cs typeface="Arial" panose="020B0604020202020204" pitchFamily="34" charset="0"/>
              </a:rPr>
              <a:t>Studying At-Risk Population</a:t>
            </a:r>
            <a:endParaRPr lang="en-US" altLang="zh-CN" sz="3600">
              <a:solidFill>
                <a:srgbClr val="FFCC00"/>
              </a:solidFill>
              <a:latin typeface="Arial" panose="020B0604020202020204" pitchFamily="34" charset="0"/>
              <a:ea typeface="Arial" panose="020B0604020202020204" pitchFamily="34" charset="0"/>
            </a:endParaRPr>
          </a:p>
        </p:txBody>
      </p:sp>
      <p:sp>
        <p:nvSpPr>
          <p:cNvPr id="1380355" name="矩形 1380354"/>
          <p:cNvSpPr/>
          <p:nvPr/>
        </p:nvSpPr>
        <p:spPr>
          <a:xfrm>
            <a:off x="76200" y="1676400"/>
            <a:ext cx="9067800" cy="1447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a:solidFill>
                  <a:schemeClr val="bg1"/>
                </a:solidFill>
                <a:latin typeface="Arial" panose="020B0604020202020204" pitchFamily="34" charset="0"/>
                <a:cs typeface="Arial" panose="020B0604020202020204" pitchFamily="34" charset="0"/>
              </a:rPr>
              <a:t>Traditional psychology (Post-WWII)</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rgbClr val="FFCC00"/>
                </a:solidFill>
                <a:latin typeface="Arial" panose="020B0604020202020204" pitchFamily="34" charset="0"/>
                <a:cs typeface="Arial" panose="020B0604020202020204" pitchFamily="34" charset="0"/>
              </a:rPr>
              <a:t>“Why do these individuals fail?”</a:t>
            </a:r>
            <a:endParaRPr lang="en-US" altLang="zh-CN">
              <a:solidFill>
                <a:srgbClr val="FFCC00"/>
              </a:solidFill>
              <a:latin typeface="Arial" panose="020B0604020202020204" pitchFamily="34" charset="0"/>
              <a:ea typeface="Arial" panose="020B0604020202020204" pitchFamily="34" charset="0"/>
            </a:endParaRPr>
          </a:p>
        </p:txBody>
      </p:sp>
      <p:sp>
        <p:nvSpPr>
          <p:cNvPr id="1380356" name="矩形 1380355"/>
          <p:cNvSpPr/>
          <p:nvPr/>
        </p:nvSpPr>
        <p:spPr>
          <a:xfrm>
            <a:off x="76200" y="3048000"/>
            <a:ext cx="9067800" cy="1447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a:solidFill>
                  <a:schemeClr val="bg1"/>
                </a:solidFill>
                <a:latin typeface="Arial" panose="020B0604020202020204" pitchFamily="34" charset="0"/>
                <a:cs typeface="Arial" panose="020B0604020202020204" pitchFamily="34" charset="0"/>
              </a:rPr>
              <a:t>Positive psychological approach (1980s-)</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rgbClr val="FFCC00"/>
                </a:solidFill>
                <a:latin typeface="Arial" panose="020B0604020202020204" pitchFamily="34" charset="0"/>
                <a:cs typeface="Arial" panose="020B0604020202020204" pitchFamily="34" charset="0"/>
              </a:rPr>
              <a:t>“What makes some individuals succeed despite unfavorable circumstances?”</a:t>
            </a:r>
            <a:endParaRPr lang="en-US" altLang="zh-CN" sz="24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380354"/>
                                        </p:tgtEl>
                                        <p:attrNameLst>
                                          <p:attrName>style.visibility</p:attrName>
                                        </p:attrNameLst>
                                      </p:cBhvr>
                                      <p:to>
                                        <p:strVal val="visible"/>
                                      </p:to>
                                    </p:set>
                                    <p:anim calcmode="lin" valueType="num">
                                      <p:cBhvr>
                                        <p:cTn id="7" dur="1000" fill="hold"/>
                                        <p:tgtEl>
                                          <p:spTgt spid="1380354"/>
                                        </p:tgtEl>
                                        <p:attrNameLst>
                                          <p:attrName>ppt_x</p:attrName>
                                        </p:attrNameLst>
                                      </p:cBhvr>
                                      <p:tavLst>
                                        <p:tav tm="0">
                                          <p:val>
                                            <p:strVal val="#ppt_x-.2"/>
                                          </p:val>
                                        </p:tav>
                                        <p:tav tm="100000">
                                          <p:val>
                                            <p:strVal val="#ppt_x"/>
                                          </p:val>
                                        </p:tav>
                                      </p:tavLst>
                                    </p:anim>
                                    <p:anim calcmode="lin" valueType="num">
                                      <p:cBhvr>
                                        <p:cTn id="8" dur="1000" fill="hold"/>
                                        <p:tgtEl>
                                          <p:spTgt spid="1380354"/>
                                        </p:tgtEl>
                                        <p:attrNameLst>
                                          <p:attrName>ppt_y</p:attrName>
                                        </p:attrNameLst>
                                      </p:cBhvr>
                                      <p:tavLst>
                                        <p:tav tm="0">
                                          <p:val>
                                            <p:strVal val="#ppt_y"/>
                                          </p:val>
                                        </p:tav>
                                        <p:tav tm="100000">
                                          <p:val>
                                            <p:strVal val="#ppt_y"/>
                                          </p:val>
                                        </p:tav>
                                      </p:tavLst>
                                    </p:anim>
                                    <p:animEffect transition="in" filter="wipe(right)" prLst="gradientSize: 0.1">
                                      <p:cBhvr>
                                        <p:cTn id="9" dur="1000"/>
                                        <p:tgtEl>
                                          <p:spTgt spid="138035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0355">
                                            <p:txEl>
                                              <p:charRg st="0" end="35"/>
                                            </p:txEl>
                                          </p:spTgt>
                                        </p:tgtEl>
                                        <p:attrNameLst>
                                          <p:attrName>style.visibility</p:attrName>
                                        </p:attrNameLst>
                                      </p:cBhvr>
                                      <p:to>
                                        <p:strVal val="visible"/>
                                      </p:to>
                                    </p:set>
                                    <p:animEffect transition="in" filter="fade">
                                      <p:cBhvr>
                                        <p:cTn id="14" dur="1000"/>
                                        <p:tgtEl>
                                          <p:spTgt spid="1380355">
                                            <p:txEl>
                                              <p:charRg st="0" end="35"/>
                                            </p:txEl>
                                          </p:spTgt>
                                        </p:tgtEl>
                                      </p:cBhvr>
                                    </p:animEffect>
                                    <p:anim calcmode="lin" valueType="num">
                                      <p:cBhvr>
                                        <p:cTn id="15" dur="1000" fill="hold"/>
                                        <p:tgtEl>
                                          <p:spTgt spid="1380355">
                                            <p:txEl>
                                              <p:charRg st="0" end="35"/>
                                            </p:txEl>
                                          </p:spTgt>
                                        </p:tgtEl>
                                        <p:attrNameLst>
                                          <p:attrName>ppt_x</p:attrName>
                                        </p:attrNameLst>
                                      </p:cBhvr>
                                      <p:tavLst>
                                        <p:tav tm="0">
                                          <p:val>
                                            <p:strVal val="#ppt_x"/>
                                          </p:val>
                                        </p:tav>
                                        <p:tav tm="100000">
                                          <p:val>
                                            <p:strVal val="#ppt_x"/>
                                          </p:val>
                                        </p:tav>
                                      </p:tavLst>
                                    </p:anim>
                                    <p:anim calcmode="lin" valueType="num">
                                      <p:cBhvr>
                                        <p:cTn id="16" dur="1000" fill="hold"/>
                                        <p:tgtEl>
                                          <p:spTgt spid="1380355">
                                            <p:txEl>
                                              <p:charRg st="0" end="3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0355">
                                            <p:txEl>
                                              <p:charRg st="35" end="68"/>
                                            </p:txEl>
                                          </p:spTgt>
                                        </p:tgtEl>
                                        <p:attrNameLst>
                                          <p:attrName>style.visibility</p:attrName>
                                        </p:attrNameLst>
                                      </p:cBhvr>
                                      <p:to>
                                        <p:strVal val="visible"/>
                                      </p:to>
                                    </p:set>
                                    <p:animEffect transition="in" filter="fade">
                                      <p:cBhvr>
                                        <p:cTn id="21" dur="1000"/>
                                        <p:tgtEl>
                                          <p:spTgt spid="1380355">
                                            <p:txEl>
                                              <p:charRg st="35" end="68"/>
                                            </p:txEl>
                                          </p:spTgt>
                                        </p:tgtEl>
                                      </p:cBhvr>
                                    </p:animEffect>
                                    <p:anim calcmode="lin" valueType="num">
                                      <p:cBhvr>
                                        <p:cTn id="22" dur="1000" fill="hold"/>
                                        <p:tgtEl>
                                          <p:spTgt spid="1380355">
                                            <p:txEl>
                                              <p:charRg st="35" end="68"/>
                                            </p:txEl>
                                          </p:spTgt>
                                        </p:tgtEl>
                                        <p:attrNameLst>
                                          <p:attrName>ppt_x</p:attrName>
                                        </p:attrNameLst>
                                      </p:cBhvr>
                                      <p:tavLst>
                                        <p:tav tm="0">
                                          <p:val>
                                            <p:strVal val="#ppt_x"/>
                                          </p:val>
                                        </p:tav>
                                        <p:tav tm="100000">
                                          <p:val>
                                            <p:strVal val="#ppt_x"/>
                                          </p:val>
                                        </p:tav>
                                      </p:tavLst>
                                    </p:anim>
                                    <p:anim calcmode="lin" valueType="num">
                                      <p:cBhvr>
                                        <p:cTn id="23" dur="1000" fill="hold"/>
                                        <p:tgtEl>
                                          <p:spTgt spid="1380355">
                                            <p:txEl>
                                              <p:charRg st="35" end="68"/>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80356">
                                            <p:txEl>
                                              <p:charRg st="0" end="41"/>
                                            </p:txEl>
                                          </p:spTgt>
                                        </p:tgtEl>
                                        <p:attrNameLst>
                                          <p:attrName>style.visibility</p:attrName>
                                        </p:attrNameLst>
                                      </p:cBhvr>
                                      <p:to>
                                        <p:strVal val="visible"/>
                                      </p:to>
                                    </p:set>
                                    <p:animEffect transition="in" filter="fade">
                                      <p:cBhvr>
                                        <p:cTn id="28" dur="1000"/>
                                        <p:tgtEl>
                                          <p:spTgt spid="1380356">
                                            <p:txEl>
                                              <p:charRg st="0" end="41"/>
                                            </p:txEl>
                                          </p:spTgt>
                                        </p:tgtEl>
                                      </p:cBhvr>
                                    </p:animEffect>
                                    <p:anim calcmode="lin" valueType="num">
                                      <p:cBhvr>
                                        <p:cTn id="29" dur="1000" fill="hold"/>
                                        <p:tgtEl>
                                          <p:spTgt spid="1380356">
                                            <p:txEl>
                                              <p:charRg st="0" end="41"/>
                                            </p:txEl>
                                          </p:spTgt>
                                        </p:tgtEl>
                                        <p:attrNameLst>
                                          <p:attrName>ppt_x</p:attrName>
                                        </p:attrNameLst>
                                      </p:cBhvr>
                                      <p:tavLst>
                                        <p:tav tm="0">
                                          <p:val>
                                            <p:strVal val="#ppt_x"/>
                                          </p:val>
                                        </p:tav>
                                        <p:tav tm="100000">
                                          <p:val>
                                            <p:strVal val="#ppt_x"/>
                                          </p:val>
                                        </p:tav>
                                      </p:tavLst>
                                    </p:anim>
                                    <p:anim calcmode="lin" valueType="num">
                                      <p:cBhvr>
                                        <p:cTn id="30" dur="1000" fill="hold"/>
                                        <p:tgtEl>
                                          <p:spTgt spid="1380356">
                                            <p:txEl>
                                              <p:charRg st="0" end="4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80356">
                                            <p:txEl>
                                              <p:charRg st="41" end="114"/>
                                            </p:txEl>
                                          </p:spTgt>
                                        </p:tgtEl>
                                        <p:attrNameLst>
                                          <p:attrName>style.visibility</p:attrName>
                                        </p:attrNameLst>
                                      </p:cBhvr>
                                      <p:to>
                                        <p:strVal val="visible"/>
                                      </p:to>
                                    </p:set>
                                    <p:animEffect transition="in" filter="fade">
                                      <p:cBhvr>
                                        <p:cTn id="35" dur="1000"/>
                                        <p:tgtEl>
                                          <p:spTgt spid="1380356">
                                            <p:txEl>
                                              <p:charRg st="41" end="114"/>
                                            </p:txEl>
                                          </p:spTgt>
                                        </p:tgtEl>
                                      </p:cBhvr>
                                    </p:animEffect>
                                    <p:anim calcmode="lin" valueType="num">
                                      <p:cBhvr>
                                        <p:cTn id="36" dur="1000" fill="hold"/>
                                        <p:tgtEl>
                                          <p:spTgt spid="1380356">
                                            <p:txEl>
                                              <p:charRg st="41" end="114"/>
                                            </p:txEl>
                                          </p:spTgt>
                                        </p:tgtEl>
                                        <p:attrNameLst>
                                          <p:attrName>ppt_x</p:attrName>
                                        </p:attrNameLst>
                                      </p:cBhvr>
                                      <p:tavLst>
                                        <p:tav tm="0">
                                          <p:val>
                                            <p:strVal val="#ppt_x"/>
                                          </p:val>
                                        </p:tav>
                                        <p:tav tm="100000">
                                          <p:val>
                                            <p:strVal val="#ppt_x"/>
                                          </p:val>
                                        </p:tav>
                                      </p:tavLst>
                                    </p:anim>
                                    <p:anim calcmode="lin" valueType="num">
                                      <p:cBhvr>
                                        <p:cTn id="37" dur="1000" fill="hold"/>
                                        <p:tgtEl>
                                          <p:spTgt spid="1380356">
                                            <p:txEl>
                                              <p:charRg st="41" end="1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02" name="矩形 1382401"/>
          <p:cNvSpPr/>
          <p:nvPr/>
        </p:nvSpPr>
        <p:spPr>
          <a:xfrm>
            <a:off x="457200" y="0"/>
            <a:ext cx="8153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Resilience</a:t>
            </a:r>
            <a:endParaRPr lang="en-US" altLang="zh-CN" sz="4000">
              <a:solidFill>
                <a:srgbClr val="FFCC00"/>
              </a:solidFill>
              <a:latin typeface="Arial" panose="020B0604020202020204" pitchFamily="34" charset="0"/>
              <a:ea typeface="Arial" panose="020B0604020202020204" pitchFamily="34" charset="0"/>
            </a:endParaRPr>
          </a:p>
        </p:txBody>
      </p:sp>
      <p:sp>
        <p:nvSpPr>
          <p:cNvPr id="1382403" name="文本框 1382402"/>
          <p:cNvSpPr txBox="1"/>
          <p:nvPr/>
        </p:nvSpPr>
        <p:spPr>
          <a:xfrm>
            <a:off x="60325" y="533400"/>
            <a:ext cx="9083675" cy="1800225"/>
          </a:xfrm>
          <a:prstGeom prst="rect">
            <a:avLst/>
          </a:prstGeom>
          <a:noFill/>
          <a:ln w="12700">
            <a:noFill/>
          </a:ln>
        </p:spPr>
        <p:txBody>
          <a:bodyPr>
            <a:spAutoFit/>
          </a:bodyPr>
          <a:p>
            <a:r>
              <a:rPr lang="en-US" altLang="zh-CN" sz="2800">
                <a:solidFill>
                  <a:srgbClr val="FFCC00"/>
                </a:solidFill>
                <a:latin typeface="Arial" panose="020B0604020202020204" pitchFamily="34" charset="0"/>
                <a:cs typeface="Arial" panose="020B0604020202020204" pitchFamily="34" charset="0"/>
              </a:rPr>
              <a:t>“A class of phenomena characterized by patterns of positive adaptation in the context of significant adversity or risk.”</a:t>
            </a:r>
            <a:endParaRPr lang="en-US" altLang="zh-CN" sz="2800">
              <a:solidFill>
                <a:srgbClr val="FFCC00"/>
              </a:solidFill>
              <a:latin typeface="Arial" panose="020B0604020202020204" pitchFamily="34" charset="0"/>
              <a:cs typeface="Arial" panose="020B0604020202020204" pitchFamily="34" charset="0"/>
            </a:endParaRPr>
          </a:p>
          <a:p>
            <a:r>
              <a:rPr lang="en-US" altLang="zh-CN" sz="2800">
                <a:solidFill>
                  <a:srgbClr val="FFCC00"/>
                </a:solidFill>
                <a:latin typeface="Arial" panose="020B0604020202020204" pitchFamily="34" charset="0"/>
                <a:cs typeface="Arial" panose="020B0604020202020204" pitchFamily="34" charset="0"/>
              </a:rPr>
              <a:t>						Masten &amp; Reed</a:t>
            </a:r>
            <a:endParaRPr lang="en-US" altLang="zh-CN" sz="2800">
              <a:solidFill>
                <a:srgbClr val="FFCC00"/>
              </a:solidFill>
              <a:latin typeface="Arial" panose="020B0604020202020204" pitchFamily="34" charset="0"/>
              <a:ea typeface="Arial" panose="020B0604020202020204" pitchFamily="34" charset="0"/>
            </a:endParaRPr>
          </a:p>
        </p:txBody>
      </p:sp>
      <p:sp>
        <p:nvSpPr>
          <p:cNvPr id="1382404" name="矩形 1382403"/>
          <p:cNvSpPr/>
          <p:nvPr/>
        </p:nvSpPr>
        <p:spPr>
          <a:xfrm>
            <a:off x="76200" y="22098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100">
                <a:solidFill>
                  <a:schemeClr val="bg1"/>
                </a:solidFill>
                <a:latin typeface="Arial" panose="020B0604020202020204" pitchFamily="34" charset="0"/>
                <a:cs typeface="Arial" panose="020B0604020202020204" pitchFamily="34" charset="0"/>
              </a:rPr>
              <a:t>Superkids?</a:t>
            </a:r>
            <a:endParaRPr lang="en-US" altLang="zh-CN" sz="3100">
              <a:solidFill>
                <a:schemeClr val="bg1"/>
              </a:solidFill>
              <a:latin typeface="Arial" panose="020B0604020202020204" pitchFamily="34" charset="0"/>
              <a:cs typeface="Arial" panose="020B0604020202020204" pitchFamily="34" charset="0"/>
            </a:endParaRPr>
          </a:p>
          <a:p>
            <a:pPr lvl="0"/>
            <a:r>
              <a:rPr lang="en-US" altLang="zh-CN" sz="3100">
                <a:solidFill>
                  <a:schemeClr val="bg1"/>
                </a:solidFill>
                <a:latin typeface="Arial" panose="020B0604020202020204" pitchFamily="34" charset="0"/>
                <a:cs typeface="Arial" panose="020B0604020202020204" pitchFamily="34" charset="0"/>
              </a:rPr>
              <a:t>Ordinary characteristics, extraordinary results</a:t>
            </a:r>
            <a:endParaRPr lang="en-US" altLang="zh-CN" sz="3100">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Social support</a:t>
            </a:r>
            <a:endParaRPr lang="en-US" altLang="zh-CN">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382404">
                                            <p:txEl>
                                              <p:charRg st="0" end="11"/>
                                            </p:txEl>
                                          </p:spTgt>
                                        </p:tgtEl>
                                        <p:attrNameLst>
                                          <p:attrName>style.visibility</p:attrName>
                                        </p:attrNameLst>
                                      </p:cBhvr>
                                      <p:to>
                                        <p:strVal val="visible"/>
                                      </p:to>
                                    </p:set>
                                    <p:animEffect transition="in" filter="fade">
                                      <p:cBhvr>
                                        <p:cTn id="11" dur="1000"/>
                                        <p:tgtEl>
                                          <p:spTgt spid="1382404">
                                            <p:txEl>
                                              <p:charRg st="0" end="11"/>
                                            </p:txEl>
                                          </p:spTgt>
                                        </p:tgtEl>
                                      </p:cBhvr>
                                    </p:animEffect>
                                    <p:anim calcmode="lin" valueType="num">
                                      <p:cBhvr>
                                        <p:cTn id="12" dur="1000" fill="hold"/>
                                        <p:tgtEl>
                                          <p:spTgt spid="1382404">
                                            <p:txEl>
                                              <p:charRg st="0" end="11"/>
                                            </p:txEl>
                                          </p:spTgt>
                                        </p:tgtEl>
                                        <p:attrNameLst>
                                          <p:attrName>ppt_x</p:attrName>
                                        </p:attrNameLst>
                                      </p:cBhvr>
                                      <p:tavLst>
                                        <p:tav tm="0">
                                          <p:val>
                                            <p:strVal val="#ppt_x"/>
                                          </p:val>
                                        </p:tav>
                                        <p:tav tm="100000">
                                          <p:val>
                                            <p:strVal val="#ppt_x"/>
                                          </p:val>
                                        </p:tav>
                                      </p:tavLst>
                                    </p:anim>
                                    <p:anim calcmode="lin" valueType="num">
                                      <p:cBhvr>
                                        <p:cTn id="13" dur="1000" fill="hold"/>
                                        <p:tgtEl>
                                          <p:spTgt spid="1382404">
                                            <p:txEl>
                                              <p:charRg st="0" end="1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382404">
                                            <p:txEl>
                                              <p:charRg st="11" end="59"/>
                                            </p:txEl>
                                          </p:spTgt>
                                        </p:tgtEl>
                                        <p:attrNameLst>
                                          <p:attrName>style.visibility</p:attrName>
                                        </p:attrNameLst>
                                      </p:cBhvr>
                                      <p:to>
                                        <p:strVal val="visible"/>
                                      </p:to>
                                    </p:set>
                                    <p:animEffect transition="in" filter="fade">
                                      <p:cBhvr>
                                        <p:cTn id="18" dur="1000"/>
                                        <p:tgtEl>
                                          <p:spTgt spid="1382404">
                                            <p:txEl>
                                              <p:charRg st="11" end="59"/>
                                            </p:txEl>
                                          </p:spTgt>
                                        </p:tgtEl>
                                      </p:cBhvr>
                                    </p:animEffect>
                                    <p:anim calcmode="lin" valueType="num">
                                      <p:cBhvr>
                                        <p:cTn id="19" dur="1000" fill="hold"/>
                                        <p:tgtEl>
                                          <p:spTgt spid="1382404">
                                            <p:txEl>
                                              <p:charRg st="11" end="59"/>
                                            </p:txEl>
                                          </p:spTgt>
                                        </p:tgtEl>
                                        <p:attrNameLst>
                                          <p:attrName>ppt_x</p:attrName>
                                        </p:attrNameLst>
                                      </p:cBhvr>
                                      <p:tavLst>
                                        <p:tav tm="0">
                                          <p:val>
                                            <p:strVal val="#ppt_x"/>
                                          </p:val>
                                        </p:tav>
                                        <p:tav tm="100000">
                                          <p:val>
                                            <p:strVal val="#ppt_x"/>
                                          </p:val>
                                        </p:tav>
                                      </p:tavLst>
                                    </p:anim>
                                    <p:anim calcmode="lin" valueType="num">
                                      <p:cBhvr>
                                        <p:cTn id="20" dur="1000" fill="hold"/>
                                        <p:tgtEl>
                                          <p:spTgt spid="1382404">
                                            <p:txEl>
                                              <p:charRg st="11" end="59"/>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382404">
                                            <p:txEl>
                                              <p:charRg st="59" end="74"/>
                                            </p:txEl>
                                          </p:spTgt>
                                        </p:tgtEl>
                                        <p:attrNameLst>
                                          <p:attrName>style.visibility</p:attrName>
                                        </p:attrNameLst>
                                      </p:cBhvr>
                                      <p:to>
                                        <p:strVal val="visible"/>
                                      </p:to>
                                    </p:set>
                                    <p:animEffect transition="in" filter="fade">
                                      <p:cBhvr>
                                        <p:cTn id="25" dur="1000"/>
                                        <p:tgtEl>
                                          <p:spTgt spid="1382404">
                                            <p:txEl>
                                              <p:charRg st="59" end="74"/>
                                            </p:txEl>
                                          </p:spTgt>
                                        </p:tgtEl>
                                      </p:cBhvr>
                                    </p:animEffect>
                                    <p:anim calcmode="lin" valueType="num">
                                      <p:cBhvr>
                                        <p:cTn id="26" dur="1000" fill="hold"/>
                                        <p:tgtEl>
                                          <p:spTgt spid="1382404">
                                            <p:txEl>
                                              <p:charRg st="59" end="74"/>
                                            </p:txEl>
                                          </p:spTgt>
                                        </p:tgtEl>
                                        <p:attrNameLst>
                                          <p:attrName>ppt_x</p:attrName>
                                        </p:attrNameLst>
                                      </p:cBhvr>
                                      <p:tavLst>
                                        <p:tav tm="0">
                                          <p:val>
                                            <p:strVal val="#ppt_x"/>
                                          </p:val>
                                        </p:tav>
                                        <p:tav tm="100000">
                                          <p:val>
                                            <p:strVal val="#ppt_x"/>
                                          </p:val>
                                        </p:tav>
                                      </p:tavLst>
                                    </p:anim>
                                    <p:anim calcmode="lin" valueType="num">
                                      <p:cBhvr>
                                        <p:cTn id="27" dur="1000" fill="hold"/>
                                        <p:tgtEl>
                                          <p:spTgt spid="1382404">
                                            <p:txEl>
                                              <p:charRg st="59" end="7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87524" name="Will&amp;Grace-Help.mpg">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a:stretch>
            <a:fillRect/>
          </a:stretch>
        </p:blipFill>
        <p:spPr>
          <a:xfrm>
            <a:off x="0" y="0"/>
            <a:ext cx="9144000" cy="685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3954" fill="hold"/>
                                        <p:tgtEl>
                                          <p:spTgt spid="13875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387524"/>
                </p:tgtEl>
              </p:cMediaNode>
            </p:video>
            <p:seq concurrent="1" nextAc="seek">
              <p:cTn id="8" restart="whenNotActive" fill="hold" evtFilter="cancelBubble" nodeType="interactiveSeq">
                <p:stCondLst>
                  <p:cond evt="onClick" delay="0">
                    <p:tgtEl>
                      <p:spTgt spid="138752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87524"/>
                                        </p:tgtEl>
                                      </p:cBhvr>
                                    </p:cmd>
                                  </p:childTnLst>
                                </p:cTn>
                              </p:par>
                            </p:childTnLst>
                          </p:cTn>
                        </p:par>
                      </p:childTnLst>
                    </p:cTn>
                  </p:par>
                </p:childTnLst>
              </p:cTn>
              <p:nextCondLst>
                <p:cond evt="onClick" delay="0">
                  <p:tgtEl>
                    <p:spTgt spid="1387524"/>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5474" name="矩形 1385473"/>
          <p:cNvSpPr/>
          <p:nvPr/>
        </p:nvSpPr>
        <p:spPr>
          <a:xfrm>
            <a:off x="457200" y="0"/>
            <a:ext cx="81534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4000">
                <a:solidFill>
                  <a:schemeClr val="bg1"/>
                </a:solidFill>
                <a:latin typeface="Arial" panose="020B0604020202020204" pitchFamily="34" charset="0"/>
                <a:cs typeface="Arial" panose="020B0604020202020204" pitchFamily="34" charset="0"/>
              </a:rPr>
              <a:t>Resilience</a:t>
            </a:r>
            <a:endParaRPr lang="en-US" altLang="zh-CN" sz="4000">
              <a:solidFill>
                <a:srgbClr val="FFCC00"/>
              </a:solidFill>
              <a:latin typeface="Arial" panose="020B0604020202020204" pitchFamily="34" charset="0"/>
              <a:ea typeface="Arial" panose="020B0604020202020204" pitchFamily="34" charset="0"/>
            </a:endParaRPr>
          </a:p>
        </p:txBody>
      </p:sp>
      <p:sp>
        <p:nvSpPr>
          <p:cNvPr id="1385475" name="文本框 1385474"/>
          <p:cNvSpPr txBox="1"/>
          <p:nvPr/>
        </p:nvSpPr>
        <p:spPr>
          <a:xfrm>
            <a:off x="60325" y="533400"/>
            <a:ext cx="9083675" cy="1800225"/>
          </a:xfrm>
          <a:prstGeom prst="rect">
            <a:avLst/>
          </a:prstGeom>
          <a:noFill/>
          <a:ln w="12700">
            <a:noFill/>
          </a:ln>
        </p:spPr>
        <p:txBody>
          <a:bodyPr>
            <a:spAutoFit/>
          </a:bodyPr>
          <a:p>
            <a:r>
              <a:rPr lang="en-US" altLang="zh-CN" sz="2800">
                <a:solidFill>
                  <a:srgbClr val="FFCC00"/>
                </a:solidFill>
                <a:latin typeface="Arial" panose="020B0604020202020204" pitchFamily="34" charset="0"/>
                <a:cs typeface="Arial" panose="020B0604020202020204" pitchFamily="34" charset="0"/>
              </a:rPr>
              <a:t>“A class of phenomena characterized by patterns of positive adaptation in the context of significant adversity or risk.”</a:t>
            </a:r>
            <a:endParaRPr lang="en-US" altLang="zh-CN" sz="2800">
              <a:solidFill>
                <a:srgbClr val="FFCC00"/>
              </a:solidFill>
              <a:latin typeface="Arial" panose="020B0604020202020204" pitchFamily="34" charset="0"/>
              <a:cs typeface="Arial" panose="020B0604020202020204" pitchFamily="34" charset="0"/>
            </a:endParaRPr>
          </a:p>
          <a:p>
            <a:r>
              <a:rPr lang="en-US" altLang="zh-CN" sz="2800">
                <a:solidFill>
                  <a:srgbClr val="FFCC00"/>
                </a:solidFill>
                <a:latin typeface="Arial" panose="020B0604020202020204" pitchFamily="34" charset="0"/>
                <a:cs typeface="Arial" panose="020B0604020202020204" pitchFamily="34" charset="0"/>
              </a:rPr>
              <a:t>						Masten &amp; Reed</a:t>
            </a:r>
            <a:endParaRPr lang="en-US" altLang="zh-CN" sz="2800">
              <a:solidFill>
                <a:srgbClr val="FFCC00"/>
              </a:solidFill>
              <a:latin typeface="Arial" panose="020B0604020202020204" pitchFamily="34" charset="0"/>
              <a:ea typeface="Arial" panose="020B0604020202020204" pitchFamily="34" charset="0"/>
            </a:endParaRPr>
          </a:p>
        </p:txBody>
      </p:sp>
      <p:sp>
        <p:nvSpPr>
          <p:cNvPr id="1385476" name="矩形 1385475"/>
          <p:cNvSpPr/>
          <p:nvPr/>
        </p:nvSpPr>
        <p:spPr>
          <a:xfrm>
            <a:off x="76200" y="2209800"/>
            <a:ext cx="90678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sz="3100">
                <a:solidFill>
                  <a:schemeClr val="bg1"/>
                </a:solidFill>
                <a:latin typeface="Arial" panose="020B0604020202020204" pitchFamily="34" charset="0"/>
                <a:cs typeface="Arial" panose="020B0604020202020204" pitchFamily="34" charset="0"/>
              </a:rPr>
              <a:t>Superkids?</a:t>
            </a:r>
            <a:endParaRPr lang="en-US" altLang="zh-CN" sz="3100">
              <a:solidFill>
                <a:schemeClr val="bg1"/>
              </a:solidFill>
              <a:latin typeface="Arial" panose="020B0604020202020204" pitchFamily="34" charset="0"/>
              <a:cs typeface="Arial" panose="020B0604020202020204" pitchFamily="34" charset="0"/>
            </a:endParaRPr>
          </a:p>
          <a:p>
            <a:pPr lvl="0"/>
            <a:r>
              <a:rPr lang="en-US" altLang="zh-CN" sz="3100">
                <a:solidFill>
                  <a:schemeClr val="bg1"/>
                </a:solidFill>
                <a:latin typeface="Arial" panose="020B0604020202020204" pitchFamily="34" charset="0"/>
                <a:cs typeface="Arial" panose="020B0604020202020204" pitchFamily="34" charset="0"/>
              </a:rPr>
              <a:t>Ordinary characteristics, extraordinary results</a:t>
            </a:r>
            <a:endParaRPr lang="en-US" altLang="zh-CN" sz="3100">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Social support</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Optimism and self-esteem</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Faith and a sense of meaning</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Prosocial behavior</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Focusing on strengths</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Set goals</a:t>
            </a:r>
            <a:endParaRPr lang="en-US" altLang="zh-CN">
              <a:solidFill>
                <a:schemeClr val="bg1"/>
              </a:solidFill>
              <a:latin typeface="Arial" panose="020B0604020202020204" pitchFamily="34" charset="0"/>
              <a:cs typeface="Arial" panose="020B0604020202020204" pitchFamily="34" charset="0"/>
            </a:endParaRPr>
          </a:p>
          <a:p>
            <a:pPr lvl="1"/>
            <a:r>
              <a:rPr lang="en-US" altLang="zh-CN">
                <a:solidFill>
                  <a:schemeClr val="bg1"/>
                </a:solidFill>
                <a:latin typeface="Arial" panose="020B0604020202020204" pitchFamily="34" charset="0"/>
                <a:cs typeface="Arial" panose="020B0604020202020204" pitchFamily="34" charset="0"/>
              </a:rPr>
              <a:t>A role model</a:t>
            </a:r>
            <a:endParaRPr lang="en-US" altLang="zh-CN">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5476">
                                            <p:txEl>
                                              <p:charRg st="74" end="99"/>
                                            </p:txEl>
                                          </p:spTgt>
                                        </p:tgtEl>
                                        <p:attrNameLst>
                                          <p:attrName>style.visibility</p:attrName>
                                        </p:attrNameLst>
                                      </p:cBhvr>
                                      <p:to>
                                        <p:strVal val="visible"/>
                                      </p:to>
                                    </p:set>
                                    <p:animEffect transition="in" filter="fade">
                                      <p:cBhvr>
                                        <p:cTn id="7" dur="1000"/>
                                        <p:tgtEl>
                                          <p:spTgt spid="1385476">
                                            <p:txEl>
                                              <p:charRg st="74" end="99"/>
                                            </p:txEl>
                                          </p:spTgt>
                                        </p:tgtEl>
                                      </p:cBhvr>
                                    </p:animEffect>
                                    <p:anim calcmode="lin" valueType="num">
                                      <p:cBhvr>
                                        <p:cTn id="8" dur="1000" fill="hold"/>
                                        <p:tgtEl>
                                          <p:spTgt spid="1385476">
                                            <p:txEl>
                                              <p:charRg st="74" end="99"/>
                                            </p:txEl>
                                          </p:spTgt>
                                        </p:tgtEl>
                                        <p:attrNameLst>
                                          <p:attrName>ppt_x</p:attrName>
                                        </p:attrNameLst>
                                      </p:cBhvr>
                                      <p:tavLst>
                                        <p:tav tm="0">
                                          <p:val>
                                            <p:strVal val="#ppt_x"/>
                                          </p:val>
                                        </p:tav>
                                        <p:tav tm="100000">
                                          <p:val>
                                            <p:strVal val="#ppt_x"/>
                                          </p:val>
                                        </p:tav>
                                      </p:tavLst>
                                    </p:anim>
                                    <p:anim calcmode="lin" valueType="num">
                                      <p:cBhvr>
                                        <p:cTn id="9" dur="1000" fill="hold"/>
                                        <p:tgtEl>
                                          <p:spTgt spid="1385476">
                                            <p:txEl>
                                              <p:charRg st="74" end="99"/>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5476">
                                            <p:txEl>
                                              <p:charRg st="99" end="128"/>
                                            </p:txEl>
                                          </p:spTgt>
                                        </p:tgtEl>
                                        <p:attrNameLst>
                                          <p:attrName>style.visibility</p:attrName>
                                        </p:attrNameLst>
                                      </p:cBhvr>
                                      <p:to>
                                        <p:strVal val="visible"/>
                                      </p:to>
                                    </p:set>
                                    <p:animEffect transition="in" filter="fade">
                                      <p:cBhvr>
                                        <p:cTn id="14" dur="1000"/>
                                        <p:tgtEl>
                                          <p:spTgt spid="1385476">
                                            <p:txEl>
                                              <p:charRg st="99" end="128"/>
                                            </p:txEl>
                                          </p:spTgt>
                                        </p:tgtEl>
                                      </p:cBhvr>
                                    </p:animEffect>
                                    <p:anim calcmode="lin" valueType="num">
                                      <p:cBhvr>
                                        <p:cTn id="15" dur="1000" fill="hold"/>
                                        <p:tgtEl>
                                          <p:spTgt spid="1385476">
                                            <p:txEl>
                                              <p:charRg st="99" end="128"/>
                                            </p:txEl>
                                          </p:spTgt>
                                        </p:tgtEl>
                                        <p:attrNameLst>
                                          <p:attrName>ppt_x</p:attrName>
                                        </p:attrNameLst>
                                      </p:cBhvr>
                                      <p:tavLst>
                                        <p:tav tm="0">
                                          <p:val>
                                            <p:strVal val="#ppt_x"/>
                                          </p:val>
                                        </p:tav>
                                        <p:tav tm="100000">
                                          <p:val>
                                            <p:strVal val="#ppt_x"/>
                                          </p:val>
                                        </p:tav>
                                      </p:tavLst>
                                    </p:anim>
                                    <p:anim calcmode="lin" valueType="num">
                                      <p:cBhvr>
                                        <p:cTn id="16" dur="1000" fill="hold"/>
                                        <p:tgtEl>
                                          <p:spTgt spid="1385476">
                                            <p:txEl>
                                              <p:charRg st="99" end="128"/>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5476">
                                            <p:txEl>
                                              <p:charRg st="128" end="147"/>
                                            </p:txEl>
                                          </p:spTgt>
                                        </p:tgtEl>
                                        <p:attrNameLst>
                                          <p:attrName>style.visibility</p:attrName>
                                        </p:attrNameLst>
                                      </p:cBhvr>
                                      <p:to>
                                        <p:strVal val="visible"/>
                                      </p:to>
                                    </p:set>
                                    <p:animEffect transition="in" filter="fade">
                                      <p:cBhvr>
                                        <p:cTn id="21" dur="1000"/>
                                        <p:tgtEl>
                                          <p:spTgt spid="1385476">
                                            <p:txEl>
                                              <p:charRg st="128" end="147"/>
                                            </p:txEl>
                                          </p:spTgt>
                                        </p:tgtEl>
                                      </p:cBhvr>
                                    </p:animEffect>
                                    <p:anim calcmode="lin" valueType="num">
                                      <p:cBhvr>
                                        <p:cTn id="22" dur="1000" fill="hold"/>
                                        <p:tgtEl>
                                          <p:spTgt spid="1385476">
                                            <p:txEl>
                                              <p:charRg st="128" end="147"/>
                                            </p:txEl>
                                          </p:spTgt>
                                        </p:tgtEl>
                                        <p:attrNameLst>
                                          <p:attrName>ppt_x</p:attrName>
                                        </p:attrNameLst>
                                      </p:cBhvr>
                                      <p:tavLst>
                                        <p:tav tm="0">
                                          <p:val>
                                            <p:strVal val="#ppt_x"/>
                                          </p:val>
                                        </p:tav>
                                        <p:tav tm="100000">
                                          <p:val>
                                            <p:strVal val="#ppt_x"/>
                                          </p:val>
                                        </p:tav>
                                      </p:tavLst>
                                    </p:anim>
                                    <p:anim calcmode="lin" valueType="num">
                                      <p:cBhvr>
                                        <p:cTn id="23" dur="1000" fill="hold"/>
                                        <p:tgtEl>
                                          <p:spTgt spid="1385476">
                                            <p:txEl>
                                              <p:charRg st="128" end="14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85476">
                                            <p:txEl>
                                              <p:charRg st="147" end="169"/>
                                            </p:txEl>
                                          </p:spTgt>
                                        </p:tgtEl>
                                        <p:attrNameLst>
                                          <p:attrName>style.visibility</p:attrName>
                                        </p:attrNameLst>
                                      </p:cBhvr>
                                      <p:to>
                                        <p:strVal val="visible"/>
                                      </p:to>
                                    </p:set>
                                    <p:animEffect transition="in" filter="fade">
                                      <p:cBhvr>
                                        <p:cTn id="28" dur="1000"/>
                                        <p:tgtEl>
                                          <p:spTgt spid="1385476">
                                            <p:txEl>
                                              <p:charRg st="147" end="169"/>
                                            </p:txEl>
                                          </p:spTgt>
                                        </p:tgtEl>
                                      </p:cBhvr>
                                    </p:animEffect>
                                    <p:anim calcmode="lin" valueType="num">
                                      <p:cBhvr>
                                        <p:cTn id="29" dur="1000" fill="hold"/>
                                        <p:tgtEl>
                                          <p:spTgt spid="1385476">
                                            <p:txEl>
                                              <p:charRg st="147" end="169"/>
                                            </p:txEl>
                                          </p:spTgt>
                                        </p:tgtEl>
                                        <p:attrNameLst>
                                          <p:attrName>ppt_x</p:attrName>
                                        </p:attrNameLst>
                                      </p:cBhvr>
                                      <p:tavLst>
                                        <p:tav tm="0">
                                          <p:val>
                                            <p:strVal val="#ppt_x"/>
                                          </p:val>
                                        </p:tav>
                                        <p:tav tm="100000">
                                          <p:val>
                                            <p:strVal val="#ppt_x"/>
                                          </p:val>
                                        </p:tav>
                                      </p:tavLst>
                                    </p:anim>
                                    <p:anim calcmode="lin" valueType="num">
                                      <p:cBhvr>
                                        <p:cTn id="30" dur="1000" fill="hold"/>
                                        <p:tgtEl>
                                          <p:spTgt spid="1385476">
                                            <p:txEl>
                                              <p:charRg st="147" end="169"/>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85476">
                                            <p:txEl>
                                              <p:charRg st="169" end="179"/>
                                            </p:txEl>
                                          </p:spTgt>
                                        </p:tgtEl>
                                        <p:attrNameLst>
                                          <p:attrName>style.visibility</p:attrName>
                                        </p:attrNameLst>
                                      </p:cBhvr>
                                      <p:to>
                                        <p:strVal val="visible"/>
                                      </p:to>
                                    </p:set>
                                    <p:animEffect transition="in" filter="fade">
                                      <p:cBhvr>
                                        <p:cTn id="35" dur="1000"/>
                                        <p:tgtEl>
                                          <p:spTgt spid="1385476">
                                            <p:txEl>
                                              <p:charRg st="169" end="179"/>
                                            </p:txEl>
                                          </p:spTgt>
                                        </p:tgtEl>
                                      </p:cBhvr>
                                    </p:animEffect>
                                    <p:anim calcmode="lin" valueType="num">
                                      <p:cBhvr>
                                        <p:cTn id="36" dur="1000" fill="hold"/>
                                        <p:tgtEl>
                                          <p:spTgt spid="1385476">
                                            <p:txEl>
                                              <p:charRg st="169" end="179"/>
                                            </p:txEl>
                                          </p:spTgt>
                                        </p:tgtEl>
                                        <p:attrNameLst>
                                          <p:attrName>ppt_x</p:attrName>
                                        </p:attrNameLst>
                                      </p:cBhvr>
                                      <p:tavLst>
                                        <p:tav tm="0">
                                          <p:val>
                                            <p:strVal val="#ppt_x"/>
                                          </p:val>
                                        </p:tav>
                                        <p:tav tm="100000">
                                          <p:val>
                                            <p:strVal val="#ppt_x"/>
                                          </p:val>
                                        </p:tav>
                                      </p:tavLst>
                                    </p:anim>
                                    <p:anim calcmode="lin" valueType="num">
                                      <p:cBhvr>
                                        <p:cTn id="37" dur="1000" fill="hold"/>
                                        <p:tgtEl>
                                          <p:spTgt spid="1385476">
                                            <p:txEl>
                                              <p:charRg st="169" end="17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385476">
                                            <p:txEl>
                                              <p:charRg st="179" end="192"/>
                                            </p:txEl>
                                          </p:spTgt>
                                        </p:tgtEl>
                                        <p:attrNameLst>
                                          <p:attrName>style.visibility</p:attrName>
                                        </p:attrNameLst>
                                      </p:cBhvr>
                                      <p:to>
                                        <p:strVal val="visible"/>
                                      </p:to>
                                    </p:set>
                                    <p:animEffect transition="in" filter="fade">
                                      <p:cBhvr>
                                        <p:cTn id="42" dur="1000"/>
                                        <p:tgtEl>
                                          <p:spTgt spid="1385476">
                                            <p:txEl>
                                              <p:charRg st="179" end="192"/>
                                            </p:txEl>
                                          </p:spTgt>
                                        </p:tgtEl>
                                      </p:cBhvr>
                                    </p:animEffect>
                                    <p:anim calcmode="lin" valueType="num">
                                      <p:cBhvr>
                                        <p:cTn id="43" dur="1000" fill="hold"/>
                                        <p:tgtEl>
                                          <p:spTgt spid="1385476">
                                            <p:txEl>
                                              <p:charRg st="179" end="192"/>
                                            </p:txEl>
                                          </p:spTgt>
                                        </p:tgtEl>
                                        <p:attrNameLst>
                                          <p:attrName>ppt_x</p:attrName>
                                        </p:attrNameLst>
                                      </p:cBhvr>
                                      <p:tavLst>
                                        <p:tav tm="0">
                                          <p:val>
                                            <p:strVal val="#ppt_x"/>
                                          </p:val>
                                        </p:tav>
                                        <p:tav tm="100000">
                                          <p:val>
                                            <p:strVal val="#ppt_x"/>
                                          </p:val>
                                        </p:tav>
                                      </p:tavLst>
                                    </p:anim>
                                    <p:anim calcmode="lin" valueType="num">
                                      <p:cBhvr>
                                        <p:cTn id="44" dur="1000" fill="hold"/>
                                        <p:tgtEl>
                                          <p:spTgt spid="1385476">
                                            <p:txEl>
                                              <p:charRg st="179" end="19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74215" name="Collins-positivelearning.mpg">
            <a:hlinkClick r:id="" action="ppaction://media"/>
          </p:cNvPr>
          <p:cNvPicPr>
            <a:picLocks noRot="1" noChangeAspect="1"/>
          </p:cNvPicPr>
          <p:nvPr>
            <p:ph/>
            <a:videoFile r:link="rId1"/>
            <p:extLst>
              <p:ext uri="{DAA4B4D4-6D71-4841-9C94-3DE7FCFB9230}">
                <p14:media xmlns:p14="http://schemas.microsoft.com/office/powerpoint/2010/main" r:link="rId2"/>
              </p:ext>
            </p:extLst>
          </p:nvPr>
        </p:nvPicPr>
        <p:blipFill>
          <a:blip r:embed="rId3"/>
          <a:stretch>
            <a:fillRect/>
          </a:stretch>
        </p:blipFill>
        <p:spPr>
          <a:xfrm>
            <a:off x="0" y="0"/>
            <a:ext cx="9144000" cy="6858000"/>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8494" fill="hold"/>
                                        <p:tgtEl>
                                          <p:spTgt spid="13742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374215"/>
                </p:tgtEl>
              </p:cMediaNode>
            </p:video>
            <p:seq concurrent="1" nextAc="seek">
              <p:cTn id="8" restart="whenNotActive" fill="hold" evtFilter="cancelBubble" nodeType="interactiveSeq">
                <p:stCondLst>
                  <p:cond evt="onClick" delay="0">
                    <p:tgtEl>
                      <p:spTgt spid="13742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74215"/>
                                        </p:tgtEl>
                                      </p:cBhvr>
                                    </p:cmd>
                                  </p:childTnLst>
                                </p:cTn>
                              </p:par>
                            </p:childTnLst>
                          </p:cTn>
                        </p:par>
                      </p:childTnLst>
                    </p:cTn>
                  </p:par>
                </p:childTnLst>
              </p:cTn>
              <p:nextCondLst>
                <p:cond evt="onClick" delay="0">
                  <p:tgtEl>
                    <p:spTgt spid="1374215"/>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17892" name="图片 1317891"/>
          <p:cNvPicPr>
            <a:picLocks noChangeAspect="1"/>
          </p:cNvPicPr>
          <p:nvPr/>
        </p:nvPicPr>
        <p:blipFill>
          <a:blip r:embed="rId1"/>
          <a:stretch>
            <a:fillRect/>
          </a:stretch>
        </p:blipFill>
        <p:spPr>
          <a:xfrm>
            <a:off x="4649788" y="0"/>
            <a:ext cx="4494212" cy="6858000"/>
          </a:xfrm>
          <a:prstGeom prst="rect">
            <a:avLst/>
          </a:prstGeom>
          <a:noFill/>
          <a:ln w="12700">
            <a:noFill/>
          </a:ln>
        </p:spPr>
      </p:pic>
      <p:sp>
        <p:nvSpPr>
          <p:cNvPr id="1317893" name="矩形 1317892"/>
          <p:cNvSpPr/>
          <p:nvPr/>
        </p:nvSpPr>
        <p:spPr>
          <a:xfrm>
            <a:off x="76200" y="990600"/>
            <a:ext cx="4572000" cy="1447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r>
              <a:rPr lang="en-US" altLang="zh-CN">
                <a:solidFill>
                  <a:schemeClr val="bg1"/>
                </a:solidFill>
                <a:latin typeface="Arial" panose="020B0604020202020204" pitchFamily="34" charset="0"/>
                <a:cs typeface="Arial" panose="020B0604020202020204" pitchFamily="34" charset="0"/>
              </a:rPr>
              <a:t>Role models</a:t>
            </a:r>
            <a:endParaRPr lang="en-US" altLang="zh-CN">
              <a:solidFill>
                <a:schemeClr val="bg1"/>
              </a:solidFill>
              <a:latin typeface="Arial" panose="020B0604020202020204" pitchFamily="34" charset="0"/>
              <a:cs typeface="Arial" panose="020B0604020202020204" pitchFamily="34" charset="0"/>
            </a:endParaRPr>
          </a:p>
          <a:p>
            <a:pPr lvl="0"/>
            <a:r>
              <a:rPr lang="en-US" altLang="zh-CN">
                <a:solidFill>
                  <a:schemeClr val="bg1"/>
                </a:solidFill>
                <a:latin typeface="Arial" panose="020B0604020202020204" pitchFamily="34" charset="0"/>
                <a:cs typeface="Arial" panose="020B0604020202020204" pitchFamily="34" charset="0"/>
              </a:rPr>
              <a:t>Optimism and faith</a:t>
            </a:r>
            <a:endParaRPr lang="en-US" altLang="zh-CN">
              <a:solidFill>
                <a:schemeClr val="bg1"/>
              </a:solidFill>
              <a:latin typeface="Arial" panose="020B0604020202020204" pitchFamily="34" charset="0"/>
              <a:cs typeface="Arial" panose="020B0604020202020204" pitchFamily="34" charset="0"/>
            </a:endParaRPr>
          </a:p>
          <a:p>
            <a:pPr lvl="0"/>
            <a:r>
              <a:rPr lang="en-US" altLang="zh-CN">
                <a:solidFill>
                  <a:schemeClr val="bg1"/>
                </a:solidFill>
                <a:latin typeface="Arial" panose="020B0604020202020204" pitchFamily="34" charset="0"/>
                <a:cs typeface="Arial" panose="020B0604020202020204" pitchFamily="34" charset="0"/>
              </a:rPr>
              <a:t>Blame to responsibility</a:t>
            </a:r>
            <a:endParaRPr lang="en-US" altLang="zh-CN">
              <a:solidFill>
                <a:schemeClr val="bg1"/>
              </a:solidFill>
              <a:latin typeface="Arial" panose="020B0604020202020204" pitchFamily="34" charset="0"/>
              <a:cs typeface="Arial" panose="020B0604020202020204" pitchFamily="34" charset="0"/>
            </a:endParaRPr>
          </a:p>
          <a:p>
            <a:pPr lvl="0"/>
            <a:r>
              <a:rPr lang="en-US" altLang="zh-CN">
                <a:solidFill>
                  <a:schemeClr val="bg1"/>
                </a:solidFill>
                <a:latin typeface="Arial" panose="020B0604020202020204" pitchFamily="34" charset="0"/>
                <a:cs typeface="Arial" panose="020B0604020202020204" pitchFamily="34" charset="0"/>
              </a:rPr>
              <a:t>Deficiencies focus to strengths focus</a:t>
            </a:r>
            <a:endParaRPr lang="en-US" altLang="zh-CN">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17893">
                                            <p:txEl>
                                              <p:charRg st="0" end="12"/>
                                            </p:txEl>
                                          </p:spTgt>
                                        </p:tgtEl>
                                        <p:attrNameLst>
                                          <p:attrName>style.visibility</p:attrName>
                                        </p:attrNameLst>
                                      </p:cBhvr>
                                      <p:to>
                                        <p:strVal val="visible"/>
                                      </p:to>
                                    </p:set>
                                    <p:animEffect transition="in" filter="fade">
                                      <p:cBhvr>
                                        <p:cTn id="7" dur="1000"/>
                                        <p:tgtEl>
                                          <p:spTgt spid="1317893">
                                            <p:txEl>
                                              <p:charRg st="0" end="12"/>
                                            </p:txEl>
                                          </p:spTgt>
                                        </p:tgtEl>
                                      </p:cBhvr>
                                    </p:animEffect>
                                    <p:anim calcmode="lin" valueType="num">
                                      <p:cBhvr>
                                        <p:cTn id="8" dur="1000" fill="hold"/>
                                        <p:tgtEl>
                                          <p:spTgt spid="1317893">
                                            <p:txEl>
                                              <p:charRg st="0" end="12"/>
                                            </p:txEl>
                                          </p:spTgt>
                                        </p:tgtEl>
                                        <p:attrNameLst>
                                          <p:attrName>ppt_x</p:attrName>
                                        </p:attrNameLst>
                                      </p:cBhvr>
                                      <p:tavLst>
                                        <p:tav tm="0">
                                          <p:val>
                                            <p:strVal val="#ppt_x"/>
                                          </p:val>
                                        </p:tav>
                                        <p:tav tm="100000">
                                          <p:val>
                                            <p:strVal val="#ppt_x"/>
                                          </p:val>
                                        </p:tav>
                                      </p:tavLst>
                                    </p:anim>
                                    <p:anim calcmode="lin" valueType="num">
                                      <p:cBhvr>
                                        <p:cTn id="9" dur="1000" fill="hold"/>
                                        <p:tgtEl>
                                          <p:spTgt spid="1317893">
                                            <p:txEl>
                                              <p:charRg st="0" end="1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17893">
                                            <p:txEl>
                                              <p:charRg st="12" end="31"/>
                                            </p:txEl>
                                          </p:spTgt>
                                        </p:tgtEl>
                                        <p:attrNameLst>
                                          <p:attrName>style.visibility</p:attrName>
                                        </p:attrNameLst>
                                      </p:cBhvr>
                                      <p:to>
                                        <p:strVal val="visible"/>
                                      </p:to>
                                    </p:set>
                                    <p:animEffect transition="in" filter="fade">
                                      <p:cBhvr>
                                        <p:cTn id="14" dur="1000"/>
                                        <p:tgtEl>
                                          <p:spTgt spid="1317893">
                                            <p:txEl>
                                              <p:charRg st="12" end="31"/>
                                            </p:txEl>
                                          </p:spTgt>
                                        </p:tgtEl>
                                      </p:cBhvr>
                                    </p:animEffect>
                                    <p:anim calcmode="lin" valueType="num">
                                      <p:cBhvr>
                                        <p:cTn id="15" dur="1000" fill="hold"/>
                                        <p:tgtEl>
                                          <p:spTgt spid="1317893">
                                            <p:txEl>
                                              <p:charRg st="12" end="31"/>
                                            </p:txEl>
                                          </p:spTgt>
                                        </p:tgtEl>
                                        <p:attrNameLst>
                                          <p:attrName>ppt_x</p:attrName>
                                        </p:attrNameLst>
                                      </p:cBhvr>
                                      <p:tavLst>
                                        <p:tav tm="0">
                                          <p:val>
                                            <p:strVal val="#ppt_x"/>
                                          </p:val>
                                        </p:tav>
                                        <p:tav tm="100000">
                                          <p:val>
                                            <p:strVal val="#ppt_x"/>
                                          </p:val>
                                        </p:tav>
                                      </p:tavLst>
                                    </p:anim>
                                    <p:anim calcmode="lin" valueType="num">
                                      <p:cBhvr>
                                        <p:cTn id="16" dur="1000" fill="hold"/>
                                        <p:tgtEl>
                                          <p:spTgt spid="1317893">
                                            <p:txEl>
                                              <p:charRg st="12" end="3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17893">
                                            <p:txEl>
                                              <p:charRg st="31" end="55"/>
                                            </p:txEl>
                                          </p:spTgt>
                                        </p:tgtEl>
                                        <p:attrNameLst>
                                          <p:attrName>style.visibility</p:attrName>
                                        </p:attrNameLst>
                                      </p:cBhvr>
                                      <p:to>
                                        <p:strVal val="visible"/>
                                      </p:to>
                                    </p:set>
                                    <p:animEffect transition="in" filter="fade">
                                      <p:cBhvr>
                                        <p:cTn id="21" dur="1000"/>
                                        <p:tgtEl>
                                          <p:spTgt spid="1317893">
                                            <p:txEl>
                                              <p:charRg st="31" end="55"/>
                                            </p:txEl>
                                          </p:spTgt>
                                        </p:tgtEl>
                                      </p:cBhvr>
                                    </p:animEffect>
                                    <p:anim calcmode="lin" valueType="num">
                                      <p:cBhvr>
                                        <p:cTn id="22" dur="1000" fill="hold"/>
                                        <p:tgtEl>
                                          <p:spTgt spid="1317893">
                                            <p:txEl>
                                              <p:charRg st="31" end="55"/>
                                            </p:txEl>
                                          </p:spTgt>
                                        </p:tgtEl>
                                        <p:attrNameLst>
                                          <p:attrName>ppt_x</p:attrName>
                                        </p:attrNameLst>
                                      </p:cBhvr>
                                      <p:tavLst>
                                        <p:tav tm="0">
                                          <p:val>
                                            <p:strVal val="#ppt_x"/>
                                          </p:val>
                                        </p:tav>
                                        <p:tav tm="100000">
                                          <p:val>
                                            <p:strVal val="#ppt_x"/>
                                          </p:val>
                                        </p:tav>
                                      </p:tavLst>
                                    </p:anim>
                                    <p:anim calcmode="lin" valueType="num">
                                      <p:cBhvr>
                                        <p:cTn id="23" dur="1000" fill="hold"/>
                                        <p:tgtEl>
                                          <p:spTgt spid="1317893">
                                            <p:txEl>
                                              <p:charRg st="31" end="5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17893">
                                            <p:txEl>
                                              <p:charRg st="55" end="93"/>
                                            </p:txEl>
                                          </p:spTgt>
                                        </p:tgtEl>
                                        <p:attrNameLst>
                                          <p:attrName>style.visibility</p:attrName>
                                        </p:attrNameLst>
                                      </p:cBhvr>
                                      <p:to>
                                        <p:strVal val="visible"/>
                                      </p:to>
                                    </p:set>
                                    <p:animEffect transition="in" filter="fade">
                                      <p:cBhvr>
                                        <p:cTn id="28" dur="1000"/>
                                        <p:tgtEl>
                                          <p:spTgt spid="1317893">
                                            <p:txEl>
                                              <p:charRg st="55" end="93"/>
                                            </p:txEl>
                                          </p:spTgt>
                                        </p:tgtEl>
                                      </p:cBhvr>
                                    </p:animEffect>
                                    <p:anim calcmode="lin" valueType="num">
                                      <p:cBhvr>
                                        <p:cTn id="29" dur="1000" fill="hold"/>
                                        <p:tgtEl>
                                          <p:spTgt spid="1317893">
                                            <p:txEl>
                                              <p:charRg st="55" end="93"/>
                                            </p:txEl>
                                          </p:spTgt>
                                        </p:tgtEl>
                                        <p:attrNameLst>
                                          <p:attrName>ppt_x</p:attrName>
                                        </p:attrNameLst>
                                      </p:cBhvr>
                                      <p:tavLst>
                                        <p:tav tm="0">
                                          <p:val>
                                            <p:strVal val="#ppt_x"/>
                                          </p:val>
                                        </p:tav>
                                        <p:tav tm="100000">
                                          <p:val>
                                            <p:strVal val="#ppt_x"/>
                                          </p:val>
                                        </p:tav>
                                      </p:tavLst>
                                    </p:anim>
                                    <p:anim calcmode="lin" valueType="num">
                                      <p:cBhvr>
                                        <p:cTn id="30" dur="1000" fill="hold"/>
                                        <p:tgtEl>
                                          <p:spTgt spid="1317893">
                                            <p:txEl>
                                              <p:charRg st="55" end="9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9698" name="矩形 1309697"/>
          <p:cNvSpPr/>
          <p:nvPr/>
        </p:nvSpPr>
        <p:spPr>
          <a:xfrm>
            <a:off x="0" y="228600"/>
            <a:ext cx="9144000" cy="6096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r>
              <a:rPr lang="en-US" altLang="zh-CN" sz="3800">
                <a:solidFill>
                  <a:schemeClr val="bg1"/>
                </a:solidFill>
                <a:latin typeface="Arial" panose="020B0604020202020204" pitchFamily="34" charset="0"/>
                <a:cs typeface="Arial" panose="020B0604020202020204" pitchFamily="34" charset="0"/>
              </a:rPr>
              <a:t>Passive Victim      Vs.       Active Agent</a:t>
            </a:r>
            <a:endParaRPr lang="en-US" altLang="zh-CN" sz="3800">
              <a:solidFill>
                <a:schemeClr val="bg1"/>
              </a:solidFill>
              <a:latin typeface="Arial" panose="020B0604020202020204" pitchFamily="34" charset="0"/>
              <a:ea typeface="Arial" panose="020B0604020202020204" pitchFamily="34" charset="0"/>
            </a:endParaRPr>
          </a:p>
        </p:txBody>
      </p:sp>
      <p:sp>
        <p:nvSpPr>
          <p:cNvPr id="1309699" name="矩形 1309698"/>
          <p:cNvSpPr/>
          <p:nvPr/>
        </p:nvSpPr>
        <p:spPr>
          <a:xfrm>
            <a:off x="1371600" y="1752600"/>
            <a:ext cx="38100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buNone/>
            </a:pPr>
            <a:r>
              <a:rPr lang="en-US" altLang="zh-CN">
                <a:solidFill>
                  <a:schemeClr val="bg1"/>
                </a:solidFill>
                <a:latin typeface="Arial" panose="020B0604020202020204" pitchFamily="34" charset="0"/>
                <a:cs typeface="Arial" panose="020B0604020202020204" pitchFamily="34" charset="0"/>
              </a:rPr>
              <a:t>self pity</a:t>
            </a:r>
            <a:endParaRPr lang="en-US" altLang="zh-CN">
              <a:solidFill>
                <a:schemeClr val="bg1"/>
              </a:solidFill>
              <a:latin typeface="Arial" panose="020B0604020202020204" pitchFamily="34" charset="0"/>
              <a:cs typeface="Arial" panose="020B0604020202020204" pitchFamily="34" charset="0"/>
            </a:endParaRPr>
          </a:p>
          <a:p>
            <a:pPr lvl="0">
              <a:buNone/>
            </a:pPr>
            <a:r>
              <a:rPr lang="en-US" altLang="zh-CN">
                <a:solidFill>
                  <a:schemeClr val="bg1"/>
                </a:solidFill>
                <a:latin typeface="Arial" panose="020B0604020202020204" pitchFamily="34" charset="0"/>
                <a:cs typeface="Arial" panose="020B0604020202020204" pitchFamily="34" charset="0"/>
              </a:rPr>
              <a:t>blame</a:t>
            </a:r>
            <a:endParaRPr lang="en-US" altLang="zh-CN">
              <a:solidFill>
                <a:schemeClr val="bg1"/>
              </a:solidFill>
              <a:latin typeface="Arial" panose="020B0604020202020204" pitchFamily="34" charset="0"/>
              <a:cs typeface="Arial" panose="020B0604020202020204" pitchFamily="34" charset="0"/>
            </a:endParaRPr>
          </a:p>
          <a:p>
            <a:pPr lvl="0">
              <a:buNone/>
            </a:pPr>
            <a:r>
              <a:rPr lang="en-US" altLang="zh-CN">
                <a:solidFill>
                  <a:schemeClr val="bg1"/>
                </a:solidFill>
                <a:latin typeface="Arial" panose="020B0604020202020204" pitchFamily="34" charset="0"/>
                <a:cs typeface="Arial" panose="020B0604020202020204" pitchFamily="34" charset="0"/>
              </a:rPr>
              <a:t>frustration</a:t>
            </a:r>
            <a:endParaRPr lang="en-US" altLang="zh-CN">
              <a:solidFill>
                <a:schemeClr val="bg1"/>
              </a:solidFill>
              <a:latin typeface="Arial" panose="020B0604020202020204" pitchFamily="34" charset="0"/>
              <a:cs typeface="Arial" panose="020B0604020202020204" pitchFamily="34" charset="0"/>
            </a:endParaRPr>
          </a:p>
          <a:p>
            <a:pPr lvl="0">
              <a:buNone/>
            </a:pPr>
            <a:r>
              <a:rPr lang="en-US" altLang="zh-CN">
                <a:solidFill>
                  <a:schemeClr val="bg1"/>
                </a:solidFill>
                <a:latin typeface="Arial" panose="020B0604020202020204" pitchFamily="34" charset="0"/>
                <a:cs typeface="Arial" panose="020B0604020202020204" pitchFamily="34" charset="0"/>
              </a:rPr>
              <a:t>anger</a:t>
            </a:r>
            <a:endParaRPr lang="en-US" altLang="zh-CN">
              <a:solidFill>
                <a:schemeClr val="bg1"/>
              </a:solidFill>
              <a:latin typeface="Arial" panose="020B0604020202020204" pitchFamily="34" charset="0"/>
              <a:ea typeface="Arial" panose="020B0604020202020204" pitchFamily="34" charset="0"/>
            </a:endParaRPr>
          </a:p>
        </p:txBody>
      </p:sp>
      <p:sp>
        <p:nvSpPr>
          <p:cNvPr id="1309700" name="文本框 1309699"/>
          <p:cNvSpPr txBox="1"/>
          <p:nvPr/>
        </p:nvSpPr>
        <p:spPr>
          <a:xfrm>
            <a:off x="623888" y="838200"/>
            <a:ext cx="8291512" cy="519113"/>
          </a:xfrm>
          <a:prstGeom prst="rect">
            <a:avLst/>
          </a:prstGeom>
          <a:noFill/>
          <a:ln w="12700">
            <a:noFill/>
          </a:ln>
        </p:spPr>
        <p:txBody>
          <a:bodyPr>
            <a:spAutoFit/>
          </a:bodyPr>
          <a:p>
            <a:r>
              <a:rPr lang="en-US" altLang="zh-CN" sz="2800" b="1">
                <a:solidFill>
                  <a:srgbClr val="FFCC00"/>
                </a:solidFill>
              </a:rPr>
              <a:t> ___________________________________________</a:t>
            </a:r>
            <a:endParaRPr lang="en-US" altLang="zh-CN" sz="2800" b="1">
              <a:solidFill>
                <a:srgbClr val="FFCC00"/>
              </a:solidFill>
            </a:endParaRPr>
          </a:p>
        </p:txBody>
      </p:sp>
      <p:sp>
        <p:nvSpPr>
          <p:cNvPr id="1309701" name="矩形 1309700"/>
          <p:cNvSpPr/>
          <p:nvPr/>
        </p:nvSpPr>
        <p:spPr>
          <a:xfrm>
            <a:off x="5257800" y="1752600"/>
            <a:ext cx="3810000" cy="41148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buNone/>
            </a:pPr>
            <a:r>
              <a:rPr lang="en-US" altLang="zh-CN">
                <a:solidFill>
                  <a:schemeClr val="bg1"/>
                </a:solidFill>
                <a:latin typeface="Arial" panose="020B0604020202020204" pitchFamily="34" charset="0"/>
                <a:cs typeface="Arial" panose="020B0604020202020204" pitchFamily="34" charset="0"/>
              </a:rPr>
              <a:t>confidence</a:t>
            </a:r>
            <a:endParaRPr lang="en-US" altLang="zh-CN">
              <a:solidFill>
                <a:schemeClr val="bg1"/>
              </a:solidFill>
              <a:latin typeface="Arial" panose="020B0604020202020204" pitchFamily="34" charset="0"/>
              <a:cs typeface="Arial" panose="020B0604020202020204" pitchFamily="34" charset="0"/>
            </a:endParaRPr>
          </a:p>
          <a:p>
            <a:pPr lvl="0">
              <a:buNone/>
            </a:pPr>
            <a:r>
              <a:rPr lang="en-US" altLang="zh-CN">
                <a:solidFill>
                  <a:schemeClr val="bg1"/>
                </a:solidFill>
                <a:latin typeface="Arial" panose="020B0604020202020204" pitchFamily="34" charset="0"/>
                <a:cs typeface="Arial" panose="020B0604020202020204" pitchFamily="34" charset="0"/>
              </a:rPr>
              <a:t>responsibility</a:t>
            </a:r>
            <a:endParaRPr lang="en-US" altLang="zh-CN">
              <a:solidFill>
                <a:schemeClr val="bg1"/>
              </a:solidFill>
              <a:latin typeface="Arial" panose="020B0604020202020204" pitchFamily="34" charset="0"/>
              <a:cs typeface="Arial" panose="020B0604020202020204" pitchFamily="34" charset="0"/>
            </a:endParaRPr>
          </a:p>
          <a:p>
            <a:pPr lvl="0">
              <a:buNone/>
            </a:pPr>
            <a:r>
              <a:rPr lang="en-US" altLang="zh-CN">
                <a:solidFill>
                  <a:schemeClr val="bg1"/>
                </a:solidFill>
                <a:latin typeface="Arial" panose="020B0604020202020204" pitchFamily="34" charset="0"/>
                <a:cs typeface="Arial" panose="020B0604020202020204" pitchFamily="34" charset="0"/>
              </a:rPr>
              <a:t>hope and optimism</a:t>
            </a:r>
            <a:endParaRPr lang="en-US" altLang="zh-CN">
              <a:solidFill>
                <a:schemeClr val="bg1"/>
              </a:solidFill>
              <a:latin typeface="Arial" panose="020B0604020202020204" pitchFamily="34" charset="0"/>
              <a:cs typeface="Arial" panose="020B0604020202020204" pitchFamily="34" charset="0"/>
            </a:endParaRPr>
          </a:p>
          <a:p>
            <a:pPr lvl="0">
              <a:buNone/>
            </a:pPr>
            <a:r>
              <a:rPr lang="en-US" altLang="zh-CN">
                <a:solidFill>
                  <a:schemeClr val="bg1"/>
                </a:solidFill>
                <a:latin typeface="Arial" panose="020B0604020202020204" pitchFamily="34" charset="0"/>
                <a:cs typeface="Arial" panose="020B0604020202020204" pitchFamily="34" charset="0"/>
              </a:rPr>
              <a:t>forgive/forget</a:t>
            </a:r>
            <a:endParaRPr lang="en-US" altLang="zh-CN">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309698"/>
                                        </p:tgtEl>
                                        <p:attrNameLst>
                                          <p:attrName>style.visibility</p:attrName>
                                        </p:attrNameLst>
                                      </p:cBhvr>
                                      <p:to>
                                        <p:strVal val="visible"/>
                                      </p:to>
                                    </p:set>
                                    <p:anim calcmode="lin" valueType="num">
                                      <p:cBhvr>
                                        <p:cTn id="7" dur="1000" fill="hold"/>
                                        <p:tgtEl>
                                          <p:spTgt spid="1309698"/>
                                        </p:tgtEl>
                                        <p:attrNameLst>
                                          <p:attrName>ppt_x</p:attrName>
                                        </p:attrNameLst>
                                      </p:cBhvr>
                                      <p:tavLst>
                                        <p:tav tm="0">
                                          <p:val>
                                            <p:strVal val="#ppt_x-.2"/>
                                          </p:val>
                                        </p:tav>
                                        <p:tav tm="100000">
                                          <p:val>
                                            <p:strVal val="#ppt_x"/>
                                          </p:val>
                                        </p:tav>
                                      </p:tavLst>
                                    </p:anim>
                                    <p:anim calcmode="lin" valueType="num">
                                      <p:cBhvr>
                                        <p:cTn id="8" dur="1000" fill="hold"/>
                                        <p:tgtEl>
                                          <p:spTgt spid="1309698"/>
                                        </p:tgtEl>
                                        <p:attrNameLst>
                                          <p:attrName>ppt_y</p:attrName>
                                        </p:attrNameLst>
                                      </p:cBhvr>
                                      <p:tavLst>
                                        <p:tav tm="0">
                                          <p:val>
                                            <p:strVal val="#ppt_y"/>
                                          </p:val>
                                        </p:tav>
                                        <p:tav tm="100000">
                                          <p:val>
                                            <p:strVal val="#ppt_y"/>
                                          </p:val>
                                        </p:tav>
                                      </p:tavLst>
                                    </p:anim>
                                    <p:animEffect transition="in" filter="wipe(right)" prLst="gradientSize: 0.1">
                                      <p:cBhvr>
                                        <p:cTn id="9" dur="1000"/>
                                        <p:tgtEl>
                                          <p:spTgt spid="130969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0970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309699">
                                            <p:txEl>
                                              <p:charRg st="0" end="10"/>
                                            </p:txEl>
                                          </p:spTgt>
                                        </p:tgtEl>
                                        <p:attrNameLst>
                                          <p:attrName>style.visibility</p:attrName>
                                        </p:attrNameLst>
                                      </p:cBhvr>
                                      <p:to>
                                        <p:strVal val="visible"/>
                                      </p:to>
                                    </p:set>
                                    <p:animEffect transition="in" filter="fade">
                                      <p:cBhvr>
                                        <p:cTn id="18" dur="1000"/>
                                        <p:tgtEl>
                                          <p:spTgt spid="1309699">
                                            <p:txEl>
                                              <p:charRg st="0" end="10"/>
                                            </p:txEl>
                                          </p:spTgt>
                                        </p:tgtEl>
                                      </p:cBhvr>
                                    </p:animEffect>
                                    <p:anim calcmode="lin" valueType="num">
                                      <p:cBhvr>
                                        <p:cTn id="19" dur="1000" fill="hold"/>
                                        <p:tgtEl>
                                          <p:spTgt spid="1309699">
                                            <p:txEl>
                                              <p:charRg st="0" end="10"/>
                                            </p:txEl>
                                          </p:spTgt>
                                        </p:tgtEl>
                                        <p:attrNameLst>
                                          <p:attrName>ppt_x</p:attrName>
                                        </p:attrNameLst>
                                      </p:cBhvr>
                                      <p:tavLst>
                                        <p:tav tm="0">
                                          <p:val>
                                            <p:strVal val="#ppt_x"/>
                                          </p:val>
                                        </p:tav>
                                        <p:tav tm="100000">
                                          <p:val>
                                            <p:strVal val="#ppt_x"/>
                                          </p:val>
                                        </p:tav>
                                      </p:tavLst>
                                    </p:anim>
                                    <p:anim calcmode="lin" valueType="num">
                                      <p:cBhvr>
                                        <p:cTn id="20" dur="1000" fill="hold"/>
                                        <p:tgtEl>
                                          <p:spTgt spid="1309699">
                                            <p:txEl>
                                              <p:charRg st="0" end="1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309699">
                                            <p:txEl>
                                              <p:charRg st="10" end="16"/>
                                            </p:txEl>
                                          </p:spTgt>
                                        </p:tgtEl>
                                        <p:attrNameLst>
                                          <p:attrName>style.visibility</p:attrName>
                                        </p:attrNameLst>
                                      </p:cBhvr>
                                      <p:to>
                                        <p:strVal val="visible"/>
                                      </p:to>
                                    </p:set>
                                    <p:animEffect transition="in" filter="fade">
                                      <p:cBhvr>
                                        <p:cTn id="25" dur="1000"/>
                                        <p:tgtEl>
                                          <p:spTgt spid="1309699">
                                            <p:txEl>
                                              <p:charRg st="10" end="16"/>
                                            </p:txEl>
                                          </p:spTgt>
                                        </p:tgtEl>
                                      </p:cBhvr>
                                    </p:animEffect>
                                    <p:anim calcmode="lin" valueType="num">
                                      <p:cBhvr>
                                        <p:cTn id="26" dur="1000" fill="hold"/>
                                        <p:tgtEl>
                                          <p:spTgt spid="1309699">
                                            <p:txEl>
                                              <p:charRg st="10" end="16"/>
                                            </p:txEl>
                                          </p:spTgt>
                                        </p:tgtEl>
                                        <p:attrNameLst>
                                          <p:attrName>ppt_x</p:attrName>
                                        </p:attrNameLst>
                                      </p:cBhvr>
                                      <p:tavLst>
                                        <p:tav tm="0">
                                          <p:val>
                                            <p:strVal val="#ppt_x"/>
                                          </p:val>
                                        </p:tav>
                                        <p:tav tm="100000">
                                          <p:val>
                                            <p:strVal val="#ppt_x"/>
                                          </p:val>
                                        </p:tav>
                                      </p:tavLst>
                                    </p:anim>
                                    <p:anim calcmode="lin" valueType="num">
                                      <p:cBhvr>
                                        <p:cTn id="27" dur="1000" fill="hold"/>
                                        <p:tgtEl>
                                          <p:spTgt spid="1309699">
                                            <p:txEl>
                                              <p:charRg st="10" end="16"/>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309699">
                                            <p:txEl>
                                              <p:charRg st="16" end="28"/>
                                            </p:txEl>
                                          </p:spTgt>
                                        </p:tgtEl>
                                        <p:attrNameLst>
                                          <p:attrName>style.visibility</p:attrName>
                                        </p:attrNameLst>
                                      </p:cBhvr>
                                      <p:to>
                                        <p:strVal val="visible"/>
                                      </p:to>
                                    </p:set>
                                    <p:animEffect transition="in" filter="fade">
                                      <p:cBhvr>
                                        <p:cTn id="32" dur="1000"/>
                                        <p:tgtEl>
                                          <p:spTgt spid="1309699">
                                            <p:txEl>
                                              <p:charRg st="16" end="28"/>
                                            </p:txEl>
                                          </p:spTgt>
                                        </p:tgtEl>
                                      </p:cBhvr>
                                    </p:animEffect>
                                    <p:anim calcmode="lin" valueType="num">
                                      <p:cBhvr>
                                        <p:cTn id="33" dur="1000" fill="hold"/>
                                        <p:tgtEl>
                                          <p:spTgt spid="1309699">
                                            <p:txEl>
                                              <p:charRg st="16" end="28"/>
                                            </p:txEl>
                                          </p:spTgt>
                                        </p:tgtEl>
                                        <p:attrNameLst>
                                          <p:attrName>ppt_x</p:attrName>
                                        </p:attrNameLst>
                                      </p:cBhvr>
                                      <p:tavLst>
                                        <p:tav tm="0">
                                          <p:val>
                                            <p:strVal val="#ppt_x"/>
                                          </p:val>
                                        </p:tav>
                                        <p:tav tm="100000">
                                          <p:val>
                                            <p:strVal val="#ppt_x"/>
                                          </p:val>
                                        </p:tav>
                                      </p:tavLst>
                                    </p:anim>
                                    <p:anim calcmode="lin" valueType="num">
                                      <p:cBhvr>
                                        <p:cTn id="34" dur="1000" fill="hold"/>
                                        <p:tgtEl>
                                          <p:spTgt spid="1309699">
                                            <p:txEl>
                                              <p:charRg st="16" end="28"/>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309699">
                                            <p:txEl>
                                              <p:charRg st="28" end="34"/>
                                            </p:txEl>
                                          </p:spTgt>
                                        </p:tgtEl>
                                        <p:attrNameLst>
                                          <p:attrName>style.visibility</p:attrName>
                                        </p:attrNameLst>
                                      </p:cBhvr>
                                      <p:to>
                                        <p:strVal val="visible"/>
                                      </p:to>
                                    </p:set>
                                    <p:animEffect transition="in" filter="fade">
                                      <p:cBhvr>
                                        <p:cTn id="39" dur="1000"/>
                                        <p:tgtEl>
                                          <p:spTgt spid="1309699">
                                            <p:txEl>
                                              <p:charRg st="28" end="34"/>
                                            </p:txEl>
                                          </p:spTgt>
                                        </p:tgtEl>
                                      </p:cBhvr>
                                    </p:animEffect>
                                    <p:anim calcmode="lin" valueType="num">
                                      <p:cBhvr>
                                        <p:cTn id="40" dur="1000" fill="hold"/>
                                        <p:tgtEl>
                                          <p:spTgt spid="1309699">
                                            <p:txEl>
                                              <p:charRg st="28" end="34"/>
                                            </p:txEl>
                                          </p:spTgt>
                                        </p:tgtEl>
                                        <p:attrNameLst>
                                          <p:attrName>ppt_x</p:attrName>
                                        </p:attrNameLst>
                                      </p:cBhvr>
                                      <p:tavLst>
                                        <p:tav tm="0">
                                          <p:val>
                                            <p:strVal val="#ppt_x"/>
                                          </p:val>
                                        </p:tav>
                                        <p:tav tm="100000">
                                          <p:val>
                                            <p:strVal val="#ppt_x"/>
                                          </p:val>
                                        </p:tav>
                                      </p:tavLst>
                                    </p:anim>
                                    <p:anim calcmode="lin" valueType="num">
                                      <p:cBhvr>
                                        <p:cTn id="41" dur="1000" fill="hold"/>
                                        <p:tgtEl>
                                          <p:spTgt spid="1309699">
                                            <p:txEl>
                                              <p:charRg st="28" end="3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309701">
                                            <p:txEl>
                                              <p:charRg st="0" end="11"/>
                                            </p:txEl>
                                          </p:spTgt>
                                        </p:tgtEl>
                                        <p:attrNameLst>
                                          <p:attrName>style.visibility</p:attrName>
                                        </p:attrNameLst>
                                      </p:cBhvr>
                                      <p:to>
                                        <p:strVal val="visible"/>
                                      </p:to>
                                    </p:set>
                                    <p:animEffect transition="in" filter="fade">
                                      <p:cBhvr>
                                        <p:cTn id="46" dur="1000"/>
                                        <p:tgtEl>
                                          <p:spTgt spid="1309701">
                                            <p:txEl>
                                              <p:charRg st="0" end="11"/>
                                            </p:txEl>
                                          </p:spTgt>
                                        </p:tgtEl>
                                      </p:cBhvr>
                                    </p:animEffect>
                                    <p:anim calcmode="lin" valueType="num">
                                      <p:cBhvr>
                                        <p:cTn id="47" dur="1000" fill="hold"/>
                                        <p:tgtEl>
                                          <p:spTgt spid="1309701">
                                            <p:txEl>
                                              <p:charRg st="0" end="11"/>
                                            </p:txEl>
                                          </p:spTgt>
                                        </p:tgtEl>
                                        <p:attrNameLst>
                                          <p:attrName>ppt_x</p:attrName>
                                        </p:attrNameLst>
                                      </p:cBhvr>
                                      <p:tavLst>
                                        <p:tav tm="0">
                                          <p:val>
                                            <p:strVal val="#ppt_x"/>
                                          </p:val>
                                        </p:tav>
                                        <p:tav tm="100000">
                                          <p:val>
                                            <p:strVal val="#ppt_x"/>
                                          </p:val>
                                        </p:tav>
                                      </p:tavLst>
                                    </p:anim>
                                    <p:anim calcmode="lin" valueType="num">
                                      <p:cBhvr>
                                        <p:cTn id="48" dur="1000" fill="hold"/>
                                        <p:tgtEl>
                                          <p:spTgt spid="1309701">
                                            <p:txEl>
                                              <p:charRg st="0" end="11"/>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309701">
                                            <p:txEl>
                                              <p:charRg st="11" end="26"/>
                                            </p:txEl>
                                          </p:spTgt>
                                        </p:tgtEl>
                                        <p:attrNameLst>
                                          <p:attrName>style.visibility</p:attrName>
                                        </p:attrNameLst>
                                      </p:cBhvr>
                                      <p:to>
                                        <p:strVal val="visible"/>
                                      </p:to>
                                    </p:set>
                                    <p:animEffect transition="in" filter="fade">
                                      <p:cBhvr>
                                        <p:cTn id="53" dur="1000"/>
                                        <p:tgtEl>
                                          <p:spTgt spid="1309701">
                                            <p:txEl>
                                              <p:charRg st="11" end="26"/>
                                            </p:txEl>
                                          </p:spTgt>
                                        </p:tgtEl>
                                      </p:cBhvr>
                                    </p:animEffect>
                                    <p:anim calcmode="lin" valueType="num">
                                      <p:cBhvr>
                                        <p:cTn id="54" dur="1000" fill="hold"/>
                                        <p:tgtEl>
                                          <p:spTgt spid="1309701">
                                            <p:txEl>
                                              <p:charRg st="11" end="26"/>
                                            </p:txEl>
                                          </p:spTgt>
                                        </p:tgtEl>
                                        <p:attrNameLst>
                                          <p:attrName>ppt_x</p:attrName>
                                        </p:attrNameLst>
                                      </p:cBhvr>
                                      <p:tavLst>
                                        <p:tav tm="0">
                                          <p:val>
                                            <p:strVal val="#ppt_x"/>
                                          </p:val>
                                        </p:tav>
                                        <p:tav tm="100000">
                                          <p:val>
                                            <p:strVal val="#ppt_x"/>
                                          </p:val>
                                        </p:tav>
                                      </p:tavLst>
                                    </p:anim>
                                    <p:anim calcmode="lin" valueType="num">
                                      <p:cBhvr>
                                        <p:cTn id="55" dur="1000" fill="hold"/>
                                        <p:tgtEl>
                                          <p:spTgt spid="1309701">
                                            <p:txEl>
                                              <p:charRg st="11" end="26"/>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309701">
                                            <p:txEl>
                                              <p:charRg st="26" end="44"/>
                                            </p:txEl>
                                          </p:spTgt>
                                        </p:tgtEl>
                                        <p:attrNameLst>
                                          <p:attrName>style.visibility</p:attrName>
                                        </p:attrNameLst>
                                      </p:cBhvr>
                                      <p:to>
                                        <p:strVal val="visible"/>
                                      </p:to>
                                    </p:set>
                                    <p:animEffect transition="in" filter="fade">
                                      <p:cBhvr>
                                        <p:cTn id="60" dur="1000"/>
                                        <p:tgtEl>
                                          <p:spTgt spid="1309701">
                                            <p:txEl>
                                              <p:charRg st="26" end="44"/>
                                            </p:txEl>
                                          </p:spTgt>
                                        </p:tgtEl>
                                      </p:cBhvr>
                                    </p:animEffect>
                                    <p:anim calcmode="lin" valueType="num">
                                      <p:cBhvr>
                                        <p:cTn id="61" dur="1000" fill="hold"/>
                                        <p:tgtEl>
                                          <p:spTgt spid="1309701">
                                            <p:txEl>
                                              <p:charRg st="26" end="44"/>
                                            </p:txEl>
                                          </p:spTgt>
                                        </p:tgtEl>
                                        <p:attrNameLst>
                                          <p:attrName>ppt_x</p:attrName>
                                        </p:attrNameLst>
                                      </p:cBhvr>
                                      <p:tavLst>
                                        <p:tav tm="0">
                                          <p:val>
                                            <p:strVal val="#ppt_x"/>
                                          </p:val>
                                        </p:tav>
                                        <p:tav tm="100000">
                                          <p:val>
                                            <p:strVal val="#ppt_x"/>
                                          </p:val>
                                        </p:tav>
                                      </p:tavLst>
                                    </p:anim>
                                    <p:anim calcmode="lin" valueType="num">
                                      <p:cBhvr>
                                        <p:cTn id="62" dur="1000" fill="hold"/>
                                        <p:tgtEl>
                                          <p:spTgt spid="1309701">
                                            <p:txEl>
                                              <p:charRg st="26" end="44"/>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309701">
                                            <p:txEl>
                                              <p:charRg st="44" end="59"/>
                                            </p:txEl>
                                          </p:spTgt>
                                        </p:tgtEl>
                                        <p:attrNameLst>
                                          <p:attrName>style.visibility</p:attrName>
                                        </p:attrNameLst>
                                      </p:cBhvr>
                                      <p:to>
                                        <p:strVal val="visible"/>
                                      </p:to>
                                    </p:set>
                                    <p:animEffect transition="in" filter="fade">
                                      <p:cBhvr>
                                        <p:cTn id="67" dur="1000"/>
                                        <p:tgtEl>
                                          <p:spTgt spid="1309701">
                                            <p:txEl>
                                              <p:charRg st="44" end="59"/>
                                            </p:txEl>
                                          </p:spTgt>
                                        </p:tgtEl>
                                      </p:cBhvr>
                                    </p:animEffect>
                                    <p:anim calcmode="lin" valueType="num">
                                      <p:cBhvr>
                                        <p:cTn id="68" dur="1000" fill="hold"/>
                                        <p:tgtEl>
                                          <p:spTgt spid="1309701">
                                            <p:txEl>
                                              <p:charRg st="44" end="59"/>
                                            </p:txEl>
                                          </p:spTgt>
                                        </p:tgtEl>
                                        <p:attrNameLst>
                                          <p:attrName>ppt_x</p:attrName>
                                        </p:attrNameLst>
                                      </p:cBhvr>
                                      <p:tavLst>
                                        <p:tav tm="0">
                                          <p:val>
                                            <p:strVal val="#ppt_x"/>
                                          </p:val>
                                        </p:tav>
                                        <p:tav tm="100000">
                                          <p:val>
                                            <p:strVal val="#ppt_x"/>
                                          </p:val>
                                        </p:tav>
                                      </p:tavLst>
                                    </p:anim>
                                    <p:anim calcmode="lin" valueType="num">
                                      <p:cBhvr>
                                        <p:cTn id="69" dur="1000" fill="hold"/>
                                        <p:tgtEl>
                                          <p:spTgt spid="1309701">
                                            <p:txEl>
                                              <p:charRg st="44" end="5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9698" grpId="0"/>
      <p:bldP spid="130970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1746" name="矩形 1311745"/>
          <p:cNvSpPr/>
          <p:nvPr/>
        </p:nvSpPr>
        <p:spPr>
          <a:xfrm>
            <a:off x="76200" y="152400"/>
            <a:ext cx="9067800" cy="6477000"/>
          </a:xfrm>
          <a:prstGeom prst="rect">
            <a:avLst/>
          </a:prstGeom>
          <a:noFill/>
          <a:ln w="9525">
            <a:noFill/>
          </a:ln>
        </p:spPr>
        <p:txBody>
          <a:bodyPr anchor="ctr" anchorCtr="0"/>
          <a:lstStyle>
            <a:lvl1pPr marL="0" lvl="0" indent="0" algn="ctr" defTabSz="914400" rtl="0" eaLnBrk="0" fontAlgn="base" latinLnBrk="0" hangingPunct="0">
              <a:lnSpc>
                <a:spcPct val="100000"/>
              </a:lnSpc>
              <a:spcBef>
                <a:spcPct val="0"/>
              </a:spcBef>
              <a:spcAft>
                <a:spcPct val="0"/>
              </a:spcAft>
              <a:buNone/>
              <a:defRPr sz="4400" u="none" kern="1200" baseline="0">
                <a:solidFill>
                  <a:schemeClr val="tx2"/>
                </a:solidFill>
                <a:latin typeface="Times New Roman" panose="02020603050405020304" pitchFamily="18" charset="0"/>
              </a:defRPr>
            </a:lvl1pPr>
          </a:lstStyle>
          <a:p>
            <a:pPr lvl="0" algn="l"/>
            <a:r>
              <a:rPr lang="en-US" altLang="zh-CN" sz="3000">
                <a:solidFill>
                  <a:schemeClr val="bg1"/>
                </a:solidFill>
                <a:latin typeface="Arial" panose="020B0604020202020204" pitchFamily="34" charset="0"/>
                <a:cs typeface="Arial" panose="020B0604020202020204" pitchFamily="34" charset="0"/>
              </a:rPr>
              <a:t>“The message of the Positive Psychology movement is to remind our field that it has been deformed.  Psychology is not just the study of disease, weakness, and damage; it also is the study of strength and virtue.  Treatment is not just fixing what is wrong; it also is building what is right.  Psychology is not just about illness or health; it is about work, education, insight, love, growth, and play.  And in this quest for what is best, Positive Psychology does not rely on wishful thinking, self-deception or hand-waving; instead it tries to adapt what is best in the scientific method to the unique problems that human behavior presents in all its complexity.”</a:t>
            </a:r>
            <a:r>
              <a:rPr lang="en-US" altLang="zh-CN" sz="2800">
                <a:solidFill>
                  <a:schemeClr val="bg1"/>
                </a:solidFill>
                <a:latin typeface="Arial" panose="020B0604020202020204" pitchFamily="34" charset="0"/>
                <a:cs typeface="Arial" panose="020B0604020202020204" pitchFamily="34" charset="0"/>
              </a:rPr>
              <a:t>		</a:t>
            </a:r>
            <a:r>
              <a:rPr lang="en-US" altLang="zh-CN">
                <a:solidFill>
                  <a:schemeClr val="bg1"/>
                </a:solidFill>
                <a:latin typeface="Arial" panose="020B0604020202020204" pitchFamily="34" charset="0"/>
                <a:cs typeface="Arial" panose="020B0604020202020204" pitchFamily="34" charset="0"/>
              </a:rPr>
              <a:t>						  </a:t>
            </a:r>
            <a:r>
              <a:rPr lang="en-US" altLang="zh-CN" sz="2800">
                <a:solidFill>
                  <a:schemeClr val="bg1"/>
                </a:solidFill>
                <a:latin typeface="Arial" panose="020B0604020202020204" pitchFamily="34" charset="0"/>
                <a:cs typeface="Arial" panose="020B0604020202020204" pitchFamily="34" charset="0"/>
              </a:rPr>
              <a:t>Martin Seligman</a:t>
            </a:r>
            <a:endParaRPr lang="en-US" altLang="zh-CN" sz="2800">
              <a:solidFill>
                <a:schemeClr val="bg1"/>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11746">
                                            <p:txEl>
                                              <p:charRg st="4294967295" end="4294967295"/>
                                            </p:txEl>
                                          </p:spTgt>
                                        </p:tgtEl>
                                        <p:attrNameLst>
                                          <p:attrName>style.visibility</p:attrName>
                                        </p:attrNameLst>
                                      </p:cBhvr>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746" grpId="0"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8914" name="矩形 1318913"/>
          <p:cNvSpPr/>
          <p:nvPr/>
        </p:nvSpPr>
        <p:spPr>
          <a:xfrm>
            <a:off x="76200" y="128588"/>
            <a:ext cx="8991600" cy="6604000"/>
          </a:xfrm>
          <a:prstGeom prst="rect">
            <a:avLst/>
          </a:prstGeom>
          <a:noFill/>
          <a:ln w="12700">
            <a:noFill/>
          </a:ln>
        </p:spPr>
        <p:txBody>
          <a:bodyPr anchor="ctr" anchorCtr="0">
            <a:spAutoFit/>
          </a:bodyPr>
          <a:p>
            <a:pPr algn="ctr"/>
            <a:r>
              <a:rPr lang="en-US" altLang="zh-CN" sz="3200">
                <a:solidFill>
                  <a:schemeClr val="bg1"/>
                </a:solidFill>
                <a:latin typeface="Arial" panose="020B0604020202020204" pitchFamily="34" charset="0"/>
                <a:cs typeface="Arial" panose="020B0604020202020204" pitchFamily="34" charset="0"/>
              </a:rPr>
              <a:t>Bibliography and Recommendations</a:t>
            </a:r>
            <a:endParaRPr lang="en-US" altLang="zh-CN" sz="3200">
              <a:solidFill>
                <a:schemeClr val="bg1"/>
              </a:solidFill>
              <a:latin typeface="Arial" panose="020B0604020202020204" pitchFamily="34" charset="0"/>
              <a:cs typeface="Arial" panose="020B0604020202020204" pitchFamily="34" charset="0"/>
            </a:endParaRPr>
          </a:p>
          <a:p>
            <a:pPr algn="ctr"/>
            <a:endParaRPr lang="en-US" altLang="zh-CN" sz="1200">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Excellent website: </a:t>
            </a:r>
            <a:r>
              <a:rPr lang="en-US" altLang="zh-CN" err="1">
                <a:solidFill>
                  <a:schemeClr val="bg1"/>
                </a:solidFill>
                <a:latin typeface="Arial" panose="020B0604020202020204" pitchFamily="34" charset="0"/>
                <a:cs typeface="Arial" panose="020B0604020202020204" pitchFamily="34" charset="0"/>
              </a:rPr>
              <a:t>www.psychologymatters.org</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a:t>
            </a:r>
            <a:r>
              <a:rPr lang="en-US" altLang="zh-CN" err="1">
                <a:solidFill>
                  <a:schemeClr val="bg1"/>
                </a:solidFill>
                <a:latin typeface="Arial" panose="020B0604020202020204" pitchFamily="34" charset="0"/>
                <a:cs typeface="Arial" panose="020B0604020202020204" pitchFamily="34" charset="0"/>
              </a:rPr>
              <a:t>Antonovsky</a:t>
            </a:r>
            <a:r>
              <a:rPr lang="en-US" altLang="zh-CN">
                <a:solidFill>
                  <a:schemeClr val="bg1"/>
                </a:solidFill>
                <a:latin typeface="Arial" panose="020B0604020202020204" pitchFamily="34" charset="0"/>
                <a:cs typeface="Arial" panose="020B0604020202020204" pitchFamily="34" charset="0"/>
              </a:rPr>
              <a:t> (1979).  </a:t>
            </a:r>
            <a:r>
              <a:rPr lang="en-US" altLang="zh-CN" u="sng">
                <a:solidFill>
                  <a:schemeClr val="bg1"/>
                </a:solidFill>
                <a:latin typeface="Arial" panose="020B0604020202020204" pitchFamily="34" charset="0"/>
                <a:cs typeface="Arial" panose="020B0604020202020204" pitchFamily="34" charset="0"/>
              </a:rPr>
              <a:t>Health, Stress, and Coping</a:t>
            </a:r>
            <a:r>
              <a:rPr lang="en-US" altLang="zh-CN">
                <a:solidFill>
                  <a:schemeClr val="bg1"/>
                </a:solidFill>
                <a:latin typeface="Arial" panose="020B0604020202020204" pitchFamily="34" charset="0"/>
                <a:cs typeface="Arial" panose="020B0604020202020204" pitchFamily="34" charset="0"/>
              </a:rPr>
              <a:t>. San </a:t>
            </a:r>
            <a:r>
              <a:rPr lang="en-US" altLang="zh-CN" err="1">
                <a:solidFill>
                  <a:schemeClr val="bg1"/>
                </a:solidFill>
                <a:latin typeface="Arial" panose="020B0604020202020204" pitchFamily="34" charset="0"/>
                <a:cs typeface="Arial" panose="020B0604020202020204" pitchFamily="34" charset="0"/>
              </a:rPr>
              <a:t>Fransisco</a:t>
            </a:r>
            <a:r>
              <a:rPr lang="en-US" altLang="zh-CN">
                <a:solidFill>
                  <a:schemeClr val="bg1"/>
                </a:solidFill>
                <a:latin typeface="Arial" panose="020B0604020202020204" pitchFamily="34" charset="0"/>
                <a:cs typeface="Arial" panose="020B0604020202020204" pitchFamily="34" charset="0"/>
              </a:rPr>
              <a:t>: </a:t>
            </a:r>
            <a:r>
              <a:rPr lang="en-US" altLang="zh-CN" err="1">
                <a:solidFill>
                  <a:schemeClr val="bg1"/>
                </a:solidFill>
                <a:latin typeface="Arial" panose="020B0604020202020204" pitchFamily="34" charset="0"/>
                <a:cs typeface="Arial" panose="020B0604020202020204" pitchFamily="34" charset="0"/>
              </a:rPr>
              <a:t>Jossey</a:t>
            </a:r>
            <a:r>
              <a:rPr lang="en-US" altLang="zh-CN">
                <a:solidFill>
                  <a:schemeClr val="bg1"/>
                </a:solidFill>
                <a:latin typeface="Arial" panose="020B0604020202020204" pitchFamily="34" charset="0"/>
                <a:cs typeface="Arial" panose="020B0604020202020204" pitchFamily="34" charset="0"/>
              </a:rPr>
              <a:t>-Bass.</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a:t>
            </a:r>
            <a:r>
              <a:rPr lang="en-US" altLang="zh-CN" err="1">
                <a:solidFill>
                  <a:schemeClr val="bg1"/>
                </a:solidFill>
                <a:latin typeface="Arial" panose="020B0604020202020204" pitchFamily="34" charset="0"/>
                <a:cs typeface="Arial" panose="020B0604020202020204" pitchFamily="34" charset="0"/>
              </a:rPr>
              <a:t>Masten</a:t>
            </a:r>
            <a:r>
              <a:rPr lang="en-US" altLang="zh-CN">
                <a:solidFill>
                  <a:schemeClr val="bg1"/>
                </a:solidFill>
                <a:latin typeface="Arial" panose="020B0604020202020204" pitchFamily="34" charset="0"/>
                <a:cs typeface="Arial" panose="020B0604020202020204" pitchFamily="34" charset="0"/>
              </a:rPr>
              <a:t>, A. S. &amp; Reed, M. J. (2002).  Resilience in development.  In C. R. Snyder and S. J. Lopez (Eds.), </a:t>
            </a:r>
            <a:r>
              <a:rPr lang="en-US" altLang="zh-CN" i="1">
                <a:solidFill>
                  <a:schemeClr val="bg1"/>
                </a:solidFill>
                <a:latin typeface="Arial" panose="020B0604020202020204" pitchFamily="34" charset="0"/>
                <a:cs typeface="Arial" panose="020B0604020202020204" pitchFamily="34" charset="0"/>
              </a:rPr>
              <a:t>Handbook of Positive Psychology</a:t>
            </a:r>
            <a:r>
              <a:rPr lang="en-US" altLang="zh-CN">
                <a:solidFill>
                  <a:schemeClr val="bg1"/>
                </a:solidFill>
                <a:latin typeface="Arial" panose="020B0604020202020204" pitchFamily="34" charset="0"/>
                <a:cs typeface="Arial" panose="020B0604020202020204" pitchFamily="34" charset="0"/>
              </a:rPr>
              <a:t>, 528-540.  Oxford University Press.</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Seligman, M. E. P., &amp; </a:t>
            </a:r>
            <a:r>
              <a:rPr lang="en-US" altLang="zh-CN" err="1">
                <a:solidFill>
                  <a:schemeClr val="bg1"/>
                </a:solidFill>
                <a:latin typeface="Arial" panose="020B0604020202020204" pitchFamily="34" charset="0"/>
                <a:cs typeface="Arial" panose="020B0604020202020204" pitchFamily="34" charset="0"/>
              </a:rPr>
              <a:t>Csikszentmihalyi</a:t>
            </a:r>
            <a:r>
              <a:rPr lang="en-US" altLang="zh-CN">
                <a:solidFill>
                  <a:schemeClr val="bg1"/>
                </a:solidFill>
                <a:latin typeface="Arial" panose="020B0604020202020204" pitchFamily="34" charset="0"/>
                <a:cs typeface="Arial" panose="020B0604020202020204" pitchFamily="34" charset="0"/>
              </a:rPr>
              <a:t>, M. (2000).  Positive Psychology.  </a:t>
            </a:r>
            <a:r>
              <a:rPr lang="en-US" altLang="zh-CN" i="1">
                <a:solidFill>
                  <a:schemeClr val="bg1"/>
                </a:solidFill>
                <a:latin typeface="Arial" panose="020B0604020202020204" pitchFamily="34" charset="0"/>
                <a:cs typeface="Arial" panose="020B0604020202020204" pitchFamily="34" charset="0"/>
              </a:rPr>
              <a:t>American Psychologist</a:t>
            </a:r>
            <a:r>
              <a:rPr lang="en-US" altLang="zh-CN">
                <a:solidFill>
                  <a:schemeClr val="bg1"/>
                </a:solidFill>
                <a:latin typeface="Arial" panose="020B0604020202020204" pitchFamily="34" charset="0"/>
                <a:cs typeface="Arial" panose="020B0604020202020204" pitchFamily="34" charset="0"/>
              </a:rPr>
              <a:t>, 55, 5-14.</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Sheldon, K. M. &amp; King, L (2001).  Why Positive Psychology Is Necessary.  </a:t>
            </a:r>
            <a:r>
              <a:rPr lang="en-US" altLang="zh-CN" i="1">
                <a:solidFill>
                  <a:schemeClr val="bg1"/>
                </a:solidFill>
                <a:latin typeface="Arial" panose="020B0604020202020204" pitchFamily="34" charset="0"/>
                <a:cs typeface="Arial" panose="020B0604020202020204" pitchFamily="34" charset="0"/>
              </a:rPr>
              <a:t>American Psychologist</a:t>
            </a:r>
            <a:r>
              <a:rPr lang="en-US" altLang="zh-CN">
                <a:solidFill>
                  <a:schemeClr val="bg1"/>
                </a:solidFill>
                <a:latin typeface="Arial" panose="020B0604020202020204" pitchFamily="34" charset="0"/>
                <a:cs typeface="Arial" panose="020B0604020202020204" pitchFamily="34" charset="0"/>
              </a:rPr>
              <a:t>, 56, 216-217.</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Snyder, C. R. &amp; Lopez, S. J. (Eds.) (2002).  </a:t>
            </a:r>
            <a:r>
              <a:rPr lang="en-US" altLang="zh-CN" i="1">
                <a:solidFill>
                  <a:schemeClr val="bg1"/>
                </a:solidFill>
                <a:latin typeface="Arial" panose="020B0604020202020204" pitchFamily="34" charset="0"/>
                <a:cs typeface="Arial" panose="020B0604020202020204" pitchFamily="34" charset="0"/>
              </a:rPr>
              <a:t>Handbook of Positive Psychology</a:t>
            </a:r>
            <a:r>
              <a:rPr lang="en-US" altLang="zh-CN">
                <a:solidFill>
                  <a:schemeClr val="bg1"/>
                </a:solidFill>
                <a:latin typeface="Arial" panose="020B0604020202020204" pitchFamily="34" charset="0"/>
                <a:cs typeface="Arial" panose="020B0604020202020204" pitchFamily="34" charset="0"/>
              </a:rPr>
              <a:t>, 528-540.  Oxford University Press.</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Collins, M. &amp; </a:t>
            </a:r>
            <a:r>
              <a:rPr lang="en-US" altLang="zh-CN" err="1">
                <a:solidFill>
                  <a:schemeClr val="bg1"/>
                </a:solidFill>
                <a:latin typeface="Arial" panose="020B0604020202020204" pitchFamily="34" charset="0"/>
                <a:cs typeface="Arial" panose="020B0604020202020204" pitchFamily="34" charset="0"/>
              </a:rPr>
              <a:t>Tamarkin</a:t>
            </a:r>
            <a:r>
              <a:rPr lang="en-US" altLang="zh-CN">
                <a:solidFill>
                  <a:schemeClr val="bg1"/>
                </a:solidFill>
                <a:latin typeface="Arial" panose="020B0604020202020204" pitchFamily="34" charset="0"/>
                <a:cs typeface="Arial" panose="020B0604020202020204" pitchFamily="34" charset="0"/>
              </a:rPr>
              <a:t>, C. (1990).  </a:t>
            </a:r>
            <a:r>
              <a:rPr lang="en-US" altLang="zh-CN" u="sng" err="1">
                <a:solidFill>
                  <a:schemeClr val="bg1"/>
                </a:solidFill>
                <a:latin typeface="Arial" panose="020B0604020202020204" pitchFamily="34" charset="0"/>
                <a:cs typeface="Arial" panose="020B0604020202020204" pitchFamily="34" charset="0"/>
              </a:rPr>
              <a:t>Marva</a:t>
            </a:r>
            <a:r>
              <a:rPr lang="en-US" altLang="zh-CN" u="sng">
                <a:solidFill>
                  <a:schemeClr val="bg1"/>
                </a:solidFill>
                <a:latin typeface="Arial" panose="020B0604020202020204" pitchFamily="34" charset="0"/>
                <a:cs typeface="Arial" panose="020B0604020202020204" pitchFamily="34" charset="0"/>
              </a:rPr>
              <a:t> Collins’ Way</a:t>
            </a:r>
            <a:r>
              <a:rPr lang="en-US" altLang="zh-CN">
                <a:solidFill>
                  <a:schemeClr val="bg1"/>
                </a:solidFill>
                <a:latin typeface="Arial" panose="020B0604020202020204" pitchFamily="34" charset="0"/>
                <a:cs typeface="Arial" panose="020B0604020202020204" pitchFamily="34" charset="0"/>
              </a:rPr>
              <a:t>.  Putnam: New York.</a:t>
            </a:r>
            <a:endParaRPr lang="en-US" altLang="zh-CN">
              <a:solidFill>
                <a:schemeClr val="bg1"/>
              </a:solidFill>
              <a:latin typeface="Arial" panose="020B0604020202020204" pitchFamily="34" charset="0"/>
              <a:cs typeface="Arial" panose="020B0604020202020204" pitchFamily="34" charset="0"/>
            </a:endParaRPr>
          </a:p>
          <a:p>
            <a:pPr>
              <a:buChar char="•"/>
            </a:pPr>
            <a:r>
              <a:rPr lang="en-US" altLang="zh-CN">
                <a:solidFill>
                  <a:schemeClr val="bg1"/>
                </a:solidFill>
                <a:latin typeface="Arial" panose="020B0604020202020204" pitchFamily="34" charset="0"/>
                <a:cs typeface="Arial" panose="020B0604020202020204" pitchFamily="34" charset="0"/>
              </a:rPr>
              <a:t> Werner, E. &amp; Smith, R. (2001).  </a:t>
            </a:r>
            <a:r>
              <a:rPr lang="en-US" altLang="zh-CN" u="sng">
                <a:solidFill>
                  <a:schemeClr val="bg1"/>
                </a:solidFill>
                <a:latin typeface="Arial" panose="020B0604020202020204" pitchFamily="34" charset="0"/>
                <a:cs typeface="Arial" panose="020B0604020202020204" pitchFamily="34" charset="0"/>
              </a:rPr>
              <a:t>Journeys from Childhood to Midlife: Risk, </a:t>
            </a:r>
            <a:r>
              <a:rPr lang="en-US" altLang="zh-CN" u="sng" err="1">
                <a:solidFill>
                  <a:schemeClr val="bg1"/>
                </a:solidFill>
                <a:latin typeface="Arial" panose="020B0604020202020204" pitchFamily="34" charset="0"/>
                <a:cs typeface="Arial" panose="020B0604020202020204" pitchFamily="34" charset="0"/>
              </a:rPr>
              <a:t>Reilience</a:t>
            </a:r>
            <a:r>
              <a:rPr lang="en-US" altLang="zh-CN" u="sng">
                <a:solidFill>
                  <a:schemeClr val="bg1"/>
                </a:solidFill>
                <a:latin typeface="Arial" panose="020B0604020202020204" pitchFamily="34" charset="0"/>
                <a:cs typeface="Arial" panose="020B0604020202020204" pitchFamily="34" charset="0"/>
              </a:rPr>
              <a:t> and Recovery</a:t>
            </a:r>
            <a:r>
              <a:rPr lang="en-US" altLang="zh-CN">
                <a:solidFill>
                  <a:schemeClr val="bg1"/>
                </a:solidFill>
                <a:latin typeface="Arial" panose="020B0604020202020204" pitchFamily="34" charset="0"/>
                <a:cs typeface="Arial" panose="020B0604020202020204" pitchFamily="34" charset="0"/>
              </a:rPr>
              <a:t>. Cornell University Press.</a:t>
            </a:r>
            <a:endParaRPr lang="en-US" altLang="zh-CN">
              <a:solidFill>
                <a:schemeClr val="bg1"/>
              </a:solidFill>
              <a:latin typeface="Arial" panose="020B0604020202020204" pitchFamily="34" charset="0"/>
              <a:ea typeface="Arial" panose="020B0604020202020204" pitchFamily="34"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33CC"/>
      </a:dk1>
      <a:lt1>
        <a:srgbClr val="FFFFFF"/>
      </a:lt1>
      <a:dk2>
        <a:srgbClr val="000000"/>
      </a:dk2>
      <a:lt2>
        <a:srgbClr val="808080"/>
      </a:lt2>
      <a:accent1>
        <a:srgbClr val="00CC99"/>
      </a:accent1>
      <a:accent2>
        <a:srgbClr val="3333CC"/>
      </a:accent2>
      <a:accent3>
        <a:srgbClr val="FFFFFF"/>
      </a:accent3>
      <a:accent4>
        <a:srgbClr val="002AAF"/>
      </a:accent4>
      <a:accent5>
        <a:srgbClr val="AAE2CA"/>
      </a:accent5>
      <a:accent6>
        <a:srgbClr val="2D2DB7"/>
      </a:accent6>
      <a:hlink>
        <a:srgbClr val="CCCCFF"/>
      </a:hlink>
      <a:folHlink>
        <a:srgbClr val="B2B2B2"/>
      </a:folHlink>
    </a:clrScheme>
    <a:fontScheme na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Designs\Contemporary.pot</Template>
  <TotalTime>0</TotalTime>
  <Words>9558</Words>
  <Application>WPS 演示</Application>
  <PresentationFormat>On-screen Show</PresentationFormat>
  <Paragraphs>260</Paragraphs>
  <Slides>42</Slides>
  <Notes>42</Notes>
  <HiddenSlides>0</HiddenSlides>
  <MMClips>3</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Arial</vt:lpstr>
      <vt:lpstr>宋体</vt:lpstr>
      <vt:lpstr>Wingdings</vt:lpstr>
      <vt:lpstr>Times New Roman</vt:lpstr>
      <vt:lpstr>Tahoma</vt:lpstr>
      <vt:lpstr>微软雅黑</vt:lpstr>
      <vt:lpstr>Arial Unicode MS</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Tal Ben-Shachar</dc:creator>
  <cp:lastModifiedBy>zeyu</cp:lastModifiedBy>
  <cp:revision>382</cp:revision>
  <cp:lastPrinted>2003-04-07T23:54:25Z</cp:lastPrinted>
  <dcterms:created xsi:type="dcterms:W3CDTF">2002-07-09T11:01:32Z</dcterms:created>
  <dcterms:modified xsi:type="dcterms:W3CDTF">2026-01-15T08:57:24Z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E3105D1866954341A684103A087E429E_13</vt:lpwstr>
  </property>
  <property fmtid="{D5CDD505-2E9C-101B-9397-08002B2CF9AE}" pid="3" name="KSOProductBuildVer">
    <vt:lpwstr>2052-12.1.0.24034</vt:lpwstr>
  </property>
</Properties>
</file>